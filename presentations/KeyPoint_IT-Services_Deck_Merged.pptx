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Default Extension="jpg" ContentType="image/jpg"/>
  <Default Extension="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docProps/custom.xml" ContentType="application/vnd.openxmlformats-officedocument.custom-properties+xml"/>
  <Override PartName="/ppt/notesMasters/notesMaster1.xml" ContentType="application/vnd.openxmlformats-officedocument.presentationml.notesMaster+xml"/>
  <Override PartName="/ppt/theme/theme2.xml" ContentType="application/vnd.openxmlformats-officedocument.them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notesSlides/notesSlide28.xml" ContentType="application/vnd.openxmlformats-officedocument.presentationml.notes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notesSlides/notesSlide30.xml" ContentType="application/vnd.openxmlformats-officedocument.presentationml.notesSlide+xml"/>
  <Override PartName="/ppt/slides/slide30.xml" ContentType="application/vnd.openxmlformats-officedocument.presentationml.slide+xml"/>
  <Override PartName="/ppt/notesSlides/notesSlide31.xml" ContentType="application/vnd.openxmlformats-officedocument.presentationml.notesSlide+xml"/>
  <Override PartName="/ppt/slides/slide31.xml" ContentType="application/vnd.openxmlformats-officedocument.presentationml.slide+xml"/>
  <Override PartName="/ppt/notesSlides/notesSlide32.xml" ContentType="application/vnd.openxmlformats-officedocument.presentationml.notesSlide+xml"/>
  <Override PartName="/ppt/slides/slide32.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73" r:id="rId23"/>
  </p:sldIdLst>
  <p:sldSz cx="12192000" cy="6858000"/>
  <p:notesSz cx="12192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purpose: this presentation covers the technical understanding, methodology, resource deployment, training, O&amp;M with helpdesk and escalation, and exit management, as required under evaluation criterion 7. The live prototype demonstration follows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item maps to the wording of evaluation criterion 7 in the RFP. Data security is included because the RFP scores it separately (criterion 6, 10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current challenges in the Department's own terms: records are scattered, boundaries are not seen against regulatory layers, illegal mining is detected late, and revenue is tracked manually. Then state the objective from RFP section 1: one lease-centric, spatially enabled source of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11 modules from RFP section 2.3. Emphasise that they share one GIS interface and one lease-centric data model rather than being separate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layers from top to bottom: users and channels, the React and OpenLayers front end, the security layer, the microservices, the geospatial data layer with GeoServer and PostGIS, external integrations, and the cloud platform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RFP Module 5 and section 5.1.15 to 5.1.16. Stress that the Department owns all data and that project data is never used for any other purpose, including AI model training, as the RFP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phases overlap. We demo working software to the Department every two weeks, and build high-priority items first, as RFP 2.3.15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milestones and the payment schedule from RFP sections 2.3.15 and the payment terms: SRS approval releases 15%, Beta Go-Live 50%, Go-Live 35%, then 11 equal quarterly O&amp;M instalments.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Development roles and numbers meet the minimum manpower in RFP 2.3.17.2 (16 people). The O&amp;M team meets 2.3.17.3 (6 people). Key staff are not replaced without Department approval, and any replacement has equal or better qualifications.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runs in the last three weeks before Go-Live, on the UAT environment loaded with each district's own leases. Languages follow RFP Module 7: English and Telugu, with bilingual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RFP Module 8: six areas of O&amp;M work measured against 99.5% monthly uptime, and a helpdesk with an ITSM ticketing system on phone, e-mail and web portal as required. We add WhatsApp and an in-app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SLA table from the RFP incident management section. Note the RFP also states 1 hour response and 8 hours resolution for critical incidents in Module 8; we commit to the stricter figures shown. Then walk the escalation ladder.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15-day handover, 3-month parallel run, 30-day data deletion and deletion certificate all come from RFP sections 5.1.14 and 5.1.16.9. The exit plan at Go-Live plus 3 months and the readiness review are our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commitments, thank the committee, and move to the live prototype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 Id="rId10" Type="http://schemas.openxmlformats.org/officeDocument/2006/relationships/image" Target="../media/image9.jpg"/><Relationship Id="rId11" Type="http://schemas.openxmlformats.org/officeDocument/2006/relationships/image" Target="../media/image10.png"/><Relationship Id="rId12" Type="http://schemas.openxmlformats.org/officeDocument/2006/relationships/image" Target="../media/image11.jpg"/><Relationship Id="rId13" Type="http://schemas.openxmlformats.org/officeDocument/2006/relationships/image" Target="../media/image12.jpg"/><Relationship Id="rId14" Type="http://schemas.openxmlformats.org/officeDocument/2006/relationships/image" Target="../media/image13.jpg"/><Relationship Id="rId15" Type="http://schemas.openxmlformats.org/officeDocument/2006/relationships/image" Target="../media/image14.jpg"/><Relationship Id="rId16" Type="http://schemas.openxmlformats.org/officeDocument/2006/relationships/image" Target="../media/image15.jpg"/><Relationship Id="rId17" Type="http://schemas.openxmlformats.org/officeDocument/2006/relationships/image" Target="../media/image16.jpg"/><Relationship Id="rId18" Type="http://schemas.openxmlformats.org/officeDocument/2006/relationships/image" Target="../media/image17.jpg"/><Relationship Id="rId19" Type="http://schemas.openxmlformats.org/officeDocument/2006/relationships/image" Target="../media/image18.jpg"/><Relationship Id="rId20" Type="http://schemas.openxmlformats.org/officeDocument/2006/relationships/image" Target="../media/image19.jpg"/><Relationship Id="rId21" Type="http://schemas.openxmlformats.org/officeDocument/2006/relationships/image" Target="../media/image20.jpg"/><Relationship Id="rId22" Type="http://schemas.openxmlformats.org/officeDocument/2006/relationships/image" Target="../media/image21.png"/><Relationship Id="rId23" Type="http://schemas.openxmlformats.org/officeDocument/2006/relationships/image" Target="../media/image22.png"/><Relationship Id="rId24" Type="http://schemas.openxmlformats.org/officeDocument/2006/relationships/image" Target="../media/image23.jpg"/><Relationship Id="rId25" Type="http://schemas.openxmlformats.org/officeDocument/2006/relationships/image" Target="../media/image24.jpg"/><Relationship Id="rId26" Type="http://schemas.openxmlformats.org/officeDocument/2006/relationships/image" Target="../media/image25.png"/><Relationship Id="rId27" Type="http://schemas.openxmlformats.org/officeDocument/2006/relationships/image" Target="../media/image26.jpg"/><Relationship Id="rId28" Type="http://schemas.openxmlformats.org/officeDocument/2006/relationships/image" Target="../media/image27.jpg"/><Relationship Id="rId29" Type="http://schemas.openxmlformats.org/officeDocument/2006/relationships/image" Target="../media/image28.jpg"/><Relationship Id="rId30" Type="http://schemas.openxmlformats.org/officeDocument/2006/relationships/image" Target="../media/image29.jpg"/><Relationship Id="rId31" Type="http://schemas.openxmlformats.org/officeDocument/2006/relationships/image" Target="../media/image30.jpg"/><Relationship Id="rId32" Type="http://schemas.openxmlformats.org/officeDocument/2006/relationships/image" Target="../media/image31.png"/><Relationship Id="rId33" Type="http://schemas.openxmlformats.org/officeDocument/2006/relationships/image" Target="../media/image32.png"/><Relationship Id="rId34" Type="http://schemas.openxmlformats.org/officeDocument/2006/relationships/image" Target="../media/image33.jpg"/><Relationship Id="rId35" Type="http://schemas.openxmlformats.org/officeDocument/2006/relationships/image" Target="../media/image34.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700" b="0" i="0">
                <a:solidFill>
                  <a:srgbClr val="003BCA"/>
                </a:solidFill>
                <a:latin typeface="Arial Black"/>
                <a:cs typeface="Arial Black"/>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showMasterSp="0">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38327" y="5669279"/>
            <a:ext cx="2191512" cy="789432"/>
          </a:xfrm>
          <a:prstGeom prst="rect">
            <a:avLst/>
          </a:prstGeom>
        </p:spPr>
      </p:pic>
      <p:pic>
        <p:nvPicPr>
          <p:cNvPr id="17" name="bg object 17"/>
          <p:cNvPicPr/>
          <p:nvPr/>
        </p:nvPicPr>
        <p:blipFill>
          <a:blip r:embed="rId3" cstate="print"/>
          <a:stretch>
            <a:fillRect/>
          </a:stretch>
        </p:blipFill>
        <p:spPr>
          <a:xfrm>
            <a:off x="4477511" y="5742432"/>
            <a:ext cx="655320" cy="637032"/>
          </a:xfrm>
          <a:prstGeom prst="rect">
            <a:avLst/>
          </a:prstGeom>
        </p:spPr>
      </p:pic>
      <p:pic>
        <p:nvPicPr>
          <p:cNvPr id="18" name="bg object 18"/>
          <p:cNvPicPr/>
          <p:nvPr/>
        </p:nvPicPr>
        <p:blipFill>
          <a:blip r:embed="rId4" cstate="print"/>
          <a:stretch>
            <a:fillRect/>
          </a:stretch>
        </p:blipFill>
        <p:spPr>
          <a:xfrm>
            <a:off x="7866888" y="5785103"/>
            <a:ext cx="1243583" cy="499872"/>
          </a:xfrm>
          <a:prstGeom prst="rect">
            <a:avLst/>
          </a:prstGeom>
        </p:spPr>
      </p:pic>
      <p:pic>
        <p:nvPicPr>
          <p:cNvPr id="19" name="bg object 19"/>
          <p:cNvPicPr/>
          <p:nvPr/>
        </p:nvPicPr>
        <p:blipFill>
          <a:blip r:embed="rId5" cstate="print"/>
          <a:stretch>
            <a:fillRect/>
          </a:stretch>
        </p:blipFill>
        <p:spPr>
          <a:xfrm>
            <a:off x="338327" y="4831079"/>
            <a:ext cx="2191512" cy="752855"/>
          </a:xfrm>
          <a:prstGeom prst="rect">
            <a:avLst/>
          </a:prstGeom>
        </p:spPr>
      </p:pic>
      <p:pic>
        <p:nvPicPr>
          <p:cNvPr id="20" name="bg object 20"/>
          <p:cNvPicPr/>
          <p:nvPr/>
        </p:nvPicPr>
        <p:blipFill>
          <a:blip r:embed="rId6" cstate="print"/>
          <a:stretch>
            <a:fillRect/>
          </a:stretch>
        </p:blipFill>
        <p:spPr>
          <a:xfrm>
            <a:off x="2837688" y="4974335"/>
            <a:ext cx="1353312" cy="435863"/>
          </a:xfrm>
          <a:prstGeom prst="rect">
            <a:avLst/>
          </a:prstGeom>
        </p:spPr>
      </p:pic>
      <p:pic>
        <p:nvPicPr>
          <p:cNvPr id="21" name="bg object 21"/>
          <p:cNvPicPr/>
          <p:nvPr/>
        </p:nvPicPr>
        <p:blipFill>
          <a:blip r:embed="rId7" cstate="print"/>
          <a:stretch>
            <a:fillRect/>
          </a:stretch>
        </p:blipFill>
        <p:spPr>
          <a:xfrm>
            <a:off x="4559808" y="4995671"/>
            <a:ext cx="381000" cy="390143"/>
          </a:xfrm>
          <a:prstGeom prst="rect">
            <a:avLst/>
          </a:prstGeom>
        </p:spPr>
      </p:pic>
      <p:pic>
        <p:nvPicPr>
          <p:cNvPr id="22" name="bg object 22"/>
          <p:cNvPicPr/>
          <p:nvPr/>
        </p:nvPicPr>
        <p:blipFill>
          <a:blip r:embed="rId8" cstate="print"/>
          <a:stretch>
            <a:fillRect/>
          </a:stretch>
        </p:blipFill>
        <p:spPr>
          <a:xfrm>
            <a:off x="6486144" y="4888991"/>
            <a:ext cx="563879" cy="591312"/>
          </a:xfrm>
          <a:prstGeom prst="rect">
            <a:avLst/>
          </a:prstGeom>
        </p:spPr>
      </p:pic>
      <p:pic>
        <p:nvPicPr>
          <p:cNvPr id="23" name="bg object 23"/>
          <p:cNvPicPr/>
          <p:nvPr/>
        </p:nvPicPr>
        <p:blipFill>
          <a:blip r:embed="rId9" cstate="print"/>
          <a:stretch>
            <a:fillRect/>
          </a:stretch>
        </p:blipFill>
        <p:spPr>
          <a:xfrm>
            <a:off x="9168383" y="5004815"/>
            <a:ext cx="822959" cy="411480"/>
          </a:xfrm>
          <a:prstGeom prst="rect">
            <a:avLst/>
          </a:prstGeom>
        </p:spPr>
      </p:pic>
      <p:pic>
        <p:nvPicPr>
          <p:cNvPr id="24" name="bg object 24"/>
          <p:cNvPicPr/>
          <p:nvPr/>
        </p:nvPicPr>
        <p:blipFill>
          <a:blip r:embed="rId10" cstate="print"/>
          <a:stretch>
            <a:fillRect/>
          </a:stretch>
        </p:blipFill>
        <p:spPr>
          <a:xfrm>
            <a:off x="338327" y="3989832"/>
            <a:ext cx="2191512" cy="762000"/>
          </a:xfrm>
          <a:prstGeom prst="rect">
            <a:avLst/>
          </a:prstGeom>
        </p:spPr>
      </p:pic>
      <p:pic>
        <p:nvPicPr>
          <p:cNvPr id="25" name="bg object 25"/>
          <p:cNvPicPr/>
          <p:nvPr/>
        </p:nvPicPr>
        <p:blipFill>
          <a:blip r:embed="rId11" cstate="print"/>
          <a:stretch>
            <a:fillRect/>
          </a:stretch>
        </p:blipFill>
        <p:spPr>
          <a:xfrm>
            <a:off x="4757928" y="4047744"/>
            <a:ext cx="515112" cy="621791"/>
          </a:xfrm>
          <a:prstGeom prst="rect">
            <a:avLst/>
          </a:prstGeom>
        </p:spPr>
      </p:pic>
      <p:pic>
        <p:nvPicPr>
          <p:cNvPr id="26" name="bg object 26"/>
          <p:cNvPicPr/>
          <p:nvPr/>
        </p:nvPicPr>
        <p:blipFill>
          <a:blip r:embed="rId12" cstate="print"/>
          <a:stretch>
            <a:fillRect/>
          </a:stretch>
        </p:blipFill>
        <p:spPr>
          <a:xfrm>
            <a:off x="6205728" y="4062984"/>
            <a:ext cx="618744" cy="606551"/>
          </a:xfrm>
          <a:prstGeom prst="rect">
            <a:avLst/>
          </a:prstGeom>
        </p:spPr>
      </p:pic>
      <p:pic>
        <p:nvPicPr>
          <p:cNvPr id="27" name="bg object 27"/>
          <p:cNvPicPr/>
          <p:nvPr/>
        </p:nvPicPr>
        <p:blipFill>
          <a:blip r:embed="rId13" cstate="print"/>
          <a:stretch>
            <a:fillRect/>
          </a:stretch>
        </p:blipFill>
        <p:spPr>
          <a:xfrm>
            <a:off x="7933943" y="4032503"/>
            <a:ext cx="682751" cy="673608"/>
          </a:xfrm>
          <a:prstGeom prst="rect">
            <a:avLst/>
          </a:prstGeom>
        </p:spPr>
      </p:pic>
      <p:pic>
        <p:nvPicPr>
          <p:cNvPr id="28" name="bg object 28"/>
          <p:cNvPicPr/>
          <p:nvPr/>
        </p:nvPicPr>
        <p:blipFill>
          <a:blip r:embed="rId14" cstate="print"/>
          <a:stretch>
            <a:fillRect/>
          </a:stretch>
        </p:blipFill>
        <p:spPr>
          <a:xfrm>
            <a:off x="2883407" y="3236976"/>
            <a:ext cx="594359" cy="594359"/>
          </a:xfrm>
          <a:prstGeom prst="rect">
            <a:avLst/>
          </a:prstGeom>
        </p:spPr>
      </p:pic>
      <p:pic>
        <p:nvPicPr>
          <p:cNvPr id="29" name="bg object 29"/>
          <p:cNvPicPr/>
          <p:nvPr/>
        </p:nvPicPr>
        <p:blipFill>
          <a:blip r:embed="rId15" cstate="print"/>
          <a:stretch>
            <a:fillRect/>
          </a:stretch>
        </p:blipFill>
        <p:spPr>
          <a:xfrm>
            <a:off x="3898391" y="3246120"/>
            <a:ext cx="594360" cy="585216"/>
          </a:xfrm>
          <a:prstGeom prst="rect">
            <a:avLst/>
          </a:prstGeom>
        </p:spPr>
      </p:pic>
      <p:pic>
        <p:nvPicPr>
          <p:cNvPr id="30" name="bg object 30"/>
          <p:cNvPicPr/>
          <p:nvPr/>
        </p:nvPicPr>
        <p:blipFill>
          <a:blip r:embed="rId16" cstate="print"/>
          <a:stretch>
            <a:fillRect/>
          </a:stretch>
        </p:blipFill>
        <p:spPr>
          <a:xfrm>
            <a:off x="4940808" y="3246120"/>
            <a:ext cx="582167" cy="554736"/>
          </a:xfrm>
          <a:prstGeom prst="rect">
            <a:avLst/>
          </a:prstGeom>
        </p:spPr>
      </p:pic>
      <p:pic>
        <p:nvPicPr>
          <p:cNvPr id="31" name="bg object 31"/>
          <p:cNvPicPr/>
          <p:nvPr/>
        </p:nvPicPr>
        <p:blipFill>
          <a:blip r:embed="rId17" cstate="print"/>
          <a:stretch>
            <a:fillRect/>
          </a:stretch>
        </p:blipFill>
        <p:spPr>
          <a:xfrm>
            <a:off x="6028944" y="3258311"/>
            <a:ext cx="801624" cy="557783"/>
          </a:xfrm>
          <a:prstGeom prst="rect">
            <a:avLst/>
          </a:prstGeom>
        </p:spPr>
      </p:pic>
      <p:pic>
        <p:nvPicPr>
          <p:cNvPr id="32" name="bg object 32"/>
          <p:cNvPicPr/>
          <p:nvPr/>
        </p:nvPicPr>
        <p:blipFill>
          <a:blip r:embed="rId18" cstate="print"/>
          <a:stretch>
            <a:fillRect/>
          </a:stretch>
        </p:blipFill>
        <p:spPr>
          <a:xfrm>
            <a:off x="8485631" y="3273552"/>
            <a:ext cx="954024" cy="493776"/>
          </a:xfrm>
          <a:prstGeom prst="rect">
            <a:avLst/>
          </a:prstGeom>
        </p:spPr>
      </p:pic>
      <p:pic>
        <p:nvPicPr>
          <p:cNvPr id="33" name="bg object 33"/>
          <p:cNvPicPr/>
          <p:nvPr/>
        </p:nvPicPr>
        <p:blipFill>
          <a:blip r:embed="rId19" cstate="print"/>
          <a:stretch>
            <a:fillRect/>
          </a:stretch>
        </p:blipFill>
        <p:spPr>
          <a:xfrm>
            <a:off x="2898648" y="2441448"/>
            <a:ext cx="954024" cy="390143"/>
          </a:xfrm>
          <a:prstGeom prst="rect">
            <a:avLst/>
          </a:prstGeom>
        </p:spPr>
      </p:pic>
      <p:pic>
        <p:nvPicPr>
          <p:cNvPr id="34" name="bg object 34"/>
          <p:cNvPicPr/>
          <p:nvPr/>
        </p:nvPicPr>
        <p:blipFill>
          <a:blip r:embed="rId20" cstate="print"/>
          <a:stretch>
            <a:fillRect/>
          </a:stretch>
        </p:blipFill>
        <p:spPr>
          <a:xfrm>
            <a:off x="5721096" y="2398776"/>
            <a:ext cx="515112" cy="512063"/>
          </a:xfrm>
          <a:prstGeom prst="rect">
            <a:avLst/>
          </a:prstGeom>
        </p:spPr>
      </p:pic>
      <p:pic>
        <p:nvPicPr>
          <p:cNvPr id="35" name="bg object 35"/>
          <p:cNvPicPr/>
          <p:nvPr/>
        </p:nvPicPr>
        <p:blipFill>
          <a:blip r:embed="rId21" cstate="print"/>
          <a:stretch>
            <a:fillRect/>
          </a:stretch>
        </p:blipFill>
        <p:spPr>
          <a:xfrm>
            <a:off x="7284719" y="2377439"/>
            <a:ext cx="551687" cy="548640"/>
          </a:xfrm>
          <a:prstGeom prst="rect">
            <a:avLst/>
          </a:prstGeom>
        </p:spPr>
      </p:pic>
      <p:pic>
        <p:nvPicPr>
          <p:cNvPr id="36" name="bg object 36"/>
          <p:cNvPicPr/>
          <p:nvPr/>
        </p:nvPicPr>
        <p:blipFill>
          <a:blip r:embed="rId22" cstate="print"/>
          <a:stretch>
            <a:fillRect/>
          </a:stretch>
        </p:blipFill>
        <p:spPr>
          <a:xfrm>
            <a:off x="9756647" y="2371344"/>
            <a:ext cx="576072" cy="560831"/>
          </a:xfrm>
          <a:prstGeom prst="rect">
            <a:avLst/>
          </a:prstGeom>
        </p:spPr>
      </p:pic>
      <p:pic>
        <p:nvPicPr>
          <p:cNvPr id="37" name="bg object 37"/>
          <p:cNvPicPr/>
          <p:nvPr/>
        </p:nvPicPr>
        <p:blipFill>
          <a:blip r:embed="rId23" cstate="print"/>
          <a:stretch>
            <a:fillRect/>
          </a:stretch>
        </p:blipFill>
        <p:spPr>
          <a:xfrm>
            <a:off x="10960607" y="2359151"/>
            <a:ext cx="579120" cy="573023"/>
          </a:xfrm>
          <a:prstGeom prst="rect">
            <a:avLst/>
          </a:prstGeom>
        </p:spPr>
      </p:pic>
      <p:pic>
        <p:nvPicPr>
          <p:cNvPr id="38" name="bg object 38"/>
          <p:cNvPicPr/>
          <p:nvPr/>
        </p:nvPicPr>
        <p:blipFill>
          <a:blip r:embed="rId24" cstate="print"/>
          <a:stretch>
            <a:fillRect/>
          </a:stretch>
        </p:blipFill>
        <p:spPr>
          <a:xfrm>
            <a:off x="2779776" y="1624583"/>
            <a:ext cx="969263" cy="353567"/>
          </a:xfrm>
          <a:prstGeom prst="rect">
            <a:avLst/>
          </a:prstGeom>
        </p:spPr>
      </p:pic>
      <p:pic>
        <p:nvPicPr>
          <p:cNvPr id="39" name="bg object 39"/>
          <p:cNvPicPr/>
          <p:nvPr/>
        </p:nvPicPr>
        <p:blipFill>
          <a:blip r:embed="rId25" cstate="print"/>
          <a:stretch>
            <a:fillRect/>
          </a:stretch>
        </p:blipFill>
        <p:spPr>
          <a:xfrm>
            <a:off x="4139184" y="1639823"/>
            <a:ext cx="323088" cy="323088"/>
          </a:xfrm>
          <a:prstGeom prst="rect">
            <a:avLst/>
          </a:prstGeom>
        </p:spPr>
      </p:pic>
      <p:pic>
        <p:nvPicPr>
          <p:cNvPr id="40" name="bg object 40"/>
          <p:cNvPicPr/>
          <p:nvPr/>
        </p:nvPicPr>
        <p:blipFill>
          <a:blip r:embed="rId26" cstate="print"/>
          <a:stretch>
            <a:fillRect/>
          </a:stretch>
        </p:blipFill>
        <p:spPr>
          <a:xfrm>
            <a:off x="384047" y="877824"/>
            <a:ext cx="630936" cy="42672"/>
          </a:xfrm>
          <a:prstGeom prst="rect">
            <a:avLst/>
          </a:prstGeom>
        </p:spPr>
      </p:pic>
      <p:pic>
        <p:nvPicPr>
          <p:cNvPr id="41" name="bg object 41"/>
          <p:cNvPicPr/>
          <p:nvPr/>
        </p:nvPicPr>
        <p:blipFill>
          <a:blip r:embed="rId27" cstate="print"/>
          <a:stretch>
            <a:fillRect/>
          </a:stretch>
        </p:blipFill>
        <p:spPr>
          <a:xfrm>
            <a:off x="2200655" y="356615"/>
            <a:ext cx="548640" cy="499872"/>
          </a:xfrm>
          <a:prstGeom prst="rect">
            <a:avLst/>
          </a:prstGeom>
        </p:spPr>
      </p:pic>
      <p:sp>
        <p:nvSpPr>
          <p:cNvPr id="42" name="bg object 42"/>
          <p:cNvSpPr/>
          <p:nvPr/>
        </p:nvSpPr>
        <p:spPr>
          <a:xfrm>
            <a:off x="9915143" y="6054852"/>
            <a:ext cx="302260" cy="0"/>
          </a:xfrm>
          <a:custGeom>
            <a:avLst/>
            <a:gdLst/>
            <a:ahLst/>
            <a:cxnLst/>
            <a:rect l="l" t="t" r="r" b="b"/>
            <a:pathLst>
              <a:path w="302259" h="0">
                <a:moveTo>
                  <a:pt x="0" y="0"/>
                </a:moveTo>
                <a:lnTo>
                  <a:pt x="301752" y="0"/>
                </a:lnTo>
              </a:path>
            </a:pathLst>
          </a:custGeom>
          <a:ln w="15240">
            <a:solidFill>
              <a:srgbClr val="1F67AF"/>
            </a:solidFill>
          </a:ln>
        </p:spPr>
        <p:txBody>
          <a:bodyPr wrap="square" lIns="0" tIns="0" rIns="0" bIns="0" rtlCol="0"/>
          <a:lstStyle/>
          <a:p/>
        </p:txBody>
      </p:sp>
      <p:sp>
        <p:nvSpPr>
          <p:cNvPr id="43" name="bg object 43"/>
          <p:cNvSpPr/>
          <p:nvPr/>
        </p:nvSpPr>
        <p:spPr>
          <a:xfrm>
            <a:off x="5026152" y="5210555"/>
            <a:ext cx="1045844" cy="0"/>
          </a:xfrm>
          <a:custGeom>
            <a:avLst/>
            <a:gdLst/>
            <a:ahLst/>
            <a:cxnLst/>
            <a:rect l="l" t="t" r="r" b="b"/>
            <a:pathLst>
              <a:path w="1045845" h="0">
                <a:moveTo>
                  <a:pt x="0" y="0"/>
                </a:moveTo>
                <a:lnTo>
                  <a:pt x="1045463" y="0"/>
                </a:lnTo>
              </a:path>
            </a:pathLst>
          </a:custGeom>
          <a:ln w="9144">
            <a:solidFill>
              <a:srgbClr val="777777"/>
            </a:solidFill>
          </a:ln>
        </p:spPr>
        <p:txBody>
          <a:bodyPr wrap="square" lIns="0" tIns="0" rIns="0" bIns="0" rtlCol="0"/>
          <a:lstStyle/>
          <a:p/>
        </p:txBody>
      </p:sp>
      <p:sp>
        <p:nvSpPr>
          <p:cNvPr id="44" name="bg object 44"/>
          <p:cNvSpPr/>
          <p:nvPr/>
        </p:nvSpPr>
        <p:spPr>
          <a:xfrm>
            <a:off x="10716768" y="5323332"/>
            <a:ext cx="984885" cy="0"/>
          </a:xfrm>
          <a:custGeom>
            <a:avLst/>
            <a:gdLst/>
            <a:ahLst/>
            <a:cxnLst/>
            <a:rect l="l" t="t" r="r" b="b"/>
            <a:pathLst>
              <a:path w="984884" h="0">
                <a:moveTo>
                  <a:pt x="0" y="0"/>
                </a:moveTo>
                <a:lnTo>
                  <a:pt x="984504" y="0"/>
                </a:lnTo>
              </a:path>
            </a:pathLst>
          </a:custGeom>
          <a:ln w="9144">
            <a:solidFill>
              <a:srgbClr val="704F64"/>
            </a:solidFill>
          </a:ln>
        </p:spPr>
        <p:txBody>
          <a:bodyPr wrap="square" lIns="0" tIns="0" rIns="0" bIns="0" rtlCol="0"/>
          <a:lstStyle/>
          <a:p/>
        </p:txBody>
      </p:sp>
      <p:sp>
        <p:nvSpPr>
          <p:cNvPr id="45" name="bg object 45"/>
          <p:cNvSpPr/>
          <p:nvPr/>
        </p:nvSpPr>
        <p:spPr>
          <a:xfrm>
            <a:off x="10716768" y="5036820"/>
            <a:ext cx="984885" cy="0"/>
          </a:xfrm>
          <a:custGeom>
            <a:avLst/>
            <a:gdLst/>
            <a:ahLst/>
            <a:cxnLst/>
            <a:rect l="l" t="t" r="r" b="b"/>
            <a:pathLst>
              <a:path w="984884" h="0">
                <a:moveTo>
                  <a:pt x="0" y="0"/>
                </a:moveTo>
                <a:lnTo>
                  <a:pt x="984504" y="0"/>
                </a:lnTo>
              </a:path>
            </a:pathLst>
          </a:custGeom>
          <a:ln w="9144">
            <a:solidFill>
              <a:srgbClr val="704F64"/>
            </a:solidFill>
          </a:ln>
        </p:spPr>
        <p:txBody>
          <a:bodyPr wrap="square" lIns="0" tIns="0" rIns="0" bIns="0" rtlCol="0"/>
          <a:lstStyle/>
          <a:p/>
        </p:txBody>
      </p:sp>
      <p:sp>
        <p:nvSpPr>
          <p:cNvPr id="46" name="bg object 46"/>
          <p:cNvSpPr/>
          <p:nvPr/>
        </p:nvSpPr>
        <p:spPr>
          <a:xfrm>
            <a:off x="551687" y="3686556"/>
            <a:ext cx="402590" cy="0"/>
          </a:xfrm>
          <a:custGeom>
            <a:avLst/>
            <a:gdLst/>
            <a:ahLst/>
            <a:cxnLst/>
            <a:rect l="l" t="t" r="r" b="b"/>
            <a:pathLst>
              <a:path w="402590" h="0">
                <a:moveTo>
                  <a:pt x="0" y="0"/>
                </a:moveTo>
                <a:lnTo>
                  <a:pt x="402336" y="0"/>
                </a:lnTo>
              </a:path>
            </a:pathLst>
          </a:custGeom>
          <a:ln w="9144">
            <a:solidFill>
              <a:srgbClr val="48239C"/>
            </a:solidFill>
          </a:ln>
        </p:spPr>
        <p:txBody>
          <a:bodyPr wrap="square" lIns="0" tIns="0" rIns="0" bIns="0" rtlCol="0"/>
          <a:lstStyle/>
          <a:p/>
        </p:txBody>
      </p:sp>
      <p:sp>
        <p:nvSpPr>
          <p:cNvPr id="47" name="bg object 47"/>
          <p:cNvSpPr/>
          <p:nvPr/>
        </p:nvSpPr>
        <p:spPr>
          <a:xfrm>
            <a:off x="551687" y="3668268"/>
            <a:ext cx="396240" cy="0"/>
          </a:xfrm>
          <a:custGeom>
            <a:avLst/>
            <a:gdLst/>
            <a:ahLst/>
            <a:cxnLst/>
            <a:rect l="l" t="t" r="r" b="b"/>
            <a:pathLst>
              <a:path w="396240" h="0">
                <a:moveTo>
                  <a:pt x="0" y="0"/>
                </a:moveTo>
                <a:lnTo>
                  <a:pt x="396240" y="0"/>
                </a:lnTo>
              </a:path>
            </a:pathLst>
          </a:custGeom>
          <a:ln w="9144">
            <a:solidFill>
              <a:srgbClr val="48239C"/>
            </a:solidFill>
          </a:ln>
        </p:spPr>
        <p:txBody>
          <a:bodyPr wrap="square" lIns="0" tIns="0" rIns="0" bIns="0" rtlCol="0"/>
          <a:lstStyle/>
          <a:p/>
        </p:txBody>
      </p:sp>
      <p:sp>
        <p:nvSpPr>
          <p:cNvPr id="48" name="bg object 48"/>
          <p:cNvSpPr/>
          <p:nvPr/>
        </p:nvSpPr>
        <p:spPr>
          <a:xfrm>
            <a:off x="579119" y="3631692"/>
            <a:ext cx="338455" cy="0"/>
          </a:xfrm>
          <a:custGeom>
            <a:avLst/>
            <a:gdLst/>
            <a:ahLst/>
            <a:cxnLst/>
            <a:rect l="l" t="t" r="r" b="b"/>
            <a:pathLst>
              <a:path w="338455" h="0">
                <a:moveTo>
                  <a:pt x="0" y="0"/>
                </a:moveTo>
                <a:lnTo>
                  <a:pt x="338328" y="0"/>
                </a:lnTo>
              </a:path>
            </a:pathLst>
          </a:custGeom>
          <a:ln w="9144">
            <a:solidFill>
              <a:srgbClr val="48239C"/>
            </a:solidFill>
          </a:ln>
        </p:spPr>
        <p:txBody>
          <a:bodyPr wrap="square" lIns="0" tIns="0" rIns="0" bIns="0" rtlCol="0"/>
          <a:lstStyle/>
          <a:p/>
        </p:txBody>
      </p:sp>
      <p:sp>
        <p:nvSpPr>
          <p:cNvPr id="49" name="bg object 49"/>
          <p:cNvSpPr/>
          <p:nvPr/>
        </p:nvSpPr>
        <p:spPr>
          <a:xfrm>
            <a:off x="345947" y="2947416"/>
            <a:ext cx="0" cy="24765"/>
          </a:xfrm>
          <a:custGeom>
            <a:avLst/>
            <a:gdLst/>
            <a:ahLst/>
            <a:cxnLst/>
            <a:rect l="l" t="t" r="r" b="b"/>
            <a:pathLst>
              <a:path w="0" h="24764">
                <a:moveTo>
                  <a:pt x="0" y="0"/>
                </a:moveTo>
                <a:lnTo>
                  <a:pt x="0" y="24384"/>
                </a:lnTo>
              </a:path>
            </a:pathLst>
          </a:custGeom>
          <a:ln w="9143">
            <a:solidFill>
              <a:srgbClr val="EB670F"/>
            </a:solidFill>
          </a:ln>
        </p:spPr>
        <p:txBody>
          <a:bodyPr wrap="square" lIns="0" tIns="0" rIns="0" bIns="0" rtlCol="0"/>
          <a:lstStyle/>
          <a:p/>
        </p:txBody>
      </p:sp>
      <p:sp>
        <p:nvSpPr>
          <p:cNvPr id="50" name="bg object 50"/>
          <p:cNvSpPr/>
          <p:nvPr/>
        </p:nvSpPr>
        <p:spPr>
          <a:xfrm>
            <a:off x="345947" y="2270760"/>
            <a:ext cx="0" cy="88900"/>
          </a:xfrm>
          <a:custGeom>
            <a:avLst/>
            <a:gdLst/>
            <a:ahLst/>
            <a:cxnLst/>
            <a:rect l="l" t="t" r="r" b="b"/>
            <a:pathLst>
              <a:path w="0" h="88900">
                <a:moveTo>
                  <a:pt x="0" y="0"/>
                </a:moveTo>
                <a:lnTo>
                  <a:pt x="0" y="88391"/>
                </a:lnTo>
              </a:path>
            </a:pathLst>
          </a:custGeom>
          <a:ln w="9143">
            <a:solidFill>
              <a:srgbClr val="EB670F"/>
            </a:solidFill>
          </a:ln>
        </p:spPr>
        <p:txBody>
          <a:bodyPr wrap="square" lIns="0" tIns="0" rIns="0" bIns="0" rtlCol="0"/>
          <a:lstStyle/>
          <a:p/>
        </p:txBody>
      </p:sp>
      <p:sp>
        <p:nvSpPr>
          <p:cNvPr id="51" name="bg object 51"/>
          <p:cNvSpPr/>
          <p:nvPr/>
        </p:nvSpPr>
        <p:spPr>
          <a:xfrm>
            <a:off x="2522220" y="2947416"/>
            <a:ext cx="0" cy="91440"/>
          </a:xfrm>
          <a:custGeom>
            <a:avLst/>
            <a:gdLst/>
            <a:ahLst/>
            <a:cxnLst/>
            <a:rect l="l" t="t" r="r" b="b"/>
            <a:pathLst>
              <a:path w="0" h="91439">
                <a:moveTo>
                  <a:pt x="0" y="0"/>
                </a:moveTo>
                <a:lnTo>
                  <a:pt x="0" y="91440"/>
                </a:lnTo>
              </a:path>
            </a:pathLst>
          </a:custGeom>
          <a:ln w="9144">
            <a:solidFill>
              <a:srgbClr val="EB670F"/>
            </a:solidFill>
          </a:ln>
        </p:spPr>
        <p:txBody>
          <a:bodyPr wrap="square" lIns="0" tIns="0" rIns="0" bIns="0" rtlCol="0"/>
          <a:lstStyle/>
          <a:p/>
        </p:txBody>
      </p:sp>
      <p:sp>
        <p:nvSpPr>
          <p:cNvPr id="52" name="bg object 52"/>
          <p:cNvSpPr/>
          <p:nvPr/>
        </p:nvSpPr>
        <p:spPr>
          <a:xfrm>
            <a:off x="2522220" y="2270760"/>
            <a:ext cx="0" cy="88900"/>
          </a:xfrm>
          <a:custGeom>
            <a:avLst/>
            <a:gdLst/>
            <a:ahLst/>
            <a:cxnLst/>
            <a:rect l="l" t="t" r="r" b="b"/>
            <a:pathLst>
              <a:path w="0" h="88900">
                <a:moveTo>
                  <a:pt x="0" y="0"/>
                </a:moveTo>
                <a:lnTo>
                  <a:pt x="0" y="88391"/>
                </a:lnTo>
              </a:path>
            </a:pathLst>
          </a:custGeom>
          <a:ln w="9144">
            <a:solidFill>
              <a:srgbClr val="EB670F"/>
            </a:solidFill>
          </a:ln>
        </p:spPr>
        <p:txBody>
          <a:bodyPr wrap="square" lIns="0" tIns="0" rIns="0" bIns="0" rtlCol="0"/>
          <a:lstStyle/>
          <a:p/>
        </p:txBody>
      </p:sp>
      <p:sp>
        <p:nvSpPr>
          <p:cNvPr id="53" name="bg object 53"/>
          <p:cNvSpPr/>
          <p:nvPr/>
        </p:nvSpPr>
        <p:spPr>
          <a:xfrm>
            <a:off x="341375" y="3034283"/>
            <a:ext cx="2185670" cy="0"/>
          </a:xfrm>
          <a:custGeom>
            <a:avLst/>
            <a:gdLst/>
            <a:ahLst/>
            <a:cxnLst/>
            <a:rect l="l" t="t" r="r" b="b"/>
            <a:pathLst>
              <a:path w="2185670" h="0">
                <a:moveTo>
                  <a:pt x="0" y="0"/>
                </a:moveTo>
                <a:lnTo>
                  <a:pt x="2185416" y="0"/>
                </a:lnTo>
              </a:path>
            </a:pathLst>
          </a:custGeom>
          <a:ln w="9144">
            <a:solidFill>
              <a:srgbClr val="EB670F"/>
            </a:solidFill>
          </a:ln>
        </p:spPr>
        <p:txBody>
          <a:bodyPr wrap="square" lIns="0" tIns="0" rIns="0" bIns="0" rtlCol="0"/>
          <a:lstStyle/>
          <a:p/>
        </p:txBody>
      </p:sp>
      <p:pic>
        <p:nvPicPr>
          <p:cNvPr id="54" name="bg object 54"/>
          <p:cNvPicPr/>
          <p:nvPr/>
        </p:nvPicPr>
        <p:blipFill>
          <a:blip r:embed="rId28" cstate="print"/>
          <a:stretch>
            <a:fillRect/>
          </a:stretch>
        </p:blipFill>
        <p:spPr>
          <a:xfrm>
            <a:off x="329184" y="1408175"/>
            <a:ext cx="2218943" cy="664463"/>
          </a:xfrm>
          <a:prstGeom prst="rect">
            <a:avLst/>
          </a:prstGeom>
        </p:spPr>
      </p:pic>
      <p:pic>
        <p:nvPicPr>
          <p:cNvPr id="55" name="bg object 55"/>
          <p:cNvPicPr/>
          <p:nvPr/>
        </p:nvPicPr>
        <p:blipFill>
          <a:blip r:embed="rId29" cstate="print"/>
          <a:stretch>
            <a:fillRect/>
          </a:stretch>
        </p:blipFill>
        <p:spPr>
          <a:xfrm>
            <a:off x="539495" y="1594103"/>
            <a:ext cx="396239" cy="377951"/>
          </a:xfrm>
          <a:prstGeom prst="rect">
            <a:avLst/>
          </a:prstGeom>
        </p:spPr>
      </p:pic>
      <p:pic>
        <p:nvPicPr>
          <p:cNvPr id="56" name="bg object 56"/>
          <p:cNvPicPr/>
          <p:nvPr/>
        </p:nvPicPr>
        <p:blipFill>
          <a:blip r:embed="rId30" cstate="print"/>
          <a:stretch>
            <a:fillRect/>
          </a:stretch>
        </p:blipFill>
        <p:spPr>
          <a:xfrm>
            <a:off x="1155192" y="1536191"/>
            <a:ext cx="1392936" cy="542544"/>
          </a:xfrm>
          <a:prstGeom prst="rect">
            <a:avLst/>
          </a:prstGeom>
        </p:spPr>
      </p:pic>
      <p:pic>
        <p:nvPicPr>
          <p:cNvPr id="57" name="bg object 57"/>
          <p:cNvPicPr/>
          <p:nvPr/>
        </p:nvPicPr>
        <p:blipFill>
          <a:blip r:embed="rId31" cstate="print"/>
          <a:stretch>
            <a:fillRect/>
          </a:stretch>
        </p:blipFill>
        <p:spPr>
          <a:xfrm>
            <a:off x="329184" y="1408175"/>
            <a:ext cx="2218943" cy="774191"/>
          </a:xfrm>
          <a:prstGeom prst="rect">
            <a:avLst/>
          </a:prstGeom>
        </p:spPr>
      </p:pic>
      <p:pic>
        <p:nvPicPr>
          <p:cNvPr id="58" name="bg object 58"/>
          <p:cNvPicPr/>
          <p:nvPr/>
        </p:nvPicPr>
        <p:blipFill>
          <a:blip r:embed="rId32" cstate="print"/>
          <a:stretch>
            <a:fillRect/>
          </a:stretch>
        </p:blipFill>
        <p:spPr>
          <a:xfrm>
            <a:off x="335279" y="2240279"/>
            <a:ext cx="2200656" cy="48768"/>
          </a:xfrm>
          <a:prstGeom prst="rect">
            <a:avLst/>
          </a:prstGeom>
        </p:spPr>
      </p:pic>
      <p:pic>
        <p:nvPicPr>
          <p:cNvPr id="59" name="bg object 59"/>
          <p:cNvPicPr/>
          <p:nvPr/>
        </p:nvPicPr>
        <p:blipFill>
          <a:blip r:embed="rId33" cstate="print"/>
          <a:stretch>
            <a:fillRect/>
          </a:stretch>
        </p:blipFill>
        <p:spPr>
          <a:xfrm>
            <a:off x="335279" y="2249423"/>
            <a:ext cx="2200656" cy="18287"/>
          </a:xfrm>
          <a:prstGeom prst="rect">
            <a:avLst/>
          </a:prstGeom>
        </p:spPr>
      </p:pic>
      <p:pic>
        <p:nvPicPr>
          <p:cNvPr id="60" name="bg object 60"/>
          <p:cNvPicPr/>
          <p:nvPr/>
        </p:nvPicPr>
        <p:blipFill>
          <a:blip r:embed="rId34" cstate="print"/>
          <a:stretch>
            <a:fillRect/>
          </a:stretch>
        </p:blipFill>
        <p:spPr>
          <a:xfrm>
            <a:off x="539495" y="2478023"/>
            <a:ext cx="396239" cy="341375"/>
          </a:xfrm>
          <a:prstGeom prst="rect">
            <a:avLst/>
          </a:prstGeom>
        </p:spPr>
      </p:pic>
      <p:pic>
        <p:nvPicPr>
          <p:cNvPr id="61" name="bg object 61"/>
          <p:cNvPicPr/>
          <p:nvPr/>
        </p:nvPicPr>
        <p:blipFill>
          <a:blip r:embed="rId35" cstate="print"/>
          <a:stretch>
            <a:fillRect/>
          </a:stretch>
        </p:blipFill>
        <p:spPr>
          <a:xfrm>
            <a:off x="1176527" y="2852927"/>
            <a:ext cx="838199" cy="97536"/>
          </a:xfrm>
          <a:prstGeom prst="rect">
            <a:avLst/>
          </a:prstGeom>
        </p:spPr>
      </p:pic>
      <p:sp>
        <p:nvSpPr>
          <p:cNvPr id="62" name="bg object 62"/>
          <p:cNvSpPr/>
          <p:nvPr/>
        </p:nvSpPr>
        <p:spPr>
          <a:xfrm>
            <a:off x="335279" y="2359151"/>
            <a:ext cx="2197735" cy="588645"/>
          </a:xfrm>
          <a:custGeom>
            <a:avLst/>
            <a:gdLst/>
            <a:ahLst/>
            <a:cxnLst/>
            <a:rect l="l" t="t" r="r" b="b"/>
            <a:pathLst>
              <a:path w="2197735" h="588644">
                <a:moveTo>
                  <a:pt x="2197608" y="588264"/>
                </a:moveTo>
                <a:lnTo>
                  <a:pt x="0" y="588264"/>
                </a:lnTo>
                <a:lnTo>
                  <a:pt x="0" y="0"/>
                </a:lnTo>
                <a:lnTo>
                  <a:pt x="2197608" y="0"/>
                </a:lnTo>
                <a:lnTo>
                  <a:pt x="2197608" y="588264"/>
                </a:lnTo>
                <a:close/>
              </a:path>
            </a:pathLst>
          </a:custGeom>
          <a:solidFill>
            <a:srgbClr val="FBB88A"/>
          </a:solidFill>
        </p:spPr>
        <p:txBody>
          <a:bodyPr wrap="square" lIns="0" tIns="0" rIns="0" bIns="0" rtlCol="0"/>
          <a:lstStyle/>
          <a:p/>
        </p:txBody>
      </p:sp>
      <p:sp>
        <p:nvSpPr>
          <p:cNvPr id="2" name="Holder 2"/>
          <p:cNvSpPr>
            <a:spLocks noGrp="1"/>
          </p:cNvSpPr>
          <p:nvPr>
            <p:ph type="title"/>
          </p:nvPr>
        </p:nvSpPr>
        <p:spPr/>
        <p:txBody>
          <a:bodyPr lIns="0" tIns="0" rIns="0" bIns="0"/>
          <a:lstStyle>
            <a:lvl1pPr>
              <a:defRPr sz="4700" b="0" i="0">
                <a:solidFill>
                  <a:srgbClr val="003BCA"/>
                </a:solidFill>
                <a:latin typeface="Arial Black"/>
                <a:cs typeface="Arial Black"/>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700" b="0" i="0">
                <a:solidFill>
                  <a:srgbClr val="003BCA"/>
                </a:solidFill>
                <a:latin typeface="Arial Black"/>
                <a:cs typeface="Arial Black"/>
              </a:defRPr>
            </a:lvl1pPr>
          </a:lstStyle>
          <a:p/>
        </p:txBody>
      </p:sp>
      <p:sp>
        <p:nvSpPr>
          <p:cNvPr id="3" name="Holder 3"/>
          <p:cNvSpPr>
            <a:spLocks noGrp="1"/>
          </p:cNvSpPr>
          <p:nvPr>
            <p:ph idx="2" sz="half"/>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700" b="0" i="0">
                <a:solidFill>
                  <a:srgbClr val="003BCA"/>
                </a:solidFill>
                <a:latin typeface="Arial Black"/>
                <a:cs typeface="Arial Black"/>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36311" y="-162655"/>
            <a:ext cx="6174105" cy="1395730"/>
          </a:xfrm>
          <a:prstGeom prst="rect">
            <a:avLst/>
          </a:prstGeom>
        </p:spPr>
        <p:txBody>
          <a:bodyPr wrap="square" lIns="0" tIns="0" rIns="0" bIns="0">
            <a:spAutoFit/>
          </a:bodyPr>
          <a:lstStyle>
            <a:lvl1pPr>
              <a:defRPr sz="4700" b="0" i="0">
                <a:solidFill>
                  <a:srgbClr val="003BCA"/>
                </a:solidFill>
                <a:latin typeface="Arial Black"/>
                <a:cs typeface="Arial Black"/>
              </a:defRPr>
            </a:lvl1pPr>
          </a:lstStyle>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p:txBody>
      </p:sp>
      <p:sp>
        <p:nvSpPr>
          <p:cNvPr id="4" name="Holder 4"/>
          <p:cNvSpPr>
            <a:spLocks noGrp="1"/>
          </p:cNvSpPr>
          <p:nvPr>
            <p:ph type="ftr" idx="5" sz="quarter"/>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jpg"/><Relationship Id="rId3" Type="http://schemas.openxmlformats.org/officeDocument/2006/relationships/image" Target="../media/image36.png"/><Relationship Id="rId4" Type="http://schemas.openxmlformats.org/officeDocument/2006/relationships/image" Target="../media/image3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jpg"/><Relationship Id="rId3" Type="http://schemas.openxmlformats.org/officeDocument/2006/relationships/image" Target="../media/image3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9.jpg"/><Relationship Id="rId3" Type="http://schemas.openxmlformats.org/officeDocument/2006/relationships/image" Target="../media/image3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jpg"/><Relationship Id="rId3" Type="http://schemas.openxmlformats.org/officeDocument/2006/relationships/image" Target="../media/image3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1.jpg"/><Relationship Id="rId3" Type="http://schemas.openxmlformats.org/officeDocument/2006/relationships/image" Target="../media/image3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2.jpg"/><Relationship Id="rId3" Type="http://schemas.openxmlformats.org/officeDocument/2006/relationships/image" Target="../media/image3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3.jpg"/><Relationship Id="rId3" Type="http://schemas.openxmlformats.org/officeDocument/2006/relationships/image" Target="../media/image3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 Id="rId3" Type="http://schemas.openxmlformats.org/officeDocument/2006/relationships/image" Target="../media/image45.jpg"/><Relationship Id="rId4" Type="http://schemas.openxmlformats.org/officeDocument/2006/relationships/image" Target="../media/image46.png"/><Relationship Id="rId5" Type="http://schemas.openxmlformats.org/officeDocument/2006/relationships/image" Target="../media/image47.jpg"/><Relationship Id="rId6" Type="http://schemas.openxmlformats.org/officeDocument/2006/relationships/image" Target="../media/image48.jpg"/><Relationship Id="rId7" Type="http://schemas.openxmlformats.org/officeDocument/2006/relationships/image" Target="../media/image49.jpg"/><Relationship Id="rId8" Type="http://schemas.openxmlformats.org/officeDocument/2006/relationships/image" Target="../media/image50.png"/><Relationship Id="rId9" Type="http://schemas.openxmlformats.org/officeDocument/2006/relationships/image" Target="../media/image51.jpg"/><Relationship Id="rId10" Type="http://schemas.openxmlformats.org/officeDocument/2006/relationships/image" Target="../media/image52.jpg"/><Relationship Id="rId11" Type="http://schemas.openxmlformats.org/officeDocument/2006/relationships/image" Target="../media/image53.png"/><Relationship Id="rId12" Type="http://schemas.openxmlformats.org/officeDocument/2006/relationships/image" Target="../media/image54.jpg"/><Relationship Id="rId13" Type="http://schemas.openxmlformats.org/officeDocument/2006/relationships/image" Target="../media/image55.png"/><Relationship Id="rId14" Type="http://schemas.openxmlformats.org/officeDocument/2006/relationships/image" Target="../media/image56.jpg"/><Relationship Id="rId15" Type="http://schemas.openxmlformats.org/officeDocument/2006/relationships/image" Target="../media/image57.jpg"/><Relationship Id="rId16" Type="http://schemas.openxmlformats.org/officeDocument/2006/relationships/image" Target="../media/image58.png"/><Relationship Id="rId17" Type="http://schemas.openxmlformats.org/officeDocument/2006/relationships/image" Target="../media/image59.png"/><Relationship Id="rId18" Type="http://schemas.openxmlformats.org/officeDocument/2006/relationships/image" Target="../media/image60.jpg"/><Relationship Id="rId19" Type="http://schemas.openxmlformats.org/officeDocument/2006/relationships/image" Target="../media/image6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2.jpg"/><Relationship Id="rId3" Type="http://schemas.openxmlformats.org/officeDocument/2006/relationships/image" Target="../media/image3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3.jpg"/><Relationship Id="rId3" Type="http://schemas.openxmlformats.org/officeDocument/2006/relationships/image" Target="../media/image36.png"/><Relationship Id="rId4" Type="http://schemas.openxmlformats.org/officeDocument/2006/relationships/image" Target="../media/image6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5.jpg"/><Relationship Id="rId3" Type="http://schemas.openxmlformats.org/officeDocument/2006/relationships/image" Target="../media/image36.png"/><Relationship Id="rId4" Type="http://schemas.openxmlformats.org/officeDocument/2006/relationships/image" Target="../media/image6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6.jpg"/><Relationship Id="rId3" Type="http://schemas.openxmlformats.org/officeDocument/2006/relationships/image" Target="../media/image36.png"/><Relationship Id="rId4" Type="http://schemas.openxmlformats.org/officeDocument/2006/relationships/image" Target="../media/image6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7.jpg"/><Relationship Id="rId3" Type="http://schemas.openxmlformats.org/officeDocument/2006/relationships/image" Target="../media/image36.png"/><Relationship Id="rId4" Type="http://schemas.openxmlformats.org/officeDocument/2006/relationships/image" Target="../media/image6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8.jpg"/><Relationship Id="rId3" Type="http://schemas.openxmlformats.org/officeDocument/2006/relationships/image" Target="../media/image36.png"/><Relationship Id="rId4" Type="http://schemas.openxmlformats.org/officeDocument/2006/relationships/image" Target="../media/image6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0.jpg"/><Relationship Id="rId3" Type="http://schemas.openxmlformats.org/officeDocument/2006/relationships/image" Target="../media/image36.png"/><Relationship Id="rId4" Type="http://schemas.openxmlformats.org/officeDocument/2006/relationships/image" Target="../media/image7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2.jpg"/><Relationship Id="rId3"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3.jpg"/><Relationship Id="rId3"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4.jpg"/></Relationships>

</file>

<file path=ppt/slides/_rels/slide19.xml.rels><?xml version='1.0' encoding='UTF-8' standalone='yes'?>
<Relationships xmlns="http://schemas.openxmlformats.org/package/2006/relationships"><Relationship Id="rId1" Type="http://schemas.openxmlformats.org/officeDocument/2006/relationships/image" Target="../media/tech_image-1-1.png"/><Relationship Id="rId2" Type="http://schemas.openxmlformats.org/officeDocument/2006/relationships/slideLayout" Target="../slideLayouts/slideLayout5.xml"/><Relationship Id="rId3" Type="http://schemas.openxmlformats.org/officeDocument/2006/relationships/notesSlide" Target="../notesSlides/notesSlide19.xml"/><Relationship Id="rIdKpLogo"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KpLogo"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image" Target="../media/tech_image-3-1.png"/><Relationship Id="rId2" Type="http://schemas.openxmlformats.org/officeDocument/2006/relationships/image" Target="../media/tech_image-3-2.png"/><Relationship Id="rId3" Type="http://schemas.openxmlformats.org/officeDocument/2006/relationships/image" Target="../media/tech_image-3-3.png"/><Relationship Id="rId4" Type="http://schemas.openxmlformats.org/officeDocument/2006/relationships/image" Target="../media/tech_image-3-4.png"/><Relationship Id="rId5" Type="http://schemas.openxmlformats.org/officeDocument/2006/relationships/slideLayout" Target="../slideLayouts/slideLayout5.xml"/><Relationship Id="rId6" Type="http://schemas.openxmlformats.org/officeDocument/2006/relationships/notesSlide" Target="../notesSlides/notesSlide21.xml"/><Relationship Id="rIdKpLogo"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KpLogo"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KpLogo"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image" Target="../media/tech_image-6-1.png"/><Relationship Id="rId2" Type="http://schemas.openxmlformats.org/officeDocument/2006/relationships/image" Target="../media/tech_image-6-2.png"/><Relationship Id="rId3" Type="http://schemas.openxmlformats.org/officeDocument/2006/relationships/image" Target="../media/tech_image-6-3.png"/><Relationship Id="rId4" Type="http://schemas.openxmlformats.org/officeDocument/2006/relationships/image" Target="../media/tech_image-6-4.png"/><Relationship Id="rId5" Type="http://schemas.openxmlformats.org/officeDocument/2006/relationships/image" Target="../media/tech_image-6-5.png"/><Relationship Id="rId6" Type="http://schemas.openxmlformats.org/officeDocument/2006/relationships/image" Target="../media/tech_image-6-6.png"/><Relationship Id="rId7" Type="http://schemas.openxmlformats.org/officeDocument/2006/relationships/slideLayout" Target="../slideLayouts/slideLayout5.xml"/><Relationship Id="rId8" Type="http://schemas.openxmlformats.org/officeDocument/2006/relationships/notesSlide" Target="../notesSlides/notesSlide24.xml"/><Relationship Id="rIdKpLogo" Type="http://schemas.openxmlformats.org/officeDocument/2006/relationships/image" Target="../media/image3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KpLogo"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KpLogo"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KpLogo"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image" Target="../media/tech_image-10-1.png"/><Relationship Id="rId2" Type="http://schemas.openxmlformats.org/officeDocument/2006/relationships/image" Target="../media/tech_image-10-2.png"/><Relationship Id="rId3" Type="http://schemas.openxmlformats.org/officeDocument/2006/relationships/image" Target="../media/tech_image-10-3.png"/><Relationship Id="rId4" Type="http://schemas.openxmlformats.org/officeDocument/2006/relationships/slideLayout" Target="../slideLayouts/slideLayout5.xml"/><Relationship Id="rId5" Type="http://schemas.openxmlformats.org/officeDocument/2006/relationships/notesSlide" Target="../notesSlides/notesSlide28.xml"/><Relationship Id="rIdKpLogo"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image" Target="../media/tech_image-11-1.png"/><Relationship Id="rId2" Type="http://schemas.openxmlformats.org/officeDocument/2006/relationships/image" Target="../media/tech_image-11-2.png"/><Relationship Id="rId3" Type="http://schemas.openxmlformats.org/officeDocument/2006/relationships/image" Target="../media/tech_image-11-3.png"/><Relationship Id="rId4" Type="http://schemas.openxmlformats.org/officeDocument/2006/relationships/image" Target="../media/tech_image-11-4.png"/><Relationship Id="rId5" Type="http://schemas.openxmlformats.org/officeDocument/2006/relationships/image" Target="../media/tech_image-11-5.png"/><Relationship Id="rId6" Type="http://schemas.openxmlformats.org/officeDocument/2006/relationships/image" Target="../media/tech_image-11-6.png"/><Relationship Id="rId7" Type="http://schemas.openxmlformats.org/officeDocument/2006/relationships/slideLayout" Target="../slideLayouts/slideLayout5.xml"/><Relationship Id="rId8" Type="http://schemas.openxmlformats.org/officeDocument/2006/relationships/notesSlide" Target="../notesSlides/notesSlide29.xml"/><Relationship Id="rIdKpLogo"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KpLogo" Type="http://schemas.openxmlformats.org/officeDocument/2006/relationships/image" Target="../media/image3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KpLogo"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KpLogo"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9048"/>
            <a:ext cx="12192000" cy="6819900"/>
            <a:chOff x="0" y="19048"/>
            <a:chExt cx="12192000" cy="6819900"/>
          </a:xfrm>
        </p:grpSpPr>
        <p:pic>
          <p:nvPicPr>
            <p:cNvPr id="3" name="object 3"/>
            <p:cNvPicPr/>
            <p:nvPr/>
          </p:nvPicPr>
          <p:blipFill>
            <a:blip r:embed="rId2" cstate="print"/>
            <a:stretch>
              <a:fillRect/>
            </a:stretch>
          </p:blipFill>
          <p:spPr>
            <a:xfrm>
              <a:off x="0" y="19048"/>
              <a:ext cx="12191999" cy="6819900"/>
            </a:xfrm>
            <a:prstGeom prst="rect">
              <a:avLst/>
            </a:prstGeom>
          </p:spPr>
        </p:pic>
        <p:sp>
          <p:nvSpPr>
            <p:cNvPr id="4" name="object 4"/>
            <p:cNvSpPr/>
            <p:nvPr/>
          </p:nvSpPr>
          <p:spPr>
            <a:xfrm>
              <a:off x="276225" y="380999"/>
              <a:ext cx="5972175" cy="3190875"/>
            </a:xfrm>
            <a:custGeom>
              <a:avLst/>
              <a:gdLst/>
              <a:ahLst/>
              <a:cxnLst/>
              <a:rect l="l" t="t" r="r" b="b"/>
              <a:pathLst>
                <a:path w="5972175" h="3190875">
                  <a:moveTo>
                    <a:pt x="5819775" y="1952625"/>
                  </a:moveTo>
                  <a:lnTo>
                    <a:pt x="5814733" y="1902714"/>
                  </a:lnTo>
                  <a:lnTo>
                    <a:pt x="5800306" y="1856232"/>
                  </a:lnTo>
                  <a:lnTo>
                    <a:pt x="5777471" y="1814169"/>
                  </a:lnTo>
                  <a:lnTo>
                    <a:pt x="5747232" y="1777517"/>
                  </a:lnTo>
                  <a:lnTo>
                    <a:pt x="5710580" y="1747278"/>
                  </a:lnTo>
                  <a:lnTo>
                    <a:pt x="5668518" y="1724444"/>
                  </a:lnTo>
                  <a:lnTo>
                    <a:pt x="5622036" y="1710016"/>
                  </a:lnTo>
                  <a:lnTo>
                    <a:pt x="5572125" y="1704975"/>
                  </a:lnTo>
                  <a:lnTo>
                    <a:pt x="247650" y="1704975"/>
                  </a:lnTo>
                  <a:lnTo>
                    <a:pt x="197739" y="1710016"/>
                  </a:lnTo>
                  <a:lnTo>
                    <a:pt x="151244" y="1724444"/>
                  </a:lnTo>
                  <a:lnTo>
                    <a:pt x="109181" y="1747278"/>
                  </a:lnTo>
                  <a:lnTo>
                    <a:pt x="72529" y="1777517"/>
                  </a:lnTo>
                  <a:lnTo>
                    <a:pt x="42291" y="1814169"/>
                  </a:lnTo>
                  <a:lnTo>
                    <a:pt x="19456" y="1856232"/>
                  </a:lnTo>
                  <a:lnTo>
                    <a:pt x="5029" y="1902714"/>
                  </a:lnTo>
                  <a:lnTo>
                    <a:pt x="0" y="1952625"/>
                  </a:lnTo>
                  <a:lnTo>
                    <a:pt x="0" y="2943225"/>
                  </a:lnTo>
                  <a:lnTo>
                    <a:pt x="5029" y="2993148"/>
                  </a:lnTo>
                  <a:lnTo>
                    <a:pt x="19456" y="3039630"/>
                  </a:lnTo>
                  <a:lnTo>
                    <a:pt x="42291" y="3081693"/>
                  </a:lnTo>
                  <a:lnTo>
                    <a:pt x="72529" y="3118345"/>
                  </a:lnTo>
                  <a:lnTo>
                    <a:pt x="109181" y="3148584"/>
                  </a:lnTo>
                  <a:lnTo>
                    <a:pt x="151244" y="3171418"/>
                  </a:lnTo>
                  <a:lnTo>
                    <a:pt x="197739" y="3185845"/>
                  </a:lnTo>
                  <a:lnTo>
                    <a:pt x="247650" y="3190875"/>
                  </a:lnTo>
                  <a:lnTo>
                    <a:pt x="5572125" y="3190875"/>
                  </a:lnTo>
                  <a:lnTo>
                    <a:pt x="5622036" y="3185845"/>
                  </a:lnTo>
                  <a:lnTo>
                    <a:pt x="5668518" y="3171418"/>
                  </a:lnTo>
                  <a:lnTo>
                    <a:pt x="5710580" y="3148584"/>
                  </a:lnTo>
                  <a:lnTo>
                    <a:pt x="5747232" y="3118345"/>
                  </a:lnTo>
                  <a:lnTo>
                    <a:pt x="5777471" y="3081693"/>
                  </a:lnTo>
                  <a:lnTo>
                    <a:pt x="5800306" y="3039630"/>
                  </a:lnTo>
                  <a:lnTo>
                    <a:pt x="5814733" y="2993148"/>
                  </a:lnTo>
                  <a:lnTo>
                    <a:pt x="5819775" y="2943225"/>
                  </a:lnTo>
                  <a:lnTo>
                    <a:pt x="5819775" y="1952625"/>
                  </a:lnTo>
                  <a:close/>
                </a:path>
                <a:path w="5972175" h="3190875">
                  <a:moveTo>
                    <a:pt x="5972175" y="223901"/>
                  </a:moveTo>
                  <a:lnTo>
                    <a:pt x="5967615" y="178777"/>
                  </a:lnTo>
                  <a:lnTo>
                    <a:pt x="5954585" y="136740"/>
                  </a:lnTo>
                  <a:lnTo>
                    <a:pt x="5933935" y="98704"/>
                  </a:lnTo>
                  <a:lnTo>
                    <a:pt x="5906605" y="65570"/>
                  </a:lnTo>
                  <a:lnTo>
                    <a:pt x="5873470" y="38239"/>
                  </a:lnTo>
                  <a:lnTo>
                    <a:pt x="5835434" y="17589"/>
                  </a:lnTo>
                  <a:lnTo>
                    <a:pt x="5793397" y="4559"/>
                  </a:lnTo>
                  <a:lnTo>
                    <a:pt x="5748274" y="0"/>
                  </a:lnTo>
                  <a:lnTo>
                    <a:pt x="366712" y="0"/>
                  </a:lnTo>
                  <a:lnTo>
                    <a:pt x="321589" y="4559"/>
                  </a:lnTo>
                  <a:lnTo>
                    <a:pt x="279577" y="17589"/>
                  </a:lnTo>
                  <a:lnTo>
                    <a:pt x="241554" y="38239"/>
                  </a:lnTo>
                  <a:lnTo>
                    <a:pt x="208432" y="65570"/>
                  </a:lnTo>
                  <a:lnTo>
                    <a:pt x="181102" y="98704"/>
                  </a:lnTo>
                  <a:lnTo>
                    <a:pt x="160464" y="136740"/>
                  </a:lnTo>
                  <a:lnTo>
                    <a:pt x="147421" y="178777"/>
                  </a:lnTo>
                  <a:lnTo>
                    <a:pt x="142875" y="223901"/>
                  </a:lnTo>
                  <a:lnTo>
                    <a:pt x="142875" y="1119124"/>
                  </a:lnTo>
                  <a:lnTo>
                    <a:pt x="147421" y="1164259"/>
                  </a:lnTo>
                  <a:lnTo>
                    <a:pt x="160464" y="1206296"/>
                  </a:lnTo>
                  <a:lnTo>
                    <a:pt x="181102" y="1244333"/>
                  </a:lnTo>
                  <a:lnTo>
                    <a:pt x="208432" y="1277467"/>
                  </a:lnTo>
                  <a:lnTo>
                    <a:pt x="241554" y="1304798"/>
                  </a:lnTo>
                  <a:lnTo>
                    <a:pt x="279577" y="1325435"/>
                  </a:lnTo>
                  <a:lnTo>
                    <a:pt x="321589" y="1338478"/>
                  </a:lnTo>
                  <a:lnTo>
                    <a:pt x="366712" y="1343025"/>
                  </a:lnTo>
                  <a:lnTo>
                    <a:pt x="5748274" y="1343025"/>
                  </a:lnTo>
                  <a:lnTo>
                    <a:pt x="5793397" y="1338478"/>
                  </a:lnTo>
                  <a:lnTo>
                    <a:pt x="5835434" y="1325448"/>
                  </a:lnTo>
                  <a:lnTo>
                    <a:pt x="5873470" y="1304798"/>
                  </a:lnTo>
                  <a:lnTo>
                    <a:pt x="5906605" y="1277467"/>
                  </a:lnTo>
                  <a:lnTo>
                    <a:pt x="5933935" y="1244333"/>
                  </a:lnTo>
                  <a:lnTo>
                    <a:pt x="5954585" y="1206296"/>
                  </a:lnTo>
                  <a:lnTo>
                    <a:pt x="5967615" y="1164259"/>
                  </a:lnTo>
                  <a:lnTo>
                    <a:pt x="5972175" y="1119124"/>
                  </a:lnTo>
                  <a:lnTo>
                    <a:pt x="5972175" y="223901"/>
                  </a:lnTo>
                  <a:close/>
                </a:path>
              </a:pathLst>
            </a:custGeom>
            <a:solidFill>
              <a:srgbClr val="FFFFFF"/>
            </a:solidFill>
          </p:spPr>
          <p:txBody>
            <a:bodyPr wrap="square" lIns="0" tIns="0" rIns="0" bIns="0" rtlCol="0"/>
            <a:lstStyle/>
            <a:p/>
          </p:txBody>
        </p:sp>
        <p:pic>
          <p:nvPicPr>
            <p:cNvPr id="5" name="object 5"/>
            <p:cNvPicPr/>
            <p:nvPr/>
          </p:nvPicPr>
          <p:blipFill>
            <a:blip r:embed="rId3" cstate="print"/>
            <a:stretch>
              <a:fillRect/>
            </a:stretch>
          </p:blipFill>
          <p:spPr>
            <a:xfrm>
              <a:off x="447674" y="561974"/>
              <a:ext cx="3752850" cy="1123950"/>
            </a:xfrm>
            <a:prstGeom prst="rect">
              <a:avLst/>
            </a:prstGeom>
          </p:spPr>
        </p:pic>
      </p:grpSp>
      <p:sp>
        <p:nvSpPr>
          <p:cNvPr id="6" name="object 6" descr="$PPTXTitle"/>
          <p:cNvSpPr txBox="1">
            <a:spLocks noGrp="1"/>
          </p:cNvSpPr>
          <p:nvPr>
            <p:ph type="title"/>
          </p:nvPr>
        </p:nvSpPr>
        <p:spPr>
          <a:xfrm>
            <a:off x="494665" y="1965705"/>
            <a:ext cx="6001385" cy="1368425"/>
          </a:xfrm>
          <a:prstGeom prst="rect"/>
        </p:spPr>
        <p:txBody>
          <a:bodyPr wrap="square" lIns="0" tIns="31750" rIns="0" bIns="0" rtlCol="0" vert="horz">
            <a:spAutoFit/>
          </a:bodyPr>
          <a:lstStyle/>
          <a:p>
            <a:pPr marL="12700" marR="5080">
              <a:lnSpc>
                <a:spcPts val="5260"/>
              </a:lnSpc>
              <a:spcBef>
                <a:spcPts val="250"/>
              </a:spcBef>
            </a:pPr>
            <a:r>
              <a:rPr dirty="0" sz="4400" b="1">
                <a:solidFill>
                  <a:srgbClr val="053793"/>
                </a:solidFill>
                <a:latin typeface="Calibri"/>
                <a:cs typeface="Calibri"/>
              </a:rPr>
              <a:t>IT</a:t>
            </a:r>
            <a:r>
              <a:rPr dirty="0" sz="4400" spc="-130" b="1">
                <a:solidFill>
                  <a:srgbClr val="053793"/>
                </a:solidFill>
                <a:latin typeface="Calibri"/>
                <a:cs typeface="Calibri"/>
              </a:rPr>
              <a:t> </a:t>
            </a:r>
            <a:r>
              <a:rPr dirty="0" sz="4400" b="1">
                <a:solidFill>
                  <a:srgbClr val="053793"/>
                </a:solidFill>
                <a:latin typeface="Calibri"/>
                <a:cs typeface="Calibri"/>
              </a:rPr>
              <a:t>SERVICES</a:t>
            </a:r>
            <a:r>
              <a:rPr dirty="0" sz="4400" spc="-105" b="1">
                <a:solidFill>
                  <a:srgbClr val="053793"/>
                </a:solidFill>
                <a:latin typeface="Calibri"/>
                <a:cs typeface="Calibri"/>
              </a:rPr>
              <a:t> </a:t>
            </a:r>
            <a:r>
              <a:rPr dirty="0" sz="4400" spc="-60" b="1">
                <a:solidFill>
                  <a:srgbClr val="053793"/>
                </a:solidFill>
                <a:latin typeface="Calibri"/>
                <a:cs typeface="Calibri"/>
              </a:rPr>
              <a:t>&amp; </a:t>
            </a:r>
            <a:r>
              <a:rPr dirty="0" sz="4400" spc="-20" b="1">
                <a:solidFill>
                  <a:srgbClr val="053793"/>
                </a:solidFill>
                <a:latin typeface="Calibri"/>
                <a:cs typeface="Calibri"/>
              </a:rPr>
              <a:t>TECHNOLOGY</a:t>
            </a:r>
            <a:r>
              <a:rPr dirty="0" sz="4400" spc="-180" b="1">
                <a:solidFill>
                  <a:srgbClr val="053793"/>
                </a:solidFill>
                <a:latin typeface="Calibri"/>
                <a:cs typeface="Calibri"/>
              </a:rPr>
              <a:t> </a:t>
            </a:r>
            <a:r>
              <a:rPr dirty="0" sz="4400" spc="-10" b="1">
                <a:solidFill>
                  <a:srgbClr val="053793"/>
                </a:solidFill>
                <a:latin typeface="Calibri"/>
                <a:cs typeface="Calibri"/>
              </a:rPr>
              <a:t>SOLUTIONS</a:t>
            </a:r>
            <a:endParaRPr sz="4400">
              <a:latin typeface="Calibri"/>
              <a:cs typeface="Calibri"/>
            </a:endParaRPr>
          </a:p>
        </p:txBody>
      </p:sp>
      <p:pic>
        <p:nvPicPr>
          <p:cNvPr id="7" name="object 7"/>
          <p:cNvPicPr/>
          <p:nvPr/>
        </p:nvPicPr>
        <p:blipFill>
          <a:blip r:embed="rId4" cstate="print"/>
          <a:stretch>
            <a:fillRect/>
          </a:stretch>
        </p:blipFill>
        <p:spPr>
          <a:xfrm>
            <a:off x="276225" y="4857750"/>
            <a:ext cx="3924300" cy="152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descr="/mnt/data/enhanced_slides/slide_02_enhanced.png"/>
            <p:cNvPicPr/>
            <p:nvPr/>
          </p:nvPicPr>
          <p:blipFill>
            <a:blip r:embed="rId2" cstate="print"/>
            <a:stretch>
              <a:fillRect/>
            </a:stretch>
          </p:blipFill>
          <p:spPr>
            <a:xfrm>
              <a:off x="0" y="0"/>
              <a:ext cx="12192000" cy="6857999"/>
            </a:xfrm>
            <a:prstGeom prst="rect">
              <a:avLst/>
            </a:prstGeom>
          </p:spPr>
        </p:pic>
        <p:sp>
          <p:nvSpPr>
            <p:cNvPr id="4" name="object 4"/>
            <p:cNvSpPr/>
            <p:nvPr/>
          </p:nvSpPr>
          <p:spPr>
            <a:xfrm>
              <a:off x="9972675" y="142875"/>
              <a:ext cx="2162175" cy="704850"/>
            </a:xfrm>
            <a:custGeom>
              <a:avLst/>
              <a:gdLst/>
              <a:ahLst/>
              <a:cxnLst/>
              <a:rect l="l" t="t" r="r" b="b"/>
              <a:pathLst>
                <a:path w="2162175" h="704850">
                  <a:moveTo>
                    <a:pt x="2044700" y="0"/>
                  </a:moveTo>
                  <a:lnTo>
                    <a:pt x="117475" y="0"/>
                  </a:lnTo>
                  <a:lnTo>
                    <a:pt x="71741" y="9229"/>
                  </a:lnTo>
                  <a:lnTo>
                    <a:pt x="34401" y="34401"/>
                  </a:lnTo>
                  <a:lnTo>
                    <a:pt x="9229" y="71741"/>
                  </a:lnTo>
                  <a:lnTo>
                    <a:pt x="0" y="117475"/>
                  </a:lnTo>
                  <a:lnTo>
                    <a:pt x="0" y="587375"/>
                  </a:lnTo>
                  <a:lnTo>
                    <a:pt x="9229" y="633108"/>
                  </a:lnTo>
                  <a:lnTo>
                    <a:pt x="34401" y="670448"/>
                  </a:lnTo>
                  <a:lnTo>
                    <a:pt x="71741" y="695620"/>
                  </a:lnTo>
                  <a:lnTo>
                    <a:pt x="117475" y="704850"/>
                  </a:lnTo>
                  <a:lnTo>
                    <a:pt x="2044700" y="704850"/>
                  </a:lnTo>
                  <a:lnTo>
                    <a:pt x="2090433" y="695620"/>
                  </a:lnTo>
                  <a:lnTo>
                    <a:pt x="2127773" y="670448"/>
                  </a:lnTo>
                  <a:lnTo>
                    <a:pt x="2152945" y="633108"/>
                  </a:lnTo>
                  <a:lnTo>
                    <a:pt x="2162175" y="587375"/>
                  </a:lnTo>
                  <a:lnTo>
                    <a:pt x="2162175" y="117475"/>
                  </a:lnTo>
                  <a:lnTo>
                    <a:pt x="2152945" y="71741"/>
                  </a:lnTo>
                  <a:lnTo>
                    <a:pt x="2127773" y="34401"/>
                  </a:lnTo>
                  <a:lnTo>
                    <a:pt x="2090433" y="9229"/>
                  </a:lnTo>
                  <a:lnTo>
                    <a:pt x="2044700" y="0"/>
                  </a:lnTo>
                  <a:close/>
                </a:path>
              </a:pathLst>
            </a:custGeom>
            <a:solidFill>
              <a:srgbClr val="FFFFFF"/>
            </a:solidFill>
          </p:spPr>
          <p:txBody>
            <a:bodyPr wrap="square" lIns="0" tIns="0" rIns="0" bIns="0" rtlCol="0"/>
            <a:lstStyle/>
            <a:p/>
          </p:txBody>
        </p:sp>
        <p:pic>
          <p:nvPicPr>
            <p:cNvPr id="5" name="object 5"/>
            <p:cNvPicPr/>
            <p:nvPr/>
          </p:nvPicPr>
          <p:blipFill>
            <a:blip r:embed="rId3" cstate="print"/>
            <a:stretch>
              <a:fillRect/>
            </a:stretch>
          </p:blipFill>
          <p:spPr>
            <a:xfrm>
              <a:off x="10134600" y="209550"/>
              <a:ext cx="1828800" cy="552450"/>
            </a:xfrm>
            <a:prstGeom prst="rect">
              <a:avLst/>
            </a:prstGeom>
          </p:spPr>
        </p:pic>
        <p:sp>
          <p:nvSpPr>
            <p:cNvPr id="6" name="object 6"/>
            <p:cNvSpPr/>
            <p:nvPr/>
          </p:nvSpPr>
          <p:spPr>
            <a:xfrm>
              <a:off x="476250" y="485775"/>
              <a:ext cx="6324600" cy="1343025"/>
            </a:xfrm>
            <a:custGeom>
              <a:avLst/>
              <a:gdLst/>
              <a:ahLst/>
              <a:cxnLst/>
              <a:rect l="l" t="t" r="r" b="b"/>
              <a:pathLst>
                <a:path w="6324600" h="1343025">
                  <a:moveTo>
                    <a:pt x="6100699" y="0"/>
                  </a:moveTo>
                  <a:lnTo>
                    <a:pt x="223850" y="0"/>
                  </a:lnTo>
                  <a:lnTo>
                    <a:pt x="178735" y="4547"/>
                  </a:lnTo>
                  <a:lnTo>
                    <a:pt x="136715" y="17589"/>
                  </a:lnTo>
                  <a:lnTo>
                    <a:pt x="98691" y="38227"/>
                  </a:lnTo>
                  <a:lnTo>
                    <a:pt x="65562" y="65563"/>
                  </a:lnTo>
                  <a:lnTo>
                    <a:pt x="38228" y="98697"/>
                  </a:lnTo>
                  <a:lnTo>
                    <a:pt x="17590" y="136731"/>
                  </a:lnTo>
                  <a:lnTo>
                    <a:pt x="4547" y="178765"/>
                  </a:lnTo>
                  <a:lnTo>
                    <a:pt x="0" y="223900"/>
                  </a:lnTo>
                  <a:lnTo>
                    <a:pt x="0" y="1119124"/>
                  </a:lnTo>
                  <a:lnTo>
                    <a:pt x="4547" y="1164259"/>
                  </a:lnTo>
                  <a:lnTo>
                    <a:pt x="17590" y="1206293"/>
                  </a:lnTo>
                  <a:lnTo>
                    <a:pt x="38228" y="1244327"/>
                  </a:lnTo>
                  <a:lnTo>
                    <a:pt x="65562" y="1277461"/>
                  </a:lnTo>
                  <a:lnTo>
                    <a:pt x="98691" y="1304797"/>
                  </a:lnTo>
                  <a:lnTo>
                    <a:pt x="136715" y="1325435"/>
                  </a:lnTo>
                  <a:lnTo>
                    <a:pt x="178735" y="1338477"/>
                  </a:lnTo>
                  <a:lnTo>
                    <a:pt x="223850" y="1343025"/>
                  </a:lnTo>
                  <a:lnTo>
                    <a:pt x="6100699" y="1343025"/>
                  </a:lnTo>
                  <a:lnTo>
                    <a:pt x="6145834" y="1338477"/>
                  </a:lnTo>
                  <a:lnTo>
                    <a:pt x="6187868" y="1325435"/>
                  </a:lnTo>
                  <a:lnTo>
                    <a:pt x="6225902" y="1304797"/>
                  </a:lnTo>
                  <a:lnTo>
                    <a:pt x="6259036" y="1277461"/>
                  </a:lnTo>
                  <a:lnTo>
                    <a:pt x="6286372" y="1244327"/>
                  </a:lnTo>
                  <a:lnTo>
                    <a:pt x="6307010" y="1206293"/>
                  </a:lnTo>
                  <a:lnTo>
                    <a:pt x="6320052" y="1164259"/>
                  </a:lnTo>
                  <a:lnTo>
                    <a:pt x="6324600" y="1119124"/>
                  </a:lnTo>
                  <a:lnTo>
                    <a:pt x="6324600" y="223900"/>
                  </a:lnTo>
                  <a:lnTo>
                    <a:pt x="6320052" y="178765"/>
                  </a:lnTo>
                  <a:lnTo>
                    <a:pt x="6307010" y="136731"/>
                  </a:lnTo>
                  <a:lnTo>
                    <a:pt x="6286372" y="98697"/>
                  </a:lnTo>
                  <a:lnTo>
                    <a:pt x="6259036" y="65563"/>
                  </a:lnTo>
                  <a:lnTo>
                    <a:pt x="6225902" y="38227"/>
                  </a:lnTo>
                  <a:lnTo>
                    <a:pt x="6187868" y="17589"/>
                  </a:lnTo>
                  <a:lnTo>
                    <a:pt x="6145834" y="4547"/>
                  </a:lnTo>
                  <a:lnTo>
                    <a:pt x="6100699" y="0"/>
                  </a:lnTo>
                  <a:close/>
                </a:path>
              </a:pathLst>
            </a:custGeom>
            <a:solidFill>
              <a:srgbClr val="FFFFFF"/>
            </a:solidFill>
          </p:spPr>
          <p:txBody>
            <a:bodyPr wrap="square" lIns="0" tIns="0" rIns="0" bIns="0" rtlCol="0"/>
            <a:lstStyle/>
            <a:p/>
          </p:txBody>
        </p:sp>
      </p:grpSp>
      <p:sp>
        <p:nvSpPr>
          <p:cNvPr id="7" name="object 7" descr="$PPTXTitle"/>
          <p:cNvSpPr txBox="1">
            <a:spLocks noGrp="1"/>
          </p:cNvSpPr>
          <p:nvPr>
            <p:ph type="title"/>
          </p:nvPr>
        </p:nvSpPr>
        <p:spPr>
          <a:xfrm>
            <a:off x="552450" y="484822"/>
            <a:ext cx="6001385" cy="1369060"/>
          </a:xfrm>
          <a:prstGeom prst="rect"/>
        </p:spPr>
        <p:txBody>
          <a:bodyPr wrap="square" lIns="0" tIns="32384" rIns="0" bIns="0" rtlCol="0" vert="horz">
            <a:spAutoFit/>
          </a:bodyPr>
          <a:lstStyle/>
          <a:p>
            <a:pPr marL="12700" marR="5080">
              <a:lnSpc>
                <a:spcPts val="5260"/>
              </a:lnSpc>
              <a:spcBef>
                <a:spcPts val="254"/>
              </a:spcBef>
            </a:pPr>
            <a:r>
              <a:rPr dirty="0" sz="4400" b="1">
                <a:solidFill>
                  <a:srgbClr val="053793"/>
                </a:solidFill>
                <a:latin typeface="Calibri"/>
                <a:cs typeface="Calibri"/>
              </a:rPr>
              <a:t>IT</a:t>
            </a:r>
            <a:r>
              <a:rPr dirty="0" sz="4400" spc="-135" b="1">
                <a:solidFill>
                  <a:srgbClr val="053793"/>
                </a:solidFill>
                <a:latin typeface="Calibri"/>
                <a:cs typeface="Calibri"/>
              </a:rPr>
              <a:t> </a:t>
            </a:r>
            <a:r>
              <a:rPr dirty="0" sz="4400" b="1">
                <a:solidFill>
                  <a:srgbClr val="053793"/>
                </a:solidFill>
                <a:latin typeface="Calibri"/>
                <a:cs typeface="Calibri"/>
              </a:rPr>
              <a:t>SERVICES</a:t>
            </a:r>
            <a:r>
              <a:rPr dirty="0" sz="4400" spc="-110" b="1">
                <a:solidFill>
                  <a:srgbClr val="053793"/>
                </a:solidFill>
                <a:latin typeface="Calibri"/>
                <a:cs typeface="Calibri"/>
              </a:rPr>
              <a:t> </a:t>
            </a:r>
            <a:r>
              <a:rPr dirty="0" sz="4400" spc="-50" b="1">
                <a:solidFill>
                  <a:srgbClr val="053793"/>
                </a:solidFill>
                <a:latin typeface="Calibri"/>
                <a:cs typeface="Calibri"/>
              </a:rPr>
              <a:t>&amp; </a:t>
            </a:r>
            <a:r>
              <a:rPr dirty="0" sz="4400" spc="-20" b="1">
                <a:solidFill>
                  <a:srgbClr val="053793"/>
                </a:solidFill>
                <a:latin typeface="Calibri"/>
                <a:cs typeface="Calibri"/>
              </a:rPr>
              <a:t>TECHNOLOGY</a:t>
            </a:r>
            <a:r>
              <a:rPr dirty="0" sz="4400" spc="-200" b="1">
                <a:solidFill>
                  <a:srgbClr val="053793"/>
                </a:solidFill>
                <a:latin typeface="Calibri"/>
                <a:cs typeface="Calibri"/>
              </a:rPr>
              <a:t> </a:t>
            </a:r>
            <a:r>
              <a:rPr dirty="0" sz="4400" spc="-10" b="1">
                <a:solidFill>
                  <a:srgbClr val="053793"/>
                </a:solidFill>
                <a:latin typeface="Calibri"/>
                <a:cs typeface="Calibri"/>
              </a:rPr>
              <a:t>SOLUTIONS</a:t>
            </a:r>
            <a:endParaRPr sz="44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descr="/mnt/data/enhanced_slides/slide_03_enhanced.png"/>
            <p:cNvPicPr/>
            <p:nvPr/>
          </p:nvPicPr>
          <p:blipFill>
            <a:blip r:embed="rId2" cstate="print"/>
            <a:stretch>
              <a:fillRect/>
            </a:stretch>
          </p:blipFill>
          <p:spPr>
            <a:xfrm>
              <a:off x="0" y="0"/>
              <a:ext cx="12192000" cy="6857999"/>
            </a:xfrm>
            <a:prstGeom prst="rect">
              <a:avLst/>
            </a:prstGeom>
          </p:spPr>
        </p:pic>
        <p:sp>
          <p:nvSpPr>
            <p:cNvPr id="4" name="object 4"/>
            <p:cNvSpPr/>
            <p:nvPr/>
          </p:nvSpPr>
          <p:spPr>
            <a:xfrm>
              <a:off x="9972675" y="142875"/>
              <a:ext cx="2162175" cy="704850"/>
            </a:xfrm>
            <a:custGeom>
              <a:avLst/>
              <a:gdLst/>
              <a:ahLst/>
              <a:cxnLst/>
              <a:rect l="l" t="t" r="r" b="b"/>
              <a:pathLst>
                <a:path w="2162175" h="704850">
                  <a:moveTo>
                    <a:pt x="2044700" y="0"/>
                  </a:moveTo>
                  <a:lnTo>
                    <a:pt x="117475" y="0"/>
                  </a:lnTo>
                  <a:lnTo>
                    <a:pt x="71741" y="9229"/>
                  </a:lnTo>
                  <a:lnTo>
                    <a:pt x="34401" y="34401"/>
                  </a:lnTo>
                  <a:lnTo>
                    <a:pt x="9229" y="71741"/>
                  </a:lnTo>
                  <a:lnTo>
                    <a:pt x="0" y="117475"/>
                  </a:lnTo>
                  <a:lnTo>
                    <a:pt x="0" y="587375"/>
                  </a:lnTo>
                  <a:lnTo>
                    <a:pt x="9229" y="633108"/>
                  </a:lnTo>
                  <a:lnTo>
                    <a:pt x="34401" y="670448"/>
                  </a:lnTo>
                  <a:lnTo>
                    <a:pt x="71741" y="695620"/>
                  </a:lnTo>
                  <a:lnTo>
                    <a:pt x="117475" y="704850"/>
                  </a:lnTo>
                  <a:lnTo>
                    <a:pt x="2044700" y="704850"/>
                  </a:lnTo>
                  <a:lnTo>
                    <a:pt x="2090433" y="695620"/>
                  </a:lnTo>
                  <a:lnTo>
                    <a:pt x="2127773" y="670448"/>
                  </a:lnTo>
                  <a:lnTo>
                    <a:pt x="2152945" y="633108"/>
                  </a:lnTo>
                  <a:lnTo>
                    <a:pt x="2162175" y="587375"/>
                  </a:lnTo>
                  <a:lnTo>
                    <a:pt x="2162175" y="117475"/>
                  </a:lnTo>
                  <a:lnTo>
                    <a:pt x="2152945" y="71741"/>
                  </a:lnTo>
                  <a:lnTo>
                    <a:pt x="2127773" y="34401"/>
                  </a:lnTo>
                  <a:lnTo>
                    <a:pt x="2090433" y="9229"/>
                  </a:lnTo>
                  <a:lnTo>
                    <a:pt x="2044700" y="0"/>
                  </a:lnTo>
                  <a:close/>
                </a:path>
              </a:pathLst>
            </a:custGeom>
            <a:solidFill>
              <a:srgbClr val="FFFFFF"/>
            </a:solidFill>
          </p:spPr>
          <p:txBody>
            <a:bodyPr wrap="square" lIns="0" tIns="0" rIns="0" bIns="0" rtlCol="0"/>
            <a:lstStyle/>
            <a:p/>
          </p:txBody>
        </p:sp>
        <p:pic>
          <p:nvPicPr>
            <p:cNvPr id="5" name="object 5"/>
            <p:cNvPicPr/>
            <p:nvPr/>
          </p:nvPicPr>
          <p:blipFill>
            <a:blip r:embed="rId3" cstate="print"/>
            <a:stretch>
              <a:fillRect/>
            </a:stretch>
          </p:blipFill>
          <p:spPr>
            <a:xfrm>
              <a:off x="10134600" y="209550"/>
              <a:ext cx="1828800" cy="552450"/>
            </a:xfrm>
            <a:prstGeom prst="rect">
              <a:avLst/>
            </a:prstGeom>
          </p:spPr>
        </p:pic>
        <p:sp>
          <p:nvSpPr>
            <p:cNvPr id="6" name="object 6"/>
            <p:cNvSpPr/>
            <p:nvPr/>
          </p:nvSpPr>
          <p:spPr>
            <a:xfrm>
              <a:off x="266700" y="95250"/>
              <a:ext cx="5829300" cy="1343025"/>
            </a:xfrm>
            <a:custGeom>
              <a:avLst/>
              <a:gdLst/>
              <a:ahLst/>
              <a:cxnLst/>
              <a:rect l="l" t="t" r="r" b="b"/>
              <a:pathLst>
                <a:path w="5829300" h="1343025">
                  <a:moveTo>
                    <a:pt x="5605399" y="0"/>
                  </a:moveTo>
                  <a:lnTo>
                    <a:pt x="223837" y="0"/>
                  </a:lnTo>
                  <a:lnTo>
                    <a:pt x="178726" y="4547"/>
                  </a:lnTo>
                  <a:lnTo>
                    <a:pt x="136709" y="17589"/>
                  </a:lnTo>
                  <a:lnTo>
                    <a:pt x="98687" y="38227"/>
                  </a:lnTo>
                  <a:lnTo>
                    <a:pt x="65560" y="65563"/>
                  </a:lnTo>
                  <a:lnTo>
                    <a:pt x="38227" y="98697"/>
                  </a:lnTo>
                  <a:lnTo>
                    <a:pt x="17590" y="136731"/>
                  </a:lnTo>
                  <a:lnTo>
                    <a:pt x="4547" y="178765"/>
                  </a:lnTo>
                  <a:lnTo>
                    <a:pt x="0" y="223900"/>
                  </a:lnTo>
                  <a:lnTo>
                    <a:pt x="0" y="1119124"/>
                  </a:lnTo>
                  <a:lnTo>
                    <a:pt x="4547" y="1164259"/>
                  </a:lnTo>
                  <a:lnTo>
                    <a:pt x="17590" y="1206293"/>
                  </a:lnTo>
                  <a:lnTo>
                    <a:pt x="38227" y="1244327"/>
                  </a:lnTo>
                  <a:lnTo>
                    <a:pt x="65560" y="1277461"/>
                  </a:lnTo>
                  <a:lnTo>
                    <a:pt x="98687" y="1304797"/>
                  </a:lnTo>
                  <a:lnTo>
                    <a:pt x="136709" y="1325435"/>
                  </a:lnTo>
                  <a:lnTo>
                    <a:pt x="178726" y="1338477"/>
                  </a:lnTo>
                  <a:lnTo>
                    <a:pt x="223837" y="1343025"/>
                  </a:lnTo>
                  <a:lnTo>
                    <a:pt x="5605399" y="1343025"/>
                  </a:lnTo>
                  <a:lnTo>
                    <a:pt x="5650534" y="1338477"/>
                  </a:lnTo>
                  <a:lnTo>
                    <a:pt x="5692568" y="1325435"/>
                  </a:lnTo>
                  <a:lnTo>
                    <a:pt x="5730602" y="1304797"/>
                  </a:lnTo>
                  <a:lnTo>
                    <a:pt x="5763736" y="1277461"/>
                  </a:lnTo>
                  <a:lnTo>
                    <a:pt x="5791072" y="1244327"/>
                  </a:lnTo>
                  <a:lnTo>
                    <a:pt x="5811710" y="1206293"/>
                  </a:lnTo>
                  <a:lnTo>
                    <a:pt x="5824752" y="1164259"/>
                  </a:lnTo>
                  <a:lnTo>
                    <a:pt x="5829300" y="1119124"/>
                  </a:lnTo>
                  <a:lnTo>
                    <a:pt x="5829300" y="223900"/>
                  </a:lnTo>
                  <a:lnTo>
                    <a:pt x="5824752" y="178765"/>
                  </a:lnTo>
                  <a:lnTo>
                    <a:pt x="5811710" y="136731"/>
                  </a:lnTo>
                  <a:lnTo>
                    <a:pt x="5791072" y="98697"/>
                  </a:lnTo>
                  <a:lnTo>
                    <a:pt x="5763736" y="65563"/>
                  </a:lnTo>
                  <a:lnTo>
                    <a:pt x="5730602" y="38227"/>
                  </a:lnTo>
                  <a:lnTo>
                    <a:pt x="5692568" y="17589"/>
                  </a:lnTo>
                  <a:lnTo>
                    <a:pt x="5650534" y="4547"/>
                  </a:lnTo>
                  <a:lnTo>
                    <a:pt x="5605399" y="0"/>
                  </a:lnTo>
                  <a:close/>
                </a:path>
              </a:pathLst>
            </a:custGeom>
            <a:solidFill>
              <a:srgbClr val="FFFFFF"/>
            </a:solidFill>
          </p:spPr>
          <p:txBody>
            <a:bodyPr wrap="square" lIns="0" tIns="0" rIns="0" bIns="0" rtlCol="0"/>
            <a:lstStyle/>
            <a:p/>
          </p:txBody>
        </p:sp>
      </p:grpSp>
      <p:sp>
        <p:nvSpPr>
          <p:cNvPr id="7" name="object 7" descr="$PPTXTitle"/>
          <p:cNvSpPr txBox="1">
            <a:spLocks noGrp="1"/>
          </p:cNvSpPr>
          <p:nvPr>
            <p:ph type="title"/>
          </p:nvPr>
        </p:nvSpPr>
        <p:spPr>
          <a:prstGeom prst="rect"/>
        </p:spPr>
        <p:txBody>
          <a:bodyPr wrap="square" lIns="0" tIns="789083" rIns="0" bIns="0" rtlCol="0" vert="horz">
            <a:spAutoFit/>
          </a:bodyPr>
          <a:lstStyle/>
          <a:p>
            <a:pPr marL="20320">
              <a:lnSpc>
                <a:spcPct val="100000"/>
              </a:lnSpc>
              <a:spcBef>
                <a:spcPts val="130"/>
              </a:spcBef>
            </a:pPr>
            <a:r>
              <a:rPr dirty="0" sz="3950" b="1">
                <a:solidFill>
                  <a:srgbClr val="053793"/>
                </a:solidFill>
                <a:latin typeface="Calibri"/>
                <a:cs typeface="Calibri"/>
              </a:rPr>
              <a:t>OUR</a:t>
            </a:r>
            <a:r>
              <a:rPr dirty="0" sz="3950" spc="-30" b="1">
                <a:solidFill>
                  <a:srgbClr val="053793"/>
                </a:solidFill>
                <a:latin typeface="Calibri"/>
                <a:cs typeface="Calibri"/>
              </a:rPr>
              <a:t> </a:t>
            </a:r>
            <a:r>
              <a:rPr dirty="0" sz="3950" b="1">
                <a:solidFill>
                  <a:srgbClr val="053793"/>
                </a:solidFill>
                <a:latin typeface="Calibri"/>
                <a:cs typeface="Calibri"/>
              </a:rPr>
              <a:t>TECHNOLOGY</a:t>
            </a:r>
            <a:r>
              <a:rPr dirty="0" sz="3950" spc="-10" b="1">
                <a:solidFill>
                  <a:srgbClr val="053793"/>
                </a:solidFill>
                <a:latin typeface="Calibri"/>
                <a:cs typeface="Calibri"/>
              </a:rPr>
              <a:t> STACK</a:t>
            </a:r>
            <a:endParaRPr sz="395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descr="/mnt/data/enhanced_slides/slide_04_enhanced.png"/>
            <p:cNvPicPr/>
            <p:nvPr/>
          </p:nvPicPr>
          <p:blipFill>
            <a:blip r:embed="rId2" cstate="print"/>
            <a:stretch>
              <a:fillRect/>
            </a:stretch>
          </p:blipFill>
          <p:spPr>
            <a:xfrm>
              <a:off x="0" y="0"/>
              <a:ext cx="12192000" cy="6857999"/>
            </a:xfrm>
            <a:prstGeom prst="rect">
              <a:avLst/>
            </a:prstGeom>
          </p:spPr>
        </p:pic>
        <p:sp>
          <p:nvSpPr>
            <p:cNvPr id="4" name="object 4"/>
            <p:cNvSpPr/>
            <p:nvPr/>
          </p:nvSpPr>
          <p:spPr>
            <a:xfrm>
              <a:off x="9467850" y="161925"/>
              <a:ext cx="2533650" cy="704850"/>
            </a:xfrm>
            <a:custGeom>
              <a:avLst/>
              <a:gdLst/>
              <a:ahLst/>
              <a:cxnLst/>
              <a:rect l="l" t="t" r="r" b="b"/>
              <a:pathLst>
                <a:path w="2533650" h="704850">
                  <a:moveTo>
                    <a:pt x="2416175" y="0"/>
                  </a:moveTo>
                  <a:lnTo>
                    <a:pt x="117475" y="0"/>
                  </a:lnTo>
                  <a:lnTo>
                    <a:pt x="71741" y="9229"/>
                  </a:lnTo>
                  <a:lnTo>
                    <a:pt x="34401" y="34401"/>
                  </a:lnTo>
                  <a:lnTo>
                    <a:pt x="9229" y="71741"/>
                  </a:lnTo>
                  <a:lnTo>
                    <a:pt x="0" y="117475"/>
                  </a:lnTo>
                  <a:lnTo>
                    <a:pt x="0" y="587375"/>
                  </a:lnTo>
                  <a:lnTo>
                    <a:pt x="9229" y="633108"/>
                  </a:lnTo>
                  <a:lnTo>
                    <a:pt x="34401" y="670448"/>
                  </a:lnTo>
                  <a:lnTo>
                    <a:pt x="71741" y="695620"/>
                  </a:lnTo>
                  <a:lnTo>
                    <a:pt x="117475" y="704850"/>
                  </a:lnTo>
                  <a:lnTo>
                    <a:pt x="2416175" y="704850"/>
                  </a:lnTo>
                  <a:lnTo>
                    <a:pt x="2461908" y="695620"/>
                  </a:lnTo>
                  <a:lnTo>
                    <a:pt x="2499248" y="670448"/>
                  </a:lnTo>
                  <a:lnTo>
                    <a:pt x="2524420" y="633108"/>
                  </a:lnTo>
                  <a:lnTo>
                    <a:pt x="2533650" y="587375"/>
                  </a:lnTo>
                  <a:lnTo>
                    <a:pt x="2533650" y="117475"/>
                  </a:lnTo>
                  <a:lnTo>
                    <a:pt x="2524420" y="71741"/>
                  </a:lnTo>
                  <a:lnTo>
                    <a:pt x="2499248" y="34401"/>
                  </a:lnTo>
                  <a:lnTo>
                    <a:pt x="2461908" y="9229"/>
                  </a:lnTo>
                  <a:lnTo>
                    <a:pt x="2416175" y="0"/>
                  </a:lnTo>
                  <a:close/>
                </a:path>
              </a:pathLst>
            </a:custGeom>
            <a:solidFill>
              <a:srgbClr val="FFFFFF"/>
            </a:solidFill>
          </p:spPr>
          <p:txBody>
            <a:bodyPr wrap="square" lIns="0" tIns="0" rIns="0" bIns="0" rtlCol="0"/>
            <a:lstStyle/>
            <a:p/>
          </p:txBody>
        </p:sp>
        <p:pic>
          <p:nvPicPr>
            <p:cNvPr id="5" name="object 5"/>
            <p:cNvPicPr/>
            <p:nvPr/>
          </p:nvPicPr>
          <p:blipFill>
            <a:blip r:embed="rId3" cstate="print"/>
            <a:stretch>
              <a:fillRect/>
            </a:stretch>
          </p:blipFill>
          <p:spPr>
            <a:xfrm>
              <a:off x="10134600" y="209550"/>
              <a:ext cx="1828800" cy="552450"/>
            </a:xfrm>
            <a:prstGeom prst="rect">
              <a:avLst/>
            </a:prstGeom>
          </p:spPr>
        </p:pic>
        <p:sp>
          <p:nvSpPr>
            <p:cNvPr id="6" name="object 6"/>
            <p:cNvSpPr/>
            <p:nvPr/>
          </p:nvSpPr>
          <p:spPr>
            <a:xfrm>
              <a:off x="200025" y="209550"/>
              <a:ext cx="3362325" cy="1009650"/>
            </a:xfrm>
            <a:custGeom>
              <a:avLst/>
              <a:gdLst/>
              <a:ahLst/>
              <a:cxnLst/>
              <a:rect l="l" t="t" r="r" b="b"/>
              <a:pathLst>
                <a:path w="3362325" h="1009650">
                  <a:moveTo>
                    <a:pt x="3194050" y="0"/>
                  </a:moveTo>
                  <a:lnTo>
                    <a:pt x="168275" y="0"/>
                  </a:lnTo>
                  <a:lnTo>
                    <a:pt x="123539" y="6008"/>
                  </a:lnTo>
                  <a:lnTo>
                    <a:pt x="83342" y="22968"/>
                  </a:lnTo>
                  <a:lnTo>
                    <a:pt x="49285" y="49275"/>
                  </a:lnTo>
                  <a:lnTo>
                    <a:pt x="22973" y="83330"/>
                  </a:lnTo>
                  <a:lnTo>
                    <a:pt x="6010" y="123531"/>
                  </a:lnTo>
                  <a:lnTo>
                    <a:pt x="0" y="168275"/>
                  </a:lnTo>
                  <a:lnTo>
                    <a:pt x="0" y="841375"/>
                  </a:lnTo>
                  <a:lnTo>
                    <a:pt x="6010" y="886118"/>
                  </a:lnTo>
                  <a:lnTo>
                    <a:pt x="22973" y="926319"/>
                  </a:lnTo>
                  <a:lnTo>
                    <a:pt x="49285" y="960374"/>
                  </a:lnTo>
                  <a:lnTo>
                    <a:pt x="83342" y="986681"/>
                  </a:lnTo>
                  <a:lnTo>
                    <a:pt x="123539" y="1003641"/>
                  </a:lnTo>
                  <a:lnTo>
                    <a:pt x="168275" y="1009650"/>
                  </a:lnTo>
                  <a:lnTo>
                    <a:pt x="3194050" y="1009650"/>
                  </a:lnTo>
                  <a:lnTo>
                    <a:pt x="3238793" y="1003641"/>
                  </a:lnTo>
                  <a:lnTo>
                    <a:pt x="3278994" y="986681"/>
                  </a:lnTo>
                  <a:lnTo>
                    <a:pt x="3313049" y="960374"/>
                  </a:lnTo>
                  <a:lnTo>
                    <a:pt x="3339356" y="926319"/>
                  </a:lnTo>
                  <a:lnTo>
                    <a:pt x="3356316" y="886118"/>
                  </a:lnTo>
                  <a:lnTo>
                    <a:pt x="3362325" y="841375"/>
                  </a:lnTo>
                  <a:lnTo>
                    <a:pt x="3362325" y="168275"/>
                  </a:lnTo>
                  <a:lnTo>
                    <a:pt x="3356316" y="123531"/>
                  </a:lnTo>
                  <a:lnTo>
                    <a:pt x="3339356" y="83330"/>
                  </a:lnTo>
                  <a:lnTo>
                    <a:pt x="3313049" y="49275"/>
                  </a:lnTo>
                  <a:lnTo>
                    <a:pt x="3278994" y="22968"/>
                  </a:lnTo>
                  <a:lnTo>
                    <a:pt x="3238793" y="6008"/>
                  </a:lnTo>
                  <a:lnTo>
                    <a:pt x="3194050" y="0"/>
                  </a:lnTo>
                  <a:close/>
                </a:path>
              </a:pathLst>
            </a:custGeom>
            <a:solidFill>
              <a:srgbClr val="FFFFFF"/>
            </a:solidFill>
          </p:spPr>
          <p:txBody>
            <a:bodyPr wrap="square" lIns="0" tIns="0" rIns="0" bIns="0" rtlCol="0"/>
            <a:lstStyle/>
            <a:p/>
          </p:txBody>
        </p:sp>
      </p:grpSp>
      <p:sp>
        <p:nvSpPr>
          <p:cNvPr id="7" name="object 7" descr="$PPTXTitle"/>
          <p:cNvSpPr txBox="1">
            <a:spLocks noGrp="1"/>
          </p:cNvSpPr>
          <p:nvPr>
            <p:ph type="title"/>
          </p:nvPr>
        </p:nvSpPr>
        <p:spPr>
          <a:xfrm>
            <a:off x="286702" y="113030"/>
            <a:ext cx="3206750" cy="1128395"/>
          </a:xfrm>
          <a:prstGeom prst="rect"/>
        </p:spPr>
        <p:txBody>
          <a:bodyPr wrap="square" lIns="0" tIns="8255" rIns="0" bIns="0" rtlCol="0" vert="horz">
            <a:spAutoFit/>
          </a:bodyPr>
          <a:lstStyle/>
          <a:p>
            <a:pPr marL="12700" marR="5080">
              <a:lnSpc>
                <a:spcPct val="100899"/>
              </a:lnSpc>
              <a:spcBef>
                <a:spcPts val="65"/>
              </a:spcBef>
            </a:pPr>
            <a:r>
              <a:rPr dirty="0" sz="3600" b="1">
                <a:solidFill>
                  <a:srgbClr val="053793"/>
                </a:solidFill>
                <a:latin typeface="Calibri"/>
                <a:cs typeface="Calibri"/>
              </a:rPr>
              <a:t>OUR IT</a:t>
            </a:r>
            <a:r>
              <a:rPr dirty="0" sz="3600" spc="-50" b="1">
                <a:solidFill>
                  <a:srgbClr val="053793"/>
                </a:solidFill>
                <a:latin typeface="Calibri"/>
                <a:cs typeface="Calibri"/>
              </a:rPr>
              <a:t> </a:t>
            </a:r>
            <a:r>
              <a:rPr dirty="0" sz="3600" spc="-10" b="1">
                <a:solidFill>
                  <a:srgbClr val="053793"/>
                </a:solidFill>
                <a:latin typeface="Calibri"/>
                <a:cs typeface="Calibri"/>
              </a:rPr>
              <a:t>SERVICES ECOSYSTEM</a:t>
            </a:r>
            <a:endParaRPr sz="36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descr="/mnt/data/enhanced_slides/slide_05_enhanced.png"/>
            <p:cNvPicPr/>
            <p:nvPr/>
          </p:nvPicPr>
          <p:blipFill>
            <a:blip r:embed="rId2" cstate="print"/>
            <a:stretch>
              <a:fillRect/>
            </a:stretch>
          </p:blipFill>
          <p:spPr>
            <a:xfrm>
              <a:off x="0" y="0"/>
              <a:ext cx="12192000" cy="6857999"/>
            </a:xfrm>
            <a:prstGeom prst="rect">
              <a:avLst/>
            </a:prstGeom>
          </p:spPr>
        </p:pic>
        <p:sp>
          <p:nvSpPr>
            <p:cNvPr id="4" name="object 4"/>
            <p:cNvSpPr/>
            <p:nvPr/>
          </p:nvSpPr>
          <p:spPr>
            <a:xfrm>
              <a:off x="9467850" y="161925"/>
              <a:ext cx="2533650" cy="704850"/>
            </a:xfrm>
            <a:custGeom>
              <a:avLst/>
              <a:gdLst/>
              <a:ahLst/>
              <a:cxnLst/>
              <a:rect l="l" t="t" r="r" b="b"/>
              <a:pathLst>
                <a:path w="2533650" h="704850">
                  <a:moveTo>
                    <a:pt x="2416175" y="0"/>
                  </a:moveTo>
                  <a:lnTo>
                    <a:pt x="117475" y="0"/>
                  </a:lnTo>
                  <a:lnTo>
                    <a:pt x="71741" y="9229"/>
                  </a:lnTo>
                  <a:lnTo>
                    <a:pt x="34401" y="34401"/>
                  </a:lnTo>
                  <a:lnTo>
                    <a:pt x="9229" y="71741"/>
                  </a:lnTo>
                  <a:lnTo>
                    <a:pt x="0" y="117475"/>
                  </a:lnTo>
                  <a:lnTo>
                    <a:pt x="0" y="587375"/>
                  </a:lnTo>
                  <a:lnTo>
                    <a:pt x="9229" y="633108"/>
                  </a:lnTo>
                  <a:lnTo>
                    <a:pt x="34401" y="670448"/>
                  </a:lnTo>
                  <a:lnTo>
                    <a:pt x="71741" y="695620"/>
                  </a:lnTo>
                  <a:lnTo>
                    <a:pt x="117475" y="704850"/>
                  </a:lnTo>
                  <a:lnTo>
                    <a:pt x="2416175" y="704850"/>
                  </a:lnTo>
                  <a:lnTo>
                    <a:pt x="2461908" y="695620"/>
                  </a:lnTo>
                  <a:lnTo>
                    <a:pt x="2499248" y="670448"/>
                  </a:lnTo>
                  <a:lnTo>
                    <a:pt x="2524420" y="633108"/>
                  </a:lnTo>
                  <a:lnTo>
                    <a:pt x="2533650" y="587375"/>
                  </a:lnTo>
                  <a:lnTo>
                    <a:pt x="2533650" y="117475"/>
                  </a:lnTo>
                  <a:lnTo>
                    <a:pt x="2524420" y="71741"/>
                  </a:lnTo>
                  <a:lnTo>
                    <a:pt x="2499248" y="34401"/>
                  </a:lnTo>
                  <a:lnTo>
                    <a:pt x="2461908" y="9229"/>
                  </a:lnTo>
                  <a:lnTo>
                    <a:pt x="2416175" y="0"/>
                  </a:lnTo>
                  <a:close/>
                </a:path>
              </a:pathLst>
            </a:custGeom>
            <a:solidFill>
              <a:srgbClr val="FFFFFF"/>
            </a:solidFill>
          </p:spPr>
          <p:txBody>
            <a:bodyPr wrap="square" lIns="0" tIns="0" rIns="0" bIns="0" rtlCol="0"/>
            <a:lstStyle/>
            <a:p/>
          </p:txBody>
        </p:sp>
        <p:pic>
          <p:nvPicPr>
            <p:cNvPr id="5" name="object 5"/>
            <p:cNvPicPr/>
            <p:nvPr/>
          </p:nvPicPr>
          <p:blipFill>
            <a:blip r:embed="rId3" cstate="print"/>
            <a:stretch>
              <a:fillRect/>
            </a:stretch>
          </p:blipFill>
          <p:spPr>
            <a:xfrm>
              <a:off x="10134600" y="209550"/>
              <a:ext cx="1828800" cy="552450"/>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descr="/mnt/data/enhanced_slides/slide_06_enhanced.png"/>
            <p:cNvPicPr/>
            <p:nvPr/>
          </p:nvPicPr>
          <p:blipFill>
            <a:blip r:embed="rId2" cstate="print"/>
            <a:stretch>
              <a:fillRect/>
            </a:stretch>
          </p:blipFill>
          <p:spPr>
            <a:xfrm>
              <a:off x="0" y="0"/>
              <a:ext cx="12192000" cy="6857999"/>
            </a:xfrm>
            <a:prstGeom prst="rect">
              <a:avLst/>
            </a:prstGeom>
          </p:spPr>
        </p:pic>
        <p:sp>
          <p:nvSpPr>
            <p:cNvPr id="4" name="object 4"/>
            <p:cNvSpPr/>
            <p:nvPr/>
          </p:nvSpPr>
          <p:spPr>
            <a:xfrm>
              <a:off x="9467850" y="161925"/>
              <a:ext cx="2533650" cy="704850"/>
            </a:xfrm>
            <a:custGeom>
              <a:avLst/>
              <a:gdLst/>
              <a:ahLst/>
              <a:cxnLst/>
              <a:rect l="l" t="t" r="r" b="b"/>
              <a:pathLst>
                <a:path w="2533650" h="704850">
                  <a:moveTo>
                    <a:pt x="2416175" y="0"/>
                  </a:moveTo>
                  <a:lnTo>
                    <a:pt x="117475" y="0"/>
                  </a:lnTo>
                  <a:lnTo>
                    <a:pt x="71741" y="9229"/>
                  </a:lnTo>
                  <a:lnTo>
                    <a:pt x="34401" y="34401"/>
                  </a:lnTo>
                  <a:lnTo>
                    <a:pt x="9229" y="71741"/>
                  </a:lnTo>
                  <a:lnTo>
                    <a:pt x="0" y="117475"/>
                  </a:lnTo>
                  <a:lnTo>
                    <a:pt x="0" y="587375"/>
                  </a:lnTo>
                  <a:lnTo>
                    <a:pt x="9229" y="633108"/>
                  </a:lnTo>
                  <a:lnTo>
                    <a:pt x="34401" y="670448"/>
                  </a:lnTo>
                  <a:lnTo>
                    <a:pt x="71741" y="695620"/>
                  </a:lnTo>
                  <a:lnTo>
                    <a:pt x="117475" y="704850"/>
                  </a:lnTo>
                  <a:lnTo>
                    <a:pt x="2416175" y="704850"/>
                  </a:lnTo>
                  <a:lnTo>
                    <a:pt x="2461908" y="695620"/>
                  </a:lnTo>
                  <a:lnTo>
                    <a:pt x="2499248" y="670448"/>
                  </a:lnTo>
                  <a:lnTo>
                    <a:pt x="2524420" y="633108"/>
                  </a:lnTo>
                  <a:lnTo>
                    <a:pt x="2533650" y="587375"/>
                  </a:lnTo>
                  <a:lnTo>
                    <a:pt x="2533650" y="117475"/>
                  </a:lnTo>
                  <a:lnTo>
                    <a:pt x="2524420" y="71741"/>
                  </a:lnTo>
                  <a:lnTo>
                    <a:pt x="2499248" y="34401"/>
                  </a:lnTo>
                  <a:lnTo>
                    <a:pt x="2461908" y="9229"/>
                  </a:lnTo>
                  <a:lnTo>
                    <a:pt x="2416175" y="0"/>
                  </a:lnTo>
                  <a:close/>
                </a:path>
              </a:pathLst>
            </a:custGeom>
            <a:solidFill>
              <a:srgbClr val="FFFFFF"/>
            </a:solidFill>
          </p:spPr>
          <p:txBody>
            <a:bodyPr wrap="square" lIns="0" tIns="0" rIns="0" bIns="0" rtlCol="0"/>
            <a:lstStyle/>
            <a:p/>
          </p:txBody>
        </p:sp>
        <p:pic>
          <p:nvPicPr>
            <p:cNvPr id="5" name="object 5"/>
            <p:cNvPicPr/>
            <p:nvPr/>
          </p:nvPicPr>
          <p:blipFill>
            <a:blip r:embed="rId3" cstate="print"/>
            <a:stretch>
              <a:fillRect/>
            </a:stretch>
          </p:blipFill>
          <p:spPr>
            <a:xfrm>
              <a:off x="10134600" y="209550"/>
              <a:ext cx="1828800" cy="552450"/>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descr="/mnt/data/enhanced_slides/slide_07_enhanced.png"/>
            <p:cNvPicPr/>
            <p:nvPr/>
          </p:nvPicPr>
          <p:blipFill>
            <a:blip r:embed="rId2" cstate="print"/>
            <a:stretch>
              <a:fillRect/>
            </a:stretch>
          </p:blipFill>
          <p:spPr>
            <a:xfrm>
              <a:off x="0" y="0"/>
              <a:ext cx="12192000" cy="6857999"/>
            </a:xfrm>
            <a:prstGeom prst="rect">
              <a:avLst/>
            </a:prstGeom>
          </p:spPr>
        </p:pic>
        <p:sp>
          <p:nvSpPr>
            <p:cNvPr id="4" name="object 4"/>
            <p:cNvSpPr/>
            <p:nvPr/>
          </p:nvSpPr>
          <p:spPr>
            <a:xfrm>
              <a:off x="9467850" y="161925"/>
              <a:ext cx="2533650" cy="704850"/>
            </a:xfrm>
            <a:custGeom>
              <a:avLst/>
              <a:gdLst/>
              <a:ahLst/>
              <a:cxnLst/>
              <a:rect l="l" t="t" r="r" b="b"/>
              <a:pathLst>
                <a:path w="2533650" h="704850">
                  <a:moveTo>
                    <a:pt x="2416175" y="0"/>
                  </a:moveTo>
                  <a:lnTo>
                    <a:pt x="117475" y="0"/>
                  </a:lnTo>
                  <a:lnTo>
                    <a:pt x="71741" y="9229"/>
                  </a:lnTo>
                  <a:lnTo>
                    <a:pt x="34401" y="34401"/>
                  </a:lnTo>
                  <a:lnTo>
                    <a:pt x="9229" y="71741"/>
                  </a:lnTo>
                  <a:lnTo>
                    <a:pt x="0" y="117475"/>
                  </a:lnTo>
                  <a:lnTo>
                    <a:pt x="0" y="587375"/>
                  </a:lnTo>
                  <a:lnTo>
                    <a:pt x="9229" y="633108"/>
                  </a:lnTo>
                  <a:lnTo>
                    <a:pt x="34401" y="670448"/>
                  </a:lnTo>
                  <a:lnTo>
                    <a:pt x="71741" y="695620"/>
                  </a:lnTo>
                  <a:lnTo>
                    <a:pt x="117475" y="704850"/>
                  </a:lnTo>
                  <a:lnTo>
                    <a:pt x="2416175" y="704850"/>
                  </a:lnTo>
                  <a:lnTo>
                    <a:pt x="2461908" y="695620"/>
                  </a:lnTo>
                  <a:lnTo>
                    <a:pt x="2499248" y="670448"/>
                  </a:lnTo>
                  <a:lnTo>
                    <a:pt x="2524420" y="633108"/>
                  </a:lnTo>
                  <a:lnTo>
                    <a:pt x="2533650" y="587375"/>
                  </a:lnTo>
                  <a:lnTo>
                    <a:pt x="2533650" y="117475"/>
                  </a:lnTo>
                  <a:lnTo>
                    <a:pt x="2524420" y="71741"/>
                  </a:lnTo>
                  <a:lnTo>
                    <a:pt x="2499248" y="34401"/>
                  </a:lnTo>
                  <a:lnTo>
                    <a:pt x="2461908" y="9229"/>
                  </a:lnTo>
                  <a:lnTo>
                    <a:pt x="2416175" y="0"/>
                  </a:lnTo>
                  <a:close/>
                </a:path>
              </a:pathLst>
            </a:custGeom>
            <a:solidFill>
              <a:srgbClr val="FFFFFF"/>
            </a:solidFill>
          </p:spPr>
          <p:txBody>
            <a:bodyPr wrap="square" lIns="0" tIns="0" rIns="0" bIns="0" rtlCol="0"/>
            <a:lstStyle/>
            <a:p/>
          </p:txBody>
        </p:sp>
        <p:pic>
          <p:nvPicPr>
            <p:cNvPr id="5" name="object 5"/>
            <p:cNvPicPr/>
            <p:nvPr/>
          </p:nvPicPr>
          <p:blipFill>
            <a:blip r:embed="rId3" cstate="print"/>
            <a:stretch>
              <a:fillRect/>
            </a:stretch>
          </p:blipFill>
          <p:spPr>
            <a:xfrm>
              <a:off x="10134600" y="209550"/>
              <a:ext cx="1828800" cy="552450"/>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object 24" descr="$PPTXTitle"/>
          <p:cNvSpPr txBox="1">
            <a:spLocks noGrp="1"/>
          </p:cNvSpPr>
          <p:nvPr>
            <p:ph type="title"/>
          </p:nvPr>
        </p:nvSpPr>
        <p:spPr>
          <a:prstGeom prst="rect"/>
        </p:spPr>
        <p:txBody>
          <a:bodyPr wrap="square" lIns="0" tIns="318135" rIns="0" bIns="0" rtlCol="0" vert="horz">
            <a:spAutoFit/>
          </a:bodyPr>
          <a:lstStyle/>
          <a:p>
            <a:pPr marL="12700">
              <a:lnSpc>
                <a:spcPct val="100000"/>
              </a:lnSpc>
              <a:spcBef>
                <a:spcPts val="2505"/>
              </a:spcBef>
              <a:tabLst>
                <a:tab pos="2515235" algn="l"/>
              </a:tabLst>
            </a:pPr>
            <a:r>
              <a:rPr dirty="0" spc="-1080">
                <a:solidFill>
                  <a:srgbClr val="001634"/>
                </a:solidFill>
              </a:rPr>
              <a:t>TruMed</a:t>
            </a:r>
            <a:r>
              <a:rPr dirty="0">
                <a:solidFill>
                  <a:srgbClr val="001634"/>
                </a:solidFill>
              </a:rPr>
              <a:t>	</a:t>
            </a:r>
            <a:r>
              <a:rPr dirty="0" spc="-910"/>
              <a:t>Leading</a:t>
            </a:r>
            <a:r>
              <a:rPr dirty="0" spc="-434"/>
              <a:t> </a:t>
            </a:r>
            <a:r>
              <a:rPr dirty="0" spc="-625">
                <a:solidFill>
                  <a:srgbClr val="0A3BD6"/>
                </a:solidFill>
              </a:rPr>
              <a:t>C\ienH</a:t>
            </a:r>
          </a:p>
          <a:p>
            <a:pPr marL="38100">
              <a:lnSpc>
                <a:spcPct val="100000"/>
              </a:lnSpc>
              <a:spcBef>
                <a:spcPts val="819"/>
              </a:spcBef>
            </a:pPr>
            <a:r>
              <a:rPr dirty="0" sz="1600">
                <a:solidFill>
                  <a:srgbClr val="545454"/>
                </a:solidFill>
                <a:latin typeface="Arial MT"/>
                <a:cs typeface="Arial MT"/>
              </a:rPr>
              <a:t>Delivering</a:t>
            </a:r>
            <a:r>
              <a:rPr dirty="0" sz="1600" spc="250">
                <a:solidFill>
                  <a:srgbClr val="545454"/>
                </a:solidFill>
                <a:latin typeface="Arial MT"/>
                <a:cs typeface="Arial MT"/>
              </a:rPr>
              <a:t> </a:t>
            </a:r>
            <a:r>
              <a:rPr dirty="0" sz="1600">
                <a:solidFill>
                  <a:srgbClr val="444444"/>
                </a:solidFill>
                <a:latin typeface="Arial MT"/>
                <a:cs typeface="Arial MT"/>
              </a:rPr>
              <a:t>technology</a:t>
            </a:r>
            <a:r>
              <a:rPr dirty="0" sz="1600" spc="305">
                <a:solidFill>
                  <a:srgbClr val="444444"/>
                </a:solidFill>
                <a:latin typeface="Arial MT"/>
                <a:cs typeface="Arial MT"/>
              </a:rPr>
              <a:t> </a:t>
            </a:r>
            <a:r>
              <a:rPr dirty="0" sz="1600">
                <a:solidFill>
                  <a:srgbClr val="484848"/>
                </a:solidFill>
                <a:latin typeface="Arial MT"/>
                <a:cs typeface="Arial MT"/>
              </a:rPr>
              <a:t>solutions</a:t>
            </a:r>
            <a:r>
              <a:rPr dirty="0" sz="1600" spc="245">
                <a:solidFill>
                  <a:srgbClr val="484848"/>
                </a:solidFill>
                <a:latin typeface="Arial MT"/>
                <a:cs typeface="Arial MT"/>
              </a:rPr>
              <a:t> </a:t>
            </a:r>
            <a:r>
              <a:rPr dirty="0" sz="1600">
                <a:solidFill>
                  <a:srgbClr val="52596B"/>
                </a:solidFill>
                <a:latin typeface="Arial MT"/>
                <a:cs typeface="Arial MT"/>
              </a:rPr>
              <a:t>to</a:t>
            </a:r>
            <a:r>
              <a:rPr dirty="0" sz="1600" spc="210">
                <a:solidFill>
                  <a:srgbClr val="52596B"/>
                </a:solidFill>
                <a:latin typeface="Arial MT"/>
                <a:cs typeface="Arial MT"/>
              </a:rPr>
              <a:t> </a:t>
            </a:r>
            <a:r>
              <a:rPr dirty="0" sz="1600">
                <a:solidFill>
                  <a:srgbClr val="444444"/>
                </a:solidFill>
                <a:latin typeface="Arial MT"/>
                <a:cs typeface="Arial MT"/>
              </a:rPr>
              <a:t>global</a:t>
            </a:r>
            <a:r>
              <a:rPr dirty="0" sz="1600" spc="145">
                <a:solidFill>
                  <a:srgbClr val="444444"/>
                </a:solidFill>
                <a:latin typeface="Arial MT"/>
                <a:cs typeface="Arial MT"/>
              </a:rPr>
              <a:t> </a:t>
            </a:r>
            <a:r>
              <a:rPr dirty="0" sz="1600">
                <a:solidFill>
                  <a:srgbClr val="5B5B5B"/>
                </a:solidFill>
                <a:latin typeface="Arial MT"/>
                <a:cs typeface="Arial MT"/>
              </a:rPr>
              <a:t>brands</a:t>
            </a:r>
            <a:r>
              <a:rPr dirty="0" sz="1600" spc="200">
                <a:solidFill>
                  <a:srgbClr val="5B5B5B"/>
                </a:solidFill>
                <a:latin typeface="Arial MT"/>
                <a:cs typeface="Arial MT"/>
              </a:rPr>
              <a:t> </a:t>
            </a:r>
            <a:r>
              <a:rPr dirty="0" sz="1600">
                <a:solidFill>
                  <a:srgbClr val="4D4D4D"/>
                </a:solidFill>
                <a:latin typeface="Arial MT"/>
                <a:cs typeface="Arial MT"/>
              </a:rPr>
              <a:t>across</a:t>
            </a:r>
            <a:r>
              <a:rPr dirty="0" sz="1600" spc="275">
                <a:solidFill>
                  <a:srgbClr val="4D4D4D"/>
                </a:solidFill>
                <a:latin typeface="Arial MT"/>
                <a:cs typeface="Arial MT"/>
              </a:rPr>
              <a:t> </a:t>
            </a:r>
            <a:r>
              <a:rPr dirty="0" sz="1600" spc="-10">
                <a:solidFill>
                  <a:srgbClr val="4B4B4B"/>
                </a:solidFill>
                <a:latin typeface="Arial MT"/>
                <a:cs typeface="Arial MT"/>
              </a:rPr>
              <a:t>industries</a:t>
            </a:r>
            <a:endParaRPr sz="1600">
              <a:latin typeface="Arial MT"/>
              <a:cs typeface="Arial MT"/>
            </a:endParaRPr>
          </a:p>
        </p:txBody>
      </p:sp>
      <p:pic>
        <p:nvPicPr>
          <p:cNvPr id="16" name="object 16"/>
          <p:cNvPicPr/>
          <p:nvPr/>
        </p:nvPicPr>
        <p:blipFill>
          <a:blip r:embed="rId13" cstate="print"/>
          <a:stretch>
            <a:fillRect/>
          </a:stretch>
        </p:blipFill>
        <p:spPr>
          <a:xfrm>
            <a:off x="10171176" y="237743"/>
            <a:ext cx="1758696" cy="481583"/>
          </a:xfrm>
          <a:prstGeom prst="rect">
            <a:avLst/>
          </a:prstGeom>
        </p:spPr>
      </p:pic>
      <p:sp>
        <p:nvSpPr>
          <p:cNvPr id="26" name="object 26"/>
          <p:cNvSpPr txBox="1"/>
          <p:nvPr/>
        </p:nvSpPr>
        <p:spPr>
          <a:xfrm>
            <a:off x="4496161" y="1606803"/>
            <a:ext cx="372110" cy="360680"/>
          </a:xfrm>
          <a:prstGeom prst="rect">
            <a:avLst/>
          </a:prstGeom>
        </p:spPr>
        <p:txBody>
          <a:bodyPr wrap="square" lIns="0" tIns="12700" rIns="0" bIns="0" rtlCol="0" vert="horz">
            <a:spAutoFit/>
          </a:bodyPr>
          <a:lstStyle/>
          <a:p>
            <a:pPr marL="12700">
              <a:lnSpc>
                <a:spcPct val="100000"/>
              </a:lnSpc>
              <a:spcBef>
                <a:spcPts val="100"/>
              </a:spcBef>
            </a:pPr>
            <a:r>
              <a:rPr dirty="0" sz="2200" spc="-85">
                <a:solidFill>
                  <a:srgbClr val="5E5E5E"/>
                </a:solidFill>
                <a:latin typeface="Arial MT"/>
                <a:cs typeface="Arial MT"/>
              </a:rPr>
              <a:t>LG</a:t>
            </a:r>
            <a:endParaRPr sz="2200">
              <a:latin typeface="Arial MT"/>
              <a:cs typeface="Arial MT"/>
            </a:endParaRPr>
          </a:p>
        </p:txBody>
      </p:sp>
      <p:sp>
        <p:nvSpPr>
          <p:cNvPr id="27" name="object 27"/>
          <p:cNvSpPr txBox="1"/>
          <p:nvPr/>
        </p:nvSpPr>
        <p:spPr>
          <a:xfrm>
            <a:off x="5271138" y="1503580"/>
            <a:ext cx="774065" cy="492125"/>
          </a:xfrm>
          <a:prstGeom prst="rect">
            <a:avLst/>
          </a:prstGeom>
        </p:spPr>
        <p:txBody>
          <a:bodyPr wrap="square" lIns="0" tIns="44450" rIns="0" bIns="0" rtlCol="0" vert="horz">
            <a:spAutoFit/>
          </a:bodyPr>
          <a:lstStyle/>
          <a:p>
            <a:pPr marL="12700">
              <a:lnSpc>
                <a:spcPct val="100000"/>
              </a:lnSpc>
              <a:spcBef>
                <a:spcPts val="350"/>
              </a:spcBef>
            </a:pPr>
            <a:r>
              <a:rPr dirty="0" u="heavy" sz="1850" spc="-315">
                <a:solidFill>
                  <a:srgbClr val="1877AA"/>
                </a:solidFill>
                <a:uFill>
                  <a:solidFill>
                    <a:srgbClr val="DB6B1F"/>
                  </a:solidFill>
                </a:uFill>
                <a:latin typeface="Arial Black"/>
                <a:cs typeface="Arial Black"/>
              </a:rPr>
              <a:t>Metis-</a:t>
            </a:r>
            <a:r>
              <a:rPr dirty="0" u="heavy" sz="1850" spc="-325">
                <a:solidFill>
                  <a:srgbClr val="1877AA"/>
                </a:solidFill>
                <a:uFill>
                  <a:solidFill>
                    <a:srgbClr val="DB6B1F"/>
                  </a:solidFill>
                </a:uFill>
                <a:latin typeface="Arial Black"/>
                <a:cs typeface="Arial Black"/>
              </a:rPr>
              <a:t>LI</a:t>
            </a:r>
            <a:endParaRPr sz="1850">
              <a:latin typeface="Arial Black"/>
              <a:cs typeface="Arial Black"/>
            </a:endParaRPr>
          </a:p>
          <a:p>
            <a:pPr marL="20320">
              <a:lnSpc>
                <a:spcPct val="100000"/>
              </a:lnSpc>
              <a:spcBef>
                <a:spcPts val="120"/>
              </a:spcBef>
            </a:pPr>
            <a:r>
              <a:rPr dirty="0" sz="900" spc="-65">
                <a:solidFill>
                  <a:srgbClr val="1F4457"/>
                </a:solidFill>
                <a:latin typeface="Arial MT"/>
                <a:cs typeface="Arial MT"/>
              </a:rPr>
              <a:t>Reliable</a:t>
            </a:r>
            <a:r>
              <a:rPr dirty="0" sz="900" spc="-10">
                <a:solidFill>
                  <a:srgbClr val="1F4457"/>
                </a:solidFill>
                <a:latin typeface="Arial MT"/>
                <a:cs typeface="Arial MT"/>
              </a:rPr>
              <a:t> </a:t>
            </a:r>
            <a:r>
              <a:rPr dirty="0" sz="900" spc="-30">
                <a:solidFill>
                  <a:srgbClr val="1F4457"/>
                </a:solidFill>
                <a:latin typeface="Arial MT"/>
                <a:cs typeface="Arial MT"/>
              </a:rPr>
              <a:t>Insights</a:t>
            </a:r>
            <a:endParaRPr sz="900">
              <a:latin typeface="Arial MT"/>
              <a:cs typeface="Arial MT"/>
            </a:endParaRPr>
          </a:p>
        </p:txBody>
      </p:sp>
      <p:grpSp>
        <p:nvGrpSpPr>
          <p:cNvPr id="8" name="object 8"/>
          <p:cNvGrpSpPr/>
          <p:nvPr/>
        </p:nvGrpSpPr>
        <p:grpSpPr>
          <a:xfrm>
            <a:off x="6409944" y="1603247"/>
            <a:ext cx="4258310" cy="417830"/>
            <a:chOff x="6409944" y="1603247"/>
            <a:chExt cx="4258310" cy="417830"/>
          </a:xfrm>
        </p:grpSpPr>
        <p:pic>
          <p:nvPicPr>
            <p:cNvPr id="9" name="object 9"/>
            <p:cNvPicPr/>
            <p:nvPr/>
          </p:nvPicPr>
          <p:blipFill>
            <a:blip r:embed="rId6" cstate="print"/>
            <a:stretch>
              <a:fillRect/>
            </a:stretch>
          </p:blipFill>
          <p:spPr>
            <a:xfrm>
              <a:off x="6409944" y="1603247"/>
              <a:ext cx="4258056" cy="295656"/>
            </a:xfrm>
            <a:prstGeom prst="rect">
              <a:avLst/>
            </a:prstGeom>
          </p:spPr>
        </p:pic>
        <p:pic>
          <p:nvPicPr>
            <p:cNvPr id="10" name="object 10"/>
            <p:cNvPicPr/>
            <p:nvPr/>
          </p:nvPicPr>
          <p:blipFill>
            <a:blip r:embed="rId7" cstate="print"/>
            <a:stretch>
              <a:fillRect/>
            </a:stretch>
          </p:blipFill>
          <p:spPr>
            <a:xfrm>
              <a:off x="7949183" y="1904999"/>
              <a:ext cx="2636520" cy="115824"/>
            </a:xfrm>
            <a:prstGeom prst="rect">
              <a:avLst/>
            </a:prstGeom>
          </p:spPr>
        </p:pic>
      </p:grpSp>
      <p:grpSp>
        <p:nvGrpSpPr>
          <p:cNvPr id="19" name="object 19"/>
          <p:cNvGrpSpPr/>
          <p:nvPr/>
        </p:nvGrpSpPr>
        <p:grpSpPr>
          <a:xfrm>
            <a:off x="11173968" y="1856232"/>
            <a:ext cx="546100" cy="165100"/>
            <a:chOff x="11173968" y="1856232"/>
            <a:chExt cx="546100" cy="165100"/>
          </a:xfrm>
        </p:grpSpPr>
        <p:pic>
          <p:nvPicPr>
            <p:cNvPr id="20" name="object 20"/>
            <p:cNvPicPr/>
            <p:nvPr/>
          </p:nvPicPr>
          <p:blipFill>
            <a:blip r:embed="rId16" cstate="print"/>
            <a:stretch>
              <a:fillRect/>
            </a:stretch>
          </p:blipFill>
          <p:spPr>
            <a:xfrm>
              <a:off x="11173968" y="1856232"/>
              <a:ext cx="545592" cy="64008"/>
            </a:xfrm>
            <a:prstGeom prst="rect">
              <a:avLst/>
            </a:prstGeom>
          </p:spPr>
        </p:pic>
        <p:pic>
          <p:nvPicPr>
            <p:cNvPr id="21" name="object 21"/>
            <p:cNvPicPr/>
            <p:nvPr/>
          </p:nvPicPr>
          <p:blipFill>
            <a:blip r:embed="rId17" cstate="print"/>
            <a:stretch>
              <a:fillRect/>
            </a:stretch>
          </p:blipFill>
          <p:spPr>
            <a:xfrm>
              <a:off x="11204448" y="1926336"/>
              <a:ext cx="478535" cy="94487"/>
            </a:xfrm>
            <a:prstGeom prst="rect">
              <a:avLst/>
            </a:prstGeom>
          </p:spPr>
        </p:pic>
      </p:grpSp>
      <p:sp>
        <p:nvSpPr>
          <p:cNvPr id="31" name="object 31"/>
          <p:cNvSpPr txBox="1"/>
          <p:nvPr/>
        </p:nvSpPr>
        <p:spPr>
          <a:xfrm>
            <a:off x="11241278" y="1452117"/>
            <a:ext cx="420370" cy="429259"/>
          </a:xfrm>
          <a:prstGeom prst="rect">
            <a:avLst/>
          </a:prstGeom>
        </p:spPr>
        <p:txBody>
          <a:bodyPr wrap="square" lIns="0" tIns="12700" rIns="0" bIns="0" rtlCol="0" vert="horz">
            <a:spAutoFit/>
          </a:bodyPr>
          <a:lstStyle/>
          <a:p>
            <a:pPr marL="12700">
              <a:lnSpc>
                <a:spcPct val="100000"/>
              </a:lnSpc>
              <a:spcBef>
                <a:spcPts val="100"/>
              </a:spcBef>
            </a:pPr>
            <a:r>
              <a:rPr dirty="0" sz="2650" spc="-85">
                <a:solidFill>
                  <a:srgbClr val="05218C"/>
                </a:solidFill>
                <a:latin typeface="Times New Roman"/>
                <a:cs typeface="Times New Roman"/>
              </a:rPr>
              <a:t>IIT</a:t>
            </a:r>
            <a:endParaRPr sz="2650">
              <a:latin typeface="Times New Roman"/>
              <a:cs typeface="Times New Roman"/>
            </a:endParaRPr>
          </a:p>
        </p:txBody>
      </p:sp>
      <p:sp>
        <p:nvSpPr>
          <p:cNvPr id="2" name="object 2"/>
          <p:cNvSpPr txBox="1"/>
          <p:nvPr/>
        </p:nvSpPr>
        <p:spPr>
          <a:xfrm>
            <a:off x="1121553" y="2322321"/>
            <a:ext cx="927100" cy="548640"/>
          </a:xfrm>
          <a:prstGeom prst="rect">
            <a:avLst/>
          </a:prstGeom>
        </p:spPr>
        <p:txBody>
          <a:bodyPr wrap="square" lIns="0" tIns="10160" rIns="0" bIns="0" rtlCol="0" vert="horz">
            <a:spAutoFit/>
          </a:bodyPr>
          <a:lstStyle/>
          <a:p>
            <a:pPr marL="38100" marR="30480" indent="10795">
              <a:lnSpc>
                <a:spcPct val="101299"/>
              </a:lnSpc>
              <a:spcBef>
                <a:spcPts val="80"/>
              </a:spcBef>
            </a:pPr>
            <a:r>
              <a:rPr dirty="0" sz="1150">
                <a:solidFill>
                  <a:srgbClr val="E4C1AE"/>
                </a:solidFill>
                <a:latin typeface="Arial MT"/>
                <a:cs typeface="Arial MT"/>
              </a:rPr>
              <a:t>Aerospace</a:t>
            </a:r>
            <a:r>
              <a:rPr dirty="0" sz="1150" spc="-5">
                <a:solidFill>
                  <a:srgbClr val="E4C1AE"/>
                </a:solidFill>
                <a:latin typeface="Arial MT"/>
                <a:cs typeface="Arial MT"/>
              </a:rPr>
              <a:t> </a:t>
            </a:r>
            <a:r>
              <a:rPr dirty="0" sz="1150" spc="-50">
                <a:solidFill>
                  <a:srgbClr val="FFF6E4"/>
                </a:solidFill>
                <a:latin typeface="Arial MT"/>
                <a:cs typeface="Arial MT"/>
              </a:rPr>
              <a:t>&amp; </a:t>
            </a:r>
            <a:r>
              <a:rPr dirty="0" sz="1100" spc="-10">
                <a:solidFill>
                  <a:srgbClr val="FFCDBA"/>
                </a:solidFill>
                <a:latin typeface="Arial MT"/>
                <a:cs typeface="Arial MT"/>
              </a:rPr>
              <a:t>Defence </a:t>
            </a:r>
            <a:r>
              <a:rPr dirty="0" sz="1150" spc="-60">
                <a:solidFill>
                  <a:srgbClr val="F9AC75"/>
                </a:solidFill>
                <a:latin typeface="Arial MT"/>
                <a:cs typeface="Arial MT"/>
              </a:rPr>
              <a:t>Pu'°’••’</a:t>
            </a:r>
            <a:r>
              <a:rPr dirty="0" sz="1150" spc="150">
                <a:solidFill>
                  <a:srgbClr val="F9AC75"/>
                </a:solidFill>
                <a:latin typeface="Arial MT"/>
                <a:cs typeface="Arial MT"/>
              </a:rPr>
              <a:t> </a:t>
            </a:r>
            <a:r>
              <a:rPr dirty="0" sz="1150" spc="-35">
                <a:solidFill>
                  <a:srgbClr val="F9AC75"/>
                </a:solidFill>
                <a:latin typeface="Arial MT"/>
                <a:cs typeface="Arial MT"/>
              </a:rPr>
              <a:t>s</a:t>
            </a:r>
            <a:r>
              <a:rPr dirty="0" sz="1150" spc="-90">
                <a:solidFill>
                  <a:srgbClr val="F9AC75"/>
                </a:solidFill>
                <a:latin typeface="Arial MT"/>
                <a:cs typeface="Arial MT"/>
              </a:rPr>
              <a:t> </a:t>
            </a:r>
            <a:r>
              <a:rPr dirty="0" baseline="7246" sz="1725" spc="-75">
                <a:solidFill>
                  <a:srgbClr val="FFEBB8"/>
                </a:solidFill>
                <a:latin typeface="Arial MT"/>
                <a:cs typeface="Arial MT"/>
              </a:rPr>
              <a:t>u</a:t>
            </a:r>
            <a:endParaRPr baseline="7246" sz="1725">
              <a:latin typeface="Arial MT"/>
              <a:cs typeface="Arial MT"/>
            </a:endParaRPr>
          </a:p>
        </p:txBody>
      </p:sp>
      <p:pic>
        <p:nvPicPr>
          <p:cNvPr id="15" name="object 15"/>
          <p:cNvPicPr/>
          <p:nvPr/>
        </p:nvPicPr>
        <p:blipFill>
          <a:blip r:embed="rId12" cstate="print"/>
          <a:stretch>
            <a:fillRect/>
          </a:stretch>
        </p:blipFill>
        <p:spPr>
          <a:xfrm>
            <a:off x="4456176" y="2478023"/>
            <a:ext cx="707136" cy="341375"/>
          </a:xfrm>
          <a:prstGeom prst="rect">
            <a:avLst/>
          </a:prstGeom>
        </p:spPr>
      </p:pic>
      <p:sp>
        <p:nvSpPr>
          <p:cNvPr id="29" name="object 29"/>
          <p:cNvSpPr txBox="1"/>
          <p:nvPr/>
        </p:nvSpPr>
        <p:spPr>
          <a:xfrm>
            <a:off x="6285608" y="2493009"/>
            <a:ext cx="574675" cy="292100"/>
          </a:xfrm>
          <a:prstGeom prst="rect">
            <a:avLst/>
          </a:prstGeom>
        </p:spPr>
        <p:txBody>
          <a:bodyPr wrap="square" lIns="0" tIns="12700" rIns="0" bIns="0" rtlCol="0" vert="horz">
            <a:spAutoFit/>
          </a:bodyPr>
          <a:lstStyle/>
          <a:p>
            <a:pPr marL="12700">
              <a:lnSpc>
                <a:spcPct val="100000"/>
              </a:lnSpc>
              <a:spcBef>
                <a:spcPts val="100"/>
              </a:spcBef>
            </a:pPr>
            <a:r>
              <a:rPr dirty="0" sz="1750" spc="-200">
                <a:solidFill>
                  <a:srgbClr val="152677"/>
                </a:solidFill>
                <a:latin typeface="Arial MT"/>
                <a:cs typeface="Arial MT"/>
              </a:rPr>
              <a:t>DRDO</a:t>
            </a:r>
            <a:endParaRPr sz="1750">
              <a:latin typeface="Arial MT"/>
              <a:cs typeface="Arial MT"/>
            </a:endParaRPr>
          </a:p>
        </p:txBody>
      </p:sp>
      <p:pic>
        <p:nvPicPr>
          <p:cNvPr id="18" name="object 18"/>
          <p:cNvPicPr/>
          <p:nvPr/>
        </p:nvPicPr>
        <p:blipFill>
          <a:blip r:embed="rId15" cstate="print"/>
          <a:stretch>
            <a:fillRect/>
          </a:stretch>
        </p:blipFill>
        <p:spPr>
          <a:xfrm>
            <a:off x="8418576" y="2377439"/>
            <a:ext cx="719327" cy="569976"/>
          </a:xfrm>
          <a:prstGeom prst="rect">
            <a:avLst/>
          </a:prstGeom>
        </p:spPr>
      </p:pic>
      <p:pic>
        <p:nvPicPr>
          <p:cNvPr id="6" name="object 6"/>
          <p:cNvPicPr/>
          <p:nvPr/>
        </p:nvPicPr>
        <p:blipFill>
          <a:blip r:embed="rId4" cstate="print"/>
          <a:stretch>
            <a:fillRect/>
          </a:stretch>
        </p:blipFill>
        <p:spPr>
          <a:xfrm>
            <a:off x="329184" y="3108960"/>
            <a:ext cx="76200" cy="301751"/>
          </a:xfrm>
          <a:prstGeom prst="rect">
            <a:avLst/>
          </a:prstGeom>
        </p:spPr>
      </p:pic>
      <p:grpSp>
        <p:nvGrpSpPr>
          <p:cNvPr id="3" name="object 3"/>
          <p:cNvGrpSpPr/>
          <p:nvPr/>
        </p:nvGrpSpPr>
        <p:grpSpPr>
          <a:xfrm>
            <a:off x="539495" y="3304032"/>
            <a:ext cx="402590" cy="429895"/>
            <a:chOff x="539495" y="3304032"/>
            <a:chExt cx="402590" cy="429895"/>
          </a:xfrm>
        </p:grpSpPr>
        <p:pic>
          <p:nvPicPr>
            <p:cNvPr id="4" name="object 4"/>
            <p:cNvPicPr/>
            <p:nvPr/>
          </p:nvPicPr>
          <p:blipFill>
            <a:blip r:embed="rId2" cstate="print"/>
            <a:stretch>
              <a:fillRect/>
            </a:stretch>
          </p:blipFill>
          <p:spPr>
            <a:xfrm>
              <a:off x="539495" y="3453384"/>
              <a:ext cx="402336" cy="280415"/>
            </a:xfrm>
            <a:prstGeom prst="rect">
              <a:avLst/>
            </a:prstGeom>
          </p:spPr>
        </p:pic>
        <p:pic>
          <p:nvPicPr>
            <p:cNvPr id="5" name="object 5"/>
            <p:cNvPicPr/>
            <p:nvPr/>
          </p:nvPicPr>
          <p:blipFill>
            <a:blip r:embed="rId3" cstate="print"/>
            <a:stretch>
              <a:fillRect/>
            </a:stretch>
          </p:blipFill>
          <p:spPr>
            <a:xfrm>
              <a:off x="545591" y="3304032"/>
              <a:ext cx="390144" cy="128015"/>
            </a:xfrm>
            <a:prstGeom prst="rect">
              <a:avLst/>
            </a:prstGeom>
          </p:spPr>
        </p:pic>
      </p:grpSp>
      <p:pic>
        <p:nvPicPr>
          <p:cNvPr id="7" name="object 7"/>
          <p:cNvPicPr/>
          <p:nvPr/>
        </p:nvPicPr>
        <p:blipFill>
          <a:blip r:embed="rId5" cstate="print"/>
          <a:stretch>
            <a:fillRect/>
          </a:stretch>
        </p:blipFill>
        <p:spPr>
          <a:xfrm>
            <a:off x="1176527" y="3593591"/>
            <a:ext cx="972311" cy="216408"/>
          </a:xfrm>
          <a:prstGeom prst="rect">
            <a:avLst/>
          </a:prstGeom>
        </p:spPr>
      </p:pic>
      <p:pic>
        <p:nvPicPr>
          <p:cNvPr id="17" name="object 17"/>
          <p:cNvPicPr/>
          <p:nvPr/>
        </p:nvPicPr>
        <p:blipFill>
          <a:blip r:embed="rId14" cstate="print"/>
          <a:stretch>
            <a:fillRect/>
          </a:stretch>
        </p:blipFill>
        <p:spPr>
          <a:xfrm>
            <a:off x="7299959" y="3599688"/>
            <a:ext cx="640079" cy="173736"/>
          </a:xfrm>
          <a:prstGeom prst="rect">
            <a:avLst/>
          </a:prstGeom>
        </p:spPr>
      </p:pic>
      <p:sp>
        <p:nvSpPr>
          <p:cNvPr id="32" name="object 32"/>
          <p:cNvSpPr txBox="1"/>
          <p:nvPr/>
        </p:nvSpPr>
        <p:spPr>
          <a:xfrm>
            <a:off x="9745740" y="3511550"/>
            <a:ext cx="1182370" cy="276860"/>
          </a:xfrm>
          <a:prstGeom prst="rect">
            <a:avLst/>
          </a:prstGeom>
        </p:spPr>
        <p:txBody>
          <a:bodyPr wrap="square" lIns="0" tIns="12700" rIns="0" bIns="0" rtlCol="0" vert="horz">
            <a:spAutoFit/>
          </a:bodyPr>
          <a:lstStyle/>
          <a:p>
            <a:pPr marL="12700">
              <a:lnSpc>
                <a:spcPct val="100000"/>
              </a:lnSpc>
              <a:spcBef>
                <a:spcPts val="100"/>
              </a:spcBef>
            </a:pPr>
            <a:r>
              <a:rPr dirty="0" sz="1650" spc="-55">
                <a:solidFill>
                  <a:srgbClr val="1677D6"/>
                </a:solidFill>
                <a:latin typeface="Arial MT"/>
                <a:cs typeface="Arial MT"/>
              </a:rPr>
              <a:t>ITI</a:t>
            </a:r>
            <a:r>
              <a:rPr dirty="0" sz="1650" spc="-145">
                <a:solidFill>
                  <a:srgbClr val="1677D6"/>
                </a:solidFill>
                <a:latin typeface="Arial MT"/>
                <a:cs typeface="Arial MT"/>
              </a:rPr>
              <a:t> </a:t>
            </a:r>
            <a:r>
              <a:rPr dirty="0" sz="1650" spc="-80">
                <a:solidFill>
                  <a:srgbClr val="0877ED"/>
                </a:solidFill>
                <a:latin typeface="Arial MT"/>
                <a:cs typeface="Arial MT"/>
              </a:rPr>
              <a:t>LIMITED</a:t>
            </a:r>
            <a:r>
              <a:rPr dirty="0" sz="1650" spc="300">
                <a:solidFill>
                  <a:srgbClr val="0877ED"/>
                </a:solidFill>
                <a:latin typeface="Arial MT"/>
                <a:cs typeface="Arial MT"/>
              </a:rPr>
              <a:t> </a:t>
            </a:r>
            <a:r>
              <a:rPr dirty="0" sz="1650" spc="-315">
                <a:solidFill>
                  <a:srgbClr val="C8C8C8"/>
                </a:solidFill>
                <a:latin typeface="Arial MT"/>
                <a:cs typeface="Arial MT"/>
              </a:rPr>
              <a:t>.</a:t>
            </a:r>
            <a:endParaRPr sz="1650">
              <a:latin typeface="Arial MT"/>
              <a:cs typeface="Arial MT"/>
            </a:endParaRPr>
          </a:p>
        </p:txBody>
      </p:sp>
      <p:sp>
        <p:nvSpPr>
          <p:cNvPr id="33" name="object 33"/>
          <p:cNvSpPr txBox="1"/>
          <p:nvPr/>
        </p:nvSpPr>
        <p:spPr>
          <a:xfrm>
            <a:off x="11099014" y="3511550"/>
            <a:ext cx="525780" cy="276860"/>
          </a:xfrm>
          <a:prstGeom prst="rect">
            <a:avLst/>
          </a:prstGeom>
        </p:spPr>
        <p:txBody>
          <a:bodyPr wrap="square" lIns="0" tIns="12700" rIns="0" bIns="0" rtlCol="0" vert="horz">
            <a:spAutoFit/>
          </a:bodyPr>
          <a:lstStyle/>
          <a:p>
            <a:pPr marL="12700">
              <a:lnSpc>
                <a:spcPct val="100000"/>
              </a:lnSpc>
              <a:spcBef>
                <a:spcPts val="100"/>
              </a:spcBef>
            </a:pPr>
            <a:r>
              <a:rPr dirty="0" sz="1650" spc="-20">
                <a:solidFill>
                  <a:srgbClr val="342B99"/>
                </a:solidFill>
                <a:latin typeface="Arial MT"/>
                <a:cs typeface="Arial MT"/>
              </a:rPr>
              <a:t>CRIS</a:t>
            </a:r>
            <a:endParaRPr sz="1650">
              <a:latin typeface="Arial MT"/>
              <a:cs typeface="Arial MT"/>
            </a:endParaRPr>
          </a:p>
        </p:txBody>
      </p:sp>
      <p:sp>
        <p:nvSpPr>
          <p:cNvPr id="25" name="object 25"/>
          <p:cNvSpPr txBox="1"/>
          <p:nvPr/>
        </p:nvSpPr>
        <p:spPr>
          <a:xfrm>
            <a:off x="3048397" y="4475479"/>
            <a:ext cx="997585" cy="162560"/>
          </a:xfrm>
          <a:prstGeom prst="rect">
            <a:avLst/>
          </a:prstGeom>
        </p:spPr>
        <p:txBody>
          <a:bodyPr wrap="square" lIns="0" tIns="12700" rIns="0" bIns="0" rtlCol="0" vert="horz">
            <a:spAutoFit/>
          </a:bodyPr>
          <a:lstStyle/>
          <a:p>
            <a:pPr marL="12700">
              <a:lnSpc>
                <a:spcPct val="100000"/>
              </a:lnSpc>
              <a:spcBef>
                <a:spcPts val="100"/>
              </a:spcBef>
            </a:pPr>
            <a:r>
              <a:rPr dirty="0" sz="900" spc="-130">
                <a:latin typeface="Arial Black"/>
                <a:cs typeface="Arial Black"/>
              </a:rPr>
              <a:t>OAIL</a:t>
            </a:r>
            <a:r>
              <a:rPr dirty="0" sz="900" spc="-80">
                <a:latin typeface="Arial Black"/>
                <a:cs typeface="Arial Black"/>
              </a:rPr>
              <a:t> </a:t>
            </a:r>
            <a:r>
              <a:rPr dirty="0" sz="900" spc="-105">
                <a:latin typeface="Arial Black"/>
                <a:cs typeface="Arial Black"/>
              </a:rPr>
              <a:t>(Indlaj</a:t>
            </a:r>
            <a:r>
              <a:rPr dirty="0" sz="900" spc="-20">
                <a:latin typeface="Arial Black"/>
                <a:cs typeface="Arial Black"/>
              </a:rPr>
              <a:t> </a:t>
            </a:r>
            <a:r>
              <a:rPr dirty="0" sz="900" spc="-105">
                <a:latin typeface="Arial Black"/>
                <a:cs typeface="Arial Black"/>
              </a:rPr>
              <a:t>Lbnflad</a:t>
            </a:r>
            <a:endParaRPr sz="900">
              <a:latin typeface="Arial Black"/>
              <a:cs typeface="Arial Black"/>
            </a:endParaRPr>
          </a:p>
        </p:txBody>
      </p:sp>
      <p:sp>
        <p:nvSpPr>
          <p:cNvPr id="34" name="object 34"/>
          <p:cNvSpPr txBox="1"/>
          <p:nvPr/>
        </p:nvSpPr>
        <p:spPr>
          <a:xfrm>
            <a:off x="9729960" y="4450079"/>
            <a:ext cx="544195" cy="193040"/>
          </a:xfrm>
          <a:prstGeom prst="rect">
            <a:avLst/>
          </a:prstGeom>
        </p:spPr>
        <p:txBody>
          <a:bodyPr wrap="square" lIns="0" tIns="12700" rIns="0" bIns="0" rtlCol="0" vert="horz">
            <a:spAutoFit/>
          </a:bodyPr>
          <a:lstStyle/>
          <a:p>
            <a:pPr marL="12700">
              <a:lnSpc>
                <a:spcPct val="100000"/>
              </a:lnSpc>
              <a:spcBef>
                <a:spcPts val="100"/>
              </a:spcBef>
            </a:pPr>
            <a:r>
              <a:rPr dirty="0" sz="1100" spc="-95">
                <a:latin typeface="Arial Black"/>
                <a:cs typeface="Arial Black"/>
              </a:rPr>
              <a:t>SPMCIL</a:t>
            </a:r>
            <a:endParaRPr sz="1100">
              <a:latin typeface="Arial Black"/>
              <a:cs typeface="Arial Black"/>
            </a:endParaRPr>
          </a:p>
        </p:txBody>
      </p:sp>
      <p:sp>
        <p:nvSpPr>
          <p:cNvPr id="28" name="object 28"/>
          <p:cNvSpPr txBox="1"/>
          <p:nvPr/>
        </p:nvSpPr>
        <p:spPr>
          <a:xfrm>
            <a:off x="4994282" y="5204714"/>
            <a:ext cx="1078230" cy="139700"/>
          </a:xfrm>
          <a:prstGeom prst="rect">
            <a:avLst/>
          </a:prstGeom>
        </p:spPr>
        <p:txBody>
          <a:bodyPr wrap="square" lIns="0" tIns="12700" rIns="0" bIns="0" rtlCol="0" vert="horz">
            <a:spAutoFit/>
          </a:bodyPr>
          <a:lstStyle/>
          <a:p>
            <a:pPr marL="12700">
              <a:lnSpc>
                <a:spcPct val="100000"/>
              </a:lnSpc>
              <a:spcBef>
                <a:spcPts val="100"/>
              </a:spcBef>
            </a:pPr>
            <a:r>
              <a:rPr dirty="0" u="sng" sz="750" spc="-85">
                <a:uFill>
                  <a:solidFill>
                    <a:srgbClr val="777777"/>
                  </a:solidFill>
                </a:uFill>
                <a:latin typeface="Arial MT"/>
                <a:cs typeface="Arial MT"/>
              </a:rPr>
              <a:t>BBSERYE</a:t>
            </a:r>
            <a:r>
              <a:rPr dirty="0" u="sng" sz="750" spc="15">
                <a:uFill>
                  <a:solidFill>
                    <a:srgbClr val="777777"/>
                  </a:solidFill>
                </a:uFill>
                <a:latin typeface="Arial MT"/>
                <a:cs typeface="Arial MT"/>
              </a:rPr>
              <a:t> </a:t>
            </a:r>
            <a:r>
              <a:rPr dirty="0" u="sng" sz="750" spc="-55">
                <a:uFill>
                  <a:solidFill>
                    <a:srgbClr val="777777"/>
                  </a:solidFill>
                </a:uFill>
                <a:latin typeface="Arial MT"/>
                <a:cs typeface="Arial MT"/>
              </a:rPr>
              <a:t>BAI¥K</a:t>
            </a:r>
            <a:r>
              <a:rPr dirty="0" u="sng" sz="750" spc="40">
                <a:uFill>
                  <a:solidFill>
                    <a:srgbClr val="777777"/>
                  </a:solidFill>
                </a:uFill>
                <a:latin typeface="Arial MT"/>
                <a:cs typeface="Arial MT"/>
              </a:rPr>
              <a:t> </a:t>
            </a:r>
            <a:r>
              <a:rPr dirty="0" u="sng" sz="750" spc="-110">
                <a:uFill>
                  <a:solidFill>
                    <a:srgbClr val="777777"/>
                  </a:solidFill>
                </a:uFill>
                <a:latin typeface="Arial MT"/>
                <a:cs typeface="Arial MT"/>
              </a:rPr>
              <a:t>OF</a:t>
            </a:r>
            <a:r>
              <a:rPr dirty="0" u="sng" sz="750" spc="45">
                <a:uFill>
                  <a:solidFill>
                    <a:srgbClr val="777777"/>
                  </a:solidFill>
                </a:uFill>
                <a:latin typeface="Arial MT"/>
                <a:cs typeface="Arial MT"/>
              </a:rPr>
              <a:t> </a:t>
            </a:r>
            <a:r>
              <a:rPr dirty="0" u="sng" sz="750" spc="-25">
                <a:uFill>
                  <a:solidFill>
                    <a:srgbClr val="777777"/>
                  </a:solidFill>
                </a:uFill>
                <a:latin typeface="Arial MT"/>
                <a:cs typeface="Arial MT"/>
              </a:rPr>
              <a:t>IN0âA</a:t>
            </a:r>
            <a:endParaRPr sz="750">
              <a:latin typeface="Arial MT"/>
              <a:cs typeface="Arial MT"/>
            </a:endParaRPr>
          </a:p>
        </p:txBody>
      </p:sp>
      <p:pic>
        <p:nvPicPr>
          <p:cNvPr id="22" name="object 22"/>
          <p:cNvPicPr/>
          <p:nvPr/>
        </p:nvPicPr>
        <p:blipFill>
          <a:blip r:embed="rId18" cstate="print"/>
          <a:stretch>
            <a:fillRect/>
          </a:stretch>
        </p:blipFill>
        <p:spPr>
          <a:xfrm>
            <a:off x="10360152" y="5041391"/>
            <a:ext cx="1322831" cy="316991"/>
          </a:xfrm>
          <a:prstGeom prst="rect">
            <a:avLst/>
          </a:prstGeom>
        </p:spPr>
      </p:pic>
      <p:sp>
        <p:nvSpPr>
          <p:cNvPr id="30" name="object 30"/>
          <p:cNvSpPr txBox="1"/>
          <p:nvPr/>
        </p:nvSpPr>
        <p:spPr>
          <a:xfrm>
            <a:off x="7610315" y="5258308"/>
            <a:ext cx="1074420" cy="177800"/>
          </a:xfrm>
          <a:prstGeom prst="rect">
            <a:avLst/>
          </a:prstGeom>
        </p:spPr>
        <p:txBody>
          <a:bodyPr wrap="square" lIns="0" tIns="12700" rIns="0" bIns="0" rtlCol="0" vert="horz">
            <a:spAutoFit/>
          </a:bodyPr>
          <a:lstStyle/>
          <a:p>
            <a:pPr marL="12700">
              <a:lnSpc>
                <a:spcPct val="100000"/>
              </a:lnSpc>
              <a:spcBef>
                <a:spcPts val="100"/>
              </a:spcBef>
            </a:pPr>
            <a:r>
              <a:rPr dirty="0" sz="1000" spc="-310">
                <a:latin typeface="Arial Black"/>
                <a:cs typeface="Arial Black"/>
              </a:rPr>
              <a:t>PIONEERS</a:t>
            </a:r>
            <a:r>
              <a:rPr dirty="0" sz="1000" spc="-5">
                <a:latin typeface="Arial Black"/>
                <a:cs typeface="Arial Black"/>
              </a:rPr>
              <a:t> </a:t>
            </a:r>
            <a:r>
              <a:rPr dirty="0" sz="1000" spc="-260">
                <a:solidFill>
                  <a:srgbClr val="111111"/>
                </a:solidFill>
                <a:latin typeface="Arial Black"/>
                <a:cs typeface="Arial Black"/>
              </a:rPr>
              <a:t>IH</a:t>
            </a:r>
            <a:r>
              <a:rPr dirty="0" sz="1000" spc="-90">
                <a:solidFill>
                  <a:srgbClr val="111111"/>
                </a:solidFill>
                <a:latin typeface="Arial Black"/>
                <a:cs typeface="Arial Black"/>
              </a:rPr>
              <a:t> </a:t>
            </a:r>
            <a:r>
              <a:rPr dirty="0" sz="1000" spc="-315">
                <a:latin typeface="Arial Black"/>
                <a:cs typeface="Arial Black"/>
              </a:rPr>
              <a:t>PRDERESS</a:t>
            </a:r>
            <a:endParaRPr sz="1000">
              <a:latin typeface="Arial Black"/>
              <a:cs typeface="Arial Black"/>
            </a:endParaRPr>
          </a:p>
        </p:txBody>
      </p:sp>
      <p:pic>
        <p:nvPicPr>
          <p:cNvPr id="12" name="object 12"/>
          <p:cNvPicPr/>
          <p:nvPr/>
        </p:nvPicPr>
        <p:blipFill>
          <a:blip r:embed="rId9" cstate="print"/>
          <a:stretch>
            <a:fillRect/>
          </a:stretch>
        </p:blipFill>
        <p:spPr>
          <a:xfrm>
            <a:off x="2941320" y="5785103"/>
            <a:ext cx="844295" cy="512064"/>
          </a:xfrm>
          <a:prstGeom prst="rect">
            <a:avLst/>
          </a:prstGeom>
        </p:spPr>
      </p:pic>
      <p:pic>
        <p:nvPicPr>
          <p:cNvPr id="23" name="object 23"/>
          <p:cNvPicPr/>
          <p:nvPr/>
        </p:nvPicPr>
        <p:blipFill>
          <a:blip r:embed="rId19" cstate="print"/>
          <a:stretch>
            <a:fillRect/>
          </a:stretch>
        </p:blipFill>
        <p:spPr>
          <a:xfrm>
            <a:off x="6035040" y="5806440"/>
            <a:ext cx="853439" cy="252983"/>
          </a:xfrm>
          <a:prstGeom prst="rect">
            <a:avLst/>
          </a:prstGeom>
        </p:spPr>
      </p:pic>
      <p:pic>
        <p:nvPicPr>
          <p:cNvPr id="13" name="object 13"/>
          <p:cNvPicPr/>
          <p:nvPr/>
        </p:nvPicPr>
        <p:blipFill>
          <a:blip r:embed="rId10" cstate="print"/>
          <a:stretch>
            <a:fillRect/>
          </a:stretch>
        </p:blipFill>
        <p:spPr>
          <a:xfrm>
            <a:off x="9893807" y="5864352"/>
            <a:ext cx="1213103" cy="384047"/>
          </a:xfrm>
          <a:prstGeom prst="rect">
            <a:avLst/>
          </a:prstGeom>
        </p:spPr>
      </p:pic>
      <p:pic>
        <p:nvPicPr>
          <p:cNvPr id="14" name="object 14"/>
          <p:cNvPicPr/>
          <p:nvPr/>
        </p:nvPicPr>
        <p:blipFill>
          <a:blip r:embed="rId11" cstate="print"/>
          <a:stretch>
            <a:fillRect/>
          </a:stretch>
        </p:blipFill>
        <p:spPr>
          <a:xfrm>
            <a:off x="5882640" y="6114288"/>
            <a:ext cx="1219200" cy="228599"/>
          </a:xfrm>
          <a:prstGeom prst="rect">
            <a:avLst/>
          </a:prstGeom>
        </p:spPr>
      </p:pic>
      <p:pic>
        <p:nvPicPr>
          <p:cNvPr id="11" name="object 11"/>
          <p:cNvPicPr/>
          <p:nvPr/>
        </p:nvPicPr>
        <p:blipFill>
          <a:blip r:embed="rId8" cstate="print"/>
          <a:stretch>
            <a:fillRect/>
          </a:stretch>
        </p:blipFill>
        <p:spPr>
          <a:xfrm>
            <a:off x="11582400" y="6553200"/>
            <a:ext cx="609600" cy="304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7999"/>
            </a:xfrm>
            <a:prstGeom prst="rect">
              <a:avLst/>
            </a:prstGeom>
          </p:spPr>
        </p:pic>
        <p:sp>
          <p:nvSpPr>
            <p:cNvPr id="4" name="object 4"/>
            <p:cNvSpPr/>
            <p:nvPr/>
          </p:nvSpPr>
          <p:spPr>
            <a:xfrm>
              <a:off x="209550" y="161925"/>
              <a:ext cx="2466975" cy="762000"/>
            </a:xfrm>
            <a:custGeom>
              <a:avLst/>
              <a:gdLst/>
              <a:ahLst/>
              <a:cxnLst/>
              <a:rect l="l" t="t" r="r" b="b"/>
              <a:pathLst>
                <a:path w="2466975" h="762000">
                  <a:moveTo>
                    <a:pt x="2339975" y="0"/>
                  </a:moveTo>
                  <a:lnTo>
                    <a:pt x="127000" y="0"/>
                  </a:lnTo>
                  <a:lnTo>
                    <a:pt x="77565" y="9985"/>
                  </a:lnTo>
                  <a:lnTo>
                    <a:pt x="37196" y="37210"/>
                  </a:lnTo>
                  <a:lnTo>
                    <a:pt x="9980" y="77581"/>
                  </a:lnTo>
                  <a:lnTo>
                    <a:pt x="0" y="127000"/>
                  </a:lnTo>
                  <a:lnTo>
                    <a:pt x="0" y="635000"/>
                  </a:lnTo>
                  <a:lnTo>
                    <a:pt x="9980" y="684418"/>
                  </a:lnTo>
                  <a:lnTo>
                    <a:pt x="37196" y="724788"/>
                  </a:lnTo>
                  <a:lnTo>
                    <a:pt x="77565" y="752014"/>
                  </a:lnTo>
                  <a:lnTo>
                    <a:pt x="127000" y="762000"/>
                  </a:lnTo>
                  <a:lnTo>
                    <a:pt x="2339975" y="762000"/>
                  </a:lnTo>
                  <a:lnTo>
                    <a:pt x="2389393" y="752014"/>
                  </a:lnTo>
                  <a:lnTo>
                    <a:pt x="2429764" y="724788"/>
                  </a:lnTo>
                  <a:lnTo>
                    <a:pt x="2456989" y="684418"/>
                  </a:lnTo>
                  <a:lnTo>
                    <a:pt x="2466975" y="635000"/>
                  </a:lnTo>
                  <a:lnTo>
                    <a:pt x="2466975" y="127000"/>
                  </a:lnTo>
                  <a:lnTo>
                    <a:pt x="2456989" y="77581"/>
                  </a:lnTo>
                  <a:lnTo>
                    <a:pt x="2429764" y="37210"/>
                  </a:lnTo>
                  <a:lnTo>
                    <a:pt x="2389393" y="9985"/>
                  </a:lnTo>
                  <a:lnTo>
                    <a:pt x="2339975" y="0"/>
                  </a:lnTo>
                  <a:close/>
                </a:path>
              </a:pathLst>
            </a:custGeom>
            <a:solidFill>
              <a:srgbClr val="FFFFFF"/>
            </a:solidFill>
          </p:spPr>
          <p:txBody>
            <a:bodyPr wrap="square" lIns="0" tIns="0" rIns="0" bIns="0" rtlCol="0"/>
            <a:lstStyle/>
            <a:p/>
          </p:txBody>
        </p:sp>
        <p:pic>
          <p:nvPicPr>
            <p:cNvPr id="5" name="object 5"/>
            <p:cNvPicPr/>
            <p:nvPr/>
          </p:nvPicPr>
          <p:blipFill>
            <a:blip r:embed="rId3" cstate="print"/>
            <a:stretch>
              <a:fillRect/>
            </a:stretch>
          </p:blipFill>
          <p:spPr>
            <a:xfrm>
              <a:off x="342900" y="266700"/>
              <a:ext cx="1838325" cy="552450"/>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descr="/mnt/data/enhanced_slides/slide_13_enhanced.png"/>
            <p:cNvPicPr/>
            <p:nvPr/>
          </p:nvPicPr>
          <p:blipFill>
            <a:blip r:embed="rId2" cstate="print"/>
            <a:stretch>
              <a:fillRect/>
            </a:stretch>
          </p:blipFill>
          <p:spPr>
            <a:xfrm>
              <a:off x="0" y="0"/>
              <a:ext cx="12192000" cy="6857999"/>
            </a:xfrm>
            <a:prstGeom prst="rect">
              <a:avLst/>
            </a:prstGeom>
          </p:spPr>
        </p:pic>
        <p:sp>
          <p:nvSpPr>
            <p:cNvPr id="4" name="object 4"/>
            <p:cNvSpPr/>
            <p:nvPr/>
          </p:nvSpPr>
          <p:spPr>
            <a:xfrm>
              <a:off x="9467850" y="161925"/>
              <a:ext cx="2533650" cy="790575"/>
            </a:xfrm>
            <a:custGeom>
              <a:avLst/>
              <a:gdLst/>
              <a:ahLst/>
              <a:cxnLst/>
              <a:rect l="l" t="t" r="r" b="b"/>
              <a:pathLst>
                <a:path w="2533650" h="790575">
                  <a:moveTo>
                    <a:pt x="2401824" y="0"/>
                  </a:moveTo>
                  <a:lnTo>
                    <a:pt x="131825" y="0"/>
                  </a:lnTo>
                  <a:lnTo>
                    <a:pt x="90172" y="6723"/>
                  </a:lnTo>
                  <a:lnTo>
                    <a:pt x="53986" y="25444"/>
                  </a:lnTo>
                  <a:lnTo>
                    <a:pt x="25444" y="53986"/>
                  </a:lnTo>
                  <a:lnTo>
                    <a:pt x="6723" y="90172"/>
                  </a:lnTo>
                  <a:lnTo>
                    <a:pt x="0" y="131825"/>
                  </a:lnTo>
                  <a:lnTo>
                    <a:pt x="0" y="658749"/>
                  </a:lnTo>
                  <a:lnTo>
                    <a:pt x="6723" y="700402"/>
                  </a:lnTo>
                  <a:lnTo>
                    <a:pt x="25444" y="736588"/>
                  </a:lnTo>
                  <a:lnTo>
                    <a:pt x="53986" y="765130"/>
                  </a:lnTo>
                  <a:lnTo>
                    <a:pt x="90172" y="783851"/>
                  </a:lnTo>
                  <a:lnTo>
                    <a:pt x="131825" y="790575"/>
                  </a:lnTo>
                  <a:lnTo>
                    <a:pt x="2401824" y="790575"/>
                  </a:lnTo>
                  <a:lnTo>
                    <a:pt x="2443477" y="783851"/>
                  </a:lnTo>
                  <a:lnTo>
                    <a:pt x="2479663" y="765130"/>
                  </a:lnTo>
                  <a:lnTo>
                    <a:pt x="2508205" y="736588"/>
                  </a:lnTo>
                  <a:lnTo>
                    <a:pt x="2526926" y="700402"/>
                  </a:lnTo>
                  <a:lnTo>
                    <a:pt x="2533650" y="658749"/>
                  </a:lnTo>
                  <a:lnTo>
                    <a:pt x="2533650" y="131825"/>
                  </a:lnTo>
                  <a:lnTo>
                    <a:pt x="2526926" y="90172"/>
                  </a:lnTo>
                  <a:lnTo>
                    <a:pt x="2508205" y="53986"/>
                  </a:lnTo>
                  <a:lnTo>
                    <a:pt x="2479663" y="25444"/>
                  </a:lnTo>
                  <a:lnTo>
                    <a:pt x="2443477" y="6723"/>
                  </a:lnTo>
                  <a:lnTo>
                    <a:pt x="2401824" y="0"/>
                  </a:lnTo>
                  <a:close/>
                </a:path>
              </a:pathLst>
            </a:custGeom>
            <a:solidFill>
              <a:srgbClr val="FFFFFF"/>
            </a:solidFill>
          </p:spPr>
          <p:txBody>
            <a:bodyPr wrap="square" lIns="0" tIns="0" rIns="0" bIns="0" rtlCol="0"/>
            <a:lstStyle/>
            <a:p/>
          </p:txBody>
        </p:sp>
        <p:pic>
          <p:nvPicPr>
            <p:cNvPr id="5" name="object 5"/>
            <p:cNvPicPr/>
            <p:nvPr/>
          </p:nvPicPr>
          <p:blipFill>
            <a:blip r:embed="rId3" cstate="print"/>
            <a:stretch>
              <a:fillRect/>
            </a:stretch>
          </p:blipFill>
          <p:spPr>
            <a:xfrm>
              <a:off x="10134600" y="209550"/>
              <a:ext cx="1828800" cy="552450"/>
            </a:xfrm>
            <a:prstGeom prst="rect">
              <a:avLst/>
            </a:prstGeom>
          </p:spPr>
        </p:pic>
        <p:sp>
          <p:nvSpPr>
            <p:cNvPr id="6" name="object 6"/>
            <p:cNvSpPr/>
            <p:nvPr/>
          </p:nvSpPr>
          <p:spPr>
            <a:xfrm>
              <a:off x="4229100" y="942975"/>
              <a:ext cx="3724275" cy="742950"/>
            </a:xfrm>
            <a:custGeom>
              <a:avLst/>
              <a:gdLst/>
              <a:ahLst/>
              <a:cxnLst/>
              <a:rect l="l" t="t" r="r" b="b"/>
              <a:pathLst>
                <a:path w="3724275" h="742950">
                  <a:moveTo>
                    <a:pt x="3600450" y="0"/>
                  </a:moveTo>
                  <a:lnTo>
                    <a:pt x="123825" y="0"/>
                  </a:lnTo>
                  <a:lnTo>
                    <a:pt x="75652" y="9739"/>
                  </a:lnTo>
                  <a:lnTo>
                    <a:pt x="36290" y="36290"/>
                  </a:lnTo>
                  <a:lnTo>
                    <a:pt x="9739" y="75652"/>
                  </a:lnTo>
                  <a:lnTo>
                    <a:pt x="0" y="123825"/>
                  </a:lnTo>
                  <a:lnTo>
                    <a:pt x="0" y="619125"/>
                  </a:lnTo>
                  <a:lnTo>
                    <a:pt x="9739" y="667297"/>
                  </a:lnTo>
                  <a:lnTo>
                    <a:pt x="36290" y="706659"/>
                  </a:lnTo>
                  <a:lnTo>
                    <a:pt x="75652" y="733210"/>
                  </a:lnTo>
                  <a:lnTo>
                    <a:pt x="123825" y="742950"/>
                  </a:lnTo>
                  <a:lnTo>
                    <a:pt x="3600450" y="742950"/>
                  </a:lnTo>
                  <a:lnTo>
                    <a:pt x="3648622" y="733210"/>
                  </a:lnTo>
                  <a:lnTo>
                    <a:pt x="3687984" y="706659"/>
                  </a:lnTo>
                  <a:lnTo>
                    <a:pt x="3714535" y="667297"/>
                  </a:lnTo>
                  <a:lnTo>
                    <a:pt x="3724275" y="619125"/>
                  </a:lnTo>
                  <a:lnTo>
                    <a:pt x="3724275" y="123825"/>
                  </a:lnTo>
                  <a:lnTo>
                    <a:pt x="3714535" y="75652"/>
                  </a:lnTo>
                  <a:lnTo>
                    <a:pt x="3687984" y="36290"/>
                  </a:lnTo>
                  <a:lnTo>
                    <a:pt x="3648622" y="9739"/>
                  </a:lnTo>
                  <a:lnTo>
                    <a:pt x="3600450" y="0"/>
                  </a:lnTo>
                  <a:close/>
                </a:path>
              </a:pathLst>
            </a:custGeom>
            <a:solidFill>
              <a:srgbClr val="FFFFFF"/>
            </a:solidFill>
          </p:spPr>
          <p:txBody>
            <a:bodyPr wrap="square" lIns="0" tIns="0" rIns="0" bIns="0" rtlCol="0"/>
            <a:lstStyle/>
            <a:p/>
          </p:txBody>
        </p:sp>
        <p:pic>
          <p:nvPicPr>
            <p:cNvPr id="7" name="object 7" descr="A blue letter on a black background  AI-generated content may be incorrect."/>
            <p:cNvPicPr/>
            <p:nvPr/>
          </p:nvPicPr>
          <p:blipFill>
            <a:blip r:embed="rId4" cstate="print"/>
            <a:stretch>
              <a:fillRect/>
            </a:stretch>
          </p:blipFill>
          <p:spPr>
            <a:xfrm>
              <a:off x="4629150" y="1190625"/>
              <a:ext cx="3209925" cy="514350"/>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descr="/mnt/data/enhanced_slides/slide_14_enhanced.png"/>
            <p:cNvPicPr/>
            <p:nvPr/>
          </p:nvPicPr>
          <p:blipFill>
            <a:blip r:embed="rId2" cstate="print"/>
            <a:stretch>
              <a:fillRect/>
            </a:stretch>
          </p:blipFill>
          <p:spPr>
            <a:xfrm>
              <a:off x="0" y="0"/>
              <a:ext cx="12192000" cy="6857999"/>
            </a:xfrm>
            <a:prstGeom prst="rect">
              <a:avLst/>
            </a:prstGeom>
          </p:spPr>
        </p:pic>
        <p:sp>
          <p:nvSpPr>
            <p:cNvPr id="4" name="object 4"/>
            <p:cNvSpPr/>
            <p:nvPr/>
          </p:nvSpPr>
          <p:spPr>
            <a:xfrm>
              <a:off x="9467850" y="161925"/>
              <a:ext cx="2533650" cy="790575"/>
            </a:xfrm>
            <a:custGeom>
              <a:avLst/>
              <a:gdLst/>
              <a:ahLst/>
              <a:cxnLst/>
              <a:rect l="l" t="t" r="r" b="b"/>
              <a:pathLst>
                <a:path w="2533650" h="790575">
                  <a:moveTo>
                    <a:pt x="2401824" y="0"/>
                  </a:moveTo>
                  <a:lnTo>
                    <a:pt x="131825" y="0"/>
                  </a:lnTo>
                  <a:lnTo>
                    <a:pt x="90172" y="6723"/>
                  </a:lnTo>
                  <a:lnTo>
                    <a:pt x="53986" y="25444"/>
                  </a:lnTo>
                  <a:lnTo>
                    <a:pt x="25444" y="53986"/>
                  </a:lnTo>
                  <a:lnTo>
                    <a:pt x="6723" y="90172"/>
                  </a:lnTo>
                  <a:lnTo>
                    <a:pt x="0" y="131825"/>
                  </a:lnTo>
                  <a:lnTo>
                    <a:pt x="0" y="658749"/>
                  </a:lnTo>
                  <a:lnTo>
                    <a:pt x="6723" y="700402"/>
                  </a:lnTo>
                  <a:lnTo>
                    <a:pt x="25444" y="736588"/>
                  </a:lnTo>
                  <a:lnTo>
                    <a:pt x="53986" y="765130"/>
                  </a:lnTo>
                  <a:lnTo>
                    <a:pt x="90172" y="783851"/>
                  </a:lnTo>
                  <a:lnTo>
                    <a:pt x="131825" y="790575"/>
                  </a:lnTo>
                  <a:lnTo>
                    <a:pt x="2401824" y="790575"/>
                  </a:lnTo>
                  <a:lnTo>
                    <a:pt x="2443477" y="783851"/>
                  </a:lnTo>
                  <a:lnTo>
                    <a:pt x="2479663" y="765130"/>
                  </a:lnTo>
                  <a:lnTo>
                    <a:pt x="2508205" y="736588"/>
                  </a:lnTo>
                  <a:lnTo>
                    <a:pt x="2526926" y="700402"/>
                  </a:lnTo>
                  <a:lnTo>
                    <a:pt x="2533650" y="658749"/>
                  </a:lnTo>
                  <a:lnTo>
                    <a:pt x="2533650" y="131825"/>
                  </a:lnTo>
                  <a:lnTo>
                    <a:pt x="2526926" y="90172"/>
                  </a:lnTo>
                  <a:lnTo>
                    <a:pt x="2508205" y="53986"/>
                  </a:lnTo>
                  <a:lnTo>
                    <a:pt x="2479663" y="25444"/>
                  </a:lnTo>
                  <a:lnTo>
                    <a:pt x="2443477" y="6723"/>
                  </a:lnTo>
                  <a:lnTo>
                    <a:pt x="2401824" y="0"/>
                  </a:lnTo>
                  <a:close/>
                </a:path>
              </a:pathLst>
            </a:custGeom>
            <a:solidFill>
              <a:srgbClr val="FFFFFF"/>
            </a:solidFill>
          </p:spPr>
          <p:txBody>
            <a:bodyPr wrap="square" lIns="0" tIns="0" rIns="0" bIns="0" rtlCol="0"/>
            <a:lstStyle/>
            <a:p/>
          </p:txBody>
        </p:sp>
        <p:pic>
          <p:nvPicPr>
            <p:cNvPr id="5" name="object 5"/>
            <p:cNvPicPr/>
            <p:nvPr/>
          </p:nvPicPr>
          <p:blipFill>
            <a:blip r:embed="rId3" cstate="print"/>
            <a:stretch>
              <a:fillRect/>
            </a:stretch>
          </p:blipFill>
          <p:spPr>
            <a:xfrm>
              <a:off x="10134600" y="209550"/>
              <a:ext cx="1828800" cy="552450"/>
            </a:xfrm>
            <a:prstGeom prst="rect">
              <a:avLst/>
            </a:prstGeom>
          </p:spPr>
        </p:pic>
        <p:sp>
          <p:nvSpPr>
            <p:cNvPr id="6" name="object 6"/>
            <p:cNvSpPr/>
            <p:nvPr/>
          </p:nvSpPr>
          <p:spPr>
            <a:xfrm>
              <a:off x="4238625" y="209550"/>
              <a:ext cx="3733800" cy="742950"/>
            </a:xfrm>
            <a:custGeom>
              <a:avLst/>
              <a:gdLst/>
              <a:ahLst/>
              <a:cxnLst/>
              <a:rect l="l" t="t" r="r" b="b"/>
              <a:pathLst>
                <a:path w="3733800" h="742950">
                  <a:moveTo>
                    <a:pt x="3609975" y="0"/>
                  </a:moveTo>
                  <a:lnTo>
                    <a:pt x="123825" y="0"/>
                  </a:lnTo>
                  <a:lnTo>
                    <a:pt x="75652" y="9739"/>
                  </a:lnTo>
                  <a:lnTo>
                    <a:pt x="36290" y="36290"/>
                  </a:lnTo>
                  <a:lnTo>
                    <a:pt x="9739" y="75652"/>
                  </a:lnTo>
                  <a:lnTo>
                    <a:pt x="0" y="123825"/>
                  </a:lnTo>
                  <a:lnTo>
                    <a:pt x="0" y="619125"/>
                  </a:lnTo>
                  <a:lnTo>
                    <a:pt x="9739" y="667297"/>
                  </a:lnTo>
                  <a:lnTo>
                    <a:pt x="36290" y="706659"/>
                  </a:lnTo>
                  <a:lnTo>
                    <a:pt x="75652" y="733210"/>
                  </a:lnTo>
                  <a:lnTo>
                    <a:pt x="123825" y="742950"/>
                  </a:lnTo>
                  <a:lnTo>
                    <a:pt x="3609975" y="742950"/>
                  </a:lnTo>
                  <a:lnTo>
                    <a:pt x="3658147" y="733210"/>
                  </a:lnTo>
                  <a:lnTo>
                    <a:pt x="3697509" y="706659"/>
                  </a:lnTo>
                  <a:lnTo>
                    <a:pt x="3724060" y="667297"/>
                  </a:lnTo>
                  <a:lnTo>
                    <a:pt x="3733800" y="619125"/>
                  </a:lnTo>
                  <a:lnTo>
                    <a:pt x="3733800" y="123825"/>
                  </a:lnTo>
                  <a:lnTo>
                    <a:pt x="3724060" y="75652"/>
                  </a:lnTo>
                  <a:lnTo>
                    <a:pt x="3697509" y="36290"/>
                  </a:lnTo>
                  <a:lnTo>
                    <a:pt x="3658147" y="9739"/>
                  </a:lnTo>
                  <a:lnTo>
                    <a:pt x="3609975" y="0"/>
                  </a:lnTo>
                  <a:close/>
                </a:path>
              </a:pathLst>
            </a:custGeom>
            <a:solidFill>
              <a:srgbClr val="FFFFFF"/>
            </a:solidFill>
          </p:spPr>
          <p:txBody>
            <a:bodyPr wrap="square" lIns="0" tIns="0" rIns="0" bIns="0" rtlCol="0"/>
            <a:lstStyle/>
            <a:p/>
          </p:txBody>
        </p:sp>
        <p:pic>
          <p:nvPicPr>
            <p:cNvPr id="7" name="object 7" descr="A blue letter on a black background  AI-generated content may be incorrect."/>
            <p:cNvPicPr/>
            <p:nvPr/>
          </p:nvPicPr>
          <p:blipFill>
            <a:blip r:embed="rId4" cstate="print"/>
            <a:stretch>
              <a:fillRect/>
            </a:stretch>
          </p:blipFill>
          <p:spPr>
            <a:xfrm>
              <a:off x="4505325" y="485775"/>
              <a:ext cx="3209925" cy="514350"/>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descr="/mnt/data/enhanced_slides/slide_15_enhanced.png"/>
            <p:cNvPicPr/>
            <p:nvPr/>
          </p:nvPicPr>
          <p:blipFill>
            <a:blip r:embed="rId2" cstate="print"/>
            <a:stretch>
              <a:fillRect/>
            </a:stretch>
          </p:blipFill>
          <p:spPr>
            <a:xfrm>
              <a:off x="0" y="0"/>
              <a:ext cx="12192000" cy="6857999"/>
            </a:xfrm>
            <a:prstGeom prst="rect">
              <a:avLst/>
            </a:prstGeom>
          </p:spPr>
        </p:pic>
        <p:sp>
          <p:nvSpPr>
            <p:cNvPr id="4" name="object 4"/>
            <p:cNvSpPr/>
            <p:nvPr/>
          </p:nvSpPr>
          <p:spPr>
            <a:xfrm>
              <a:off x="9467850" y="161925"/>
              <a:ext cx="2533650" cy="790575"/>
            </a:xfrm>
            <a:custGeom>
              <a:avLst/>
              <a:gdLst/>
              <a:ahLst/>
              <a:cxnLst/>
              <a:rect l="l" t="t" r="r" b="b"/>
              <a:pathLst>
                <a:path w="2533650" h="790575">
                  <a:moveTo>
                    <a:pt x="2401824" y="0"/>
                  </a:moveTo>
                  <a:lnTo>
                    <a:pt x="131825" y="0"/>
                  </a:lnTo>
                  <a:lnTo>
                    <a:pt x="90172" y="6723"/>
                  </a:lnTo>
                  <a:lnTo>
                    <a:pt x="53986" y="25444"/>
                  </a:lnTo>
                  <a:lnTo>
                    <a:pt x="25444" y="53986"/>
                  </a:lnTo>
                  <a:lnTo>
                    <a:pt x="6723" y="90172"/>
                  </a:lnTo>
                  <a:lnTo>
                    <a:pt x="0" y="131825"/>
                  </a:lnTo>
                  <a:lnTo>
                    <a:pt x="0" y="658749"/>
                  </a:lnTo>
                  <a:lnTo>
                    <a:pt x="6723" y="700402"/>
                  </a:lnTo>
                  <a:lnTo>
                    <a:pt x="25444" y="736588"/>
                  </a:lnTo>
                  <a:lnTo>
                    <a:pt x="53986" y="765130"/>
                  </a:lnTo>
                  <a:lnTo>
                    <a:pt x="90172" y="783851"/>
                  </a:lnTo>
                  <a:lnTo>
                    <a:pt x="131825" y="790575"/>
                  </a:lnTo>
                  <a:lnTo>
                    <a:pt x="2401824" y="790575"/>
                  </a:lnTo>
                  <a:lnTo>
                    <a:pt x="2443477" y="783851"/>
                  </a:lnTo>
                  <a:lnTo>
                    <a:pt x="2479663" y="765130"/>
                  </a:lnTo>
                  <a:lnTo>
                    <a:pt x="2508205" y="736588"/>
                  </a:lnTo>
                  <a:lnTo>
                    <a:pt x="2526926" y="700402"/>
                  </a:lnTo>
                  <a:lnTo>
                    <a:pt x="2533650" y="658749"/>
                  </a:lnTo>
                  <a:lnTo>
                    <a:pt x="2533650" y="131825"/>
                  </a:lnTo>
                  <a:lnTo>
                    <a:pt x="2526926" y="90172"/>
                  </a:lnTo>
                  <a:lnTo>
                    <a:pt x="2508205" y="53986"/>
                  </a:lnTo>
                  <a:lnTo>
                    <a:pt x="2479663" y="25444"/>
                  </a:lnTo>
                  <a:lnTo>
                    <a:pt x="2443477" y="6723"/>
                  </a:lnTo>
                  <a:lnTo>
                    <a:pt x="2401824" y="0"/>
                  </a:lnTo>
                  <a:close/>
                </a:path>
              </a:pathLst>
            </a:custGeom>
            <a:solidFill>
              <a:srgbClr val="FFFFFF"/>
            </a:solidFill>
          </p:spPr>
          <p:txBody>
            <a:bodyPr wrap="square" lIns="0" tIns="0" rIns="0" bIns="0" rtlCol="0"/>
            <a:lstStyle/>
            <a:p/>
          </p:txBody>
        </p:sp>
        <p:pic>
          <p:nvPicPr>
            <p:cNvPr id="5" name="object 5"/>
            <p:cNvPicPr/>
            <p:nvPr/>
          </p:nvPicPr>
          <p:blipFill>
            <a:blip r:embed="rId3" cstate="print"/>
            <a:stretch>
              <a:fillRect/>
            </a:stretch>
          </p:blipFill>
          <p:spPr>
            <a:xfrm>
              <a:off x="10134600" y="209550"/>
              <a:ext cx="1828800" cy="552450"/>
            </a:xfrm>
            <a:prstGeom prst="rect">
              <a:avLst/>
            </a:prstGeom>
          </p:spPr>
        </p:pic>
        <p:sp>
          <p:nvSpPr>
            <p:cNvPr id="6" name="object 6"/>
            <p:cNvSpPr/>
            <p:nvPr/>
          </p:nvSpPr>
          <p:spPr>
            <a:xfrm>
              <a:off x="4048125" y="180975"/>
              <a:ext cx="3733800" cy="742950"/>
            </a:xfrm>
            <a:custGeom>
              <a:avLst/>
              <a:gdLst/>
              <a:ahLst/>
              <a:cxnLst/>
              <a:rect l="l" t="t" r="r" b="b"/>
              <a:pathLst>
                <a:path w="3733800" h="742950">
                  <a:moveTo>
                    <a:pt x="3609975" y="0"/>
                  </a:moveTo>
                  <a:lnTo>
                    <a:pt x="123825" y="0"/>
                  </a:lnTo>
                  <a:lnTo>
                    <a:pt x="75652" y="9739"/>
                  </a:lnTo>
                  <a:lnTo>
                    <a:pt x="36290" y="36290"/>
                  </a:lnTo>
                  <a:lnTo>
                    <a:pt x="9739" y="75652"/>
                  </a:lnTo>
                  <a:lnTo>
                    <a:pt x="0" y="123825"/>
                  </a:lnTo>
                  <a:lnTo>
                    <a:pt x="0" y="619125"/>
                  </a:lnTo>
                  <a:lnTo>
                    <a:pt x="9739" y="667297"/>
                  </a:lnTo>
                  <a:lnTo>
                    <a:pt x="36290" y="706659"/>
                  </a:lnTo>
                  <a:lnTo>
                    <a:pt x="75652" y="733210"/>
                  </a:lnTo>
                  <a:lnTo>
                    <a:pt x="123825" y="742950"/>
                  </a:lnTo>
                  <a:lnTo>
                    <a:pt x="3609975" y="742950"/>
                  </a:lnTo>
                  <a:lnTo>
                    <a:pt x="3658147" y="733210"/>
                  </a:lnTo>
                  <a:lnTo>
                    <a:pt x="3697509" y="706659"/>
                  </a:lnTo>
                  <a:lnTo>
                    <a:pt x="3724060" y="667297"/>
                  </a:lnTo>
                  <a:lnTo>
                    <a:pt x="3733800" y="619125"/>
                  </a:lnTo>
                  <a:lnTo>
                    <a:pt x="3733800" y="123825"/>
                  </a:lnTo>
                  <a:lnTo>
                    <a:pt x="3724060" y="75652"/>
                  </a:lnTo>
                  <a:lnTo>
                    <a:pt x="3697509" y="36290"/>
                  </a:lnTo>
                  <a:lnTo>
                    <a:pt x="3658147" y="9739"/>
                  </a:lnTo>
                  <a:lnTo>
                    <a:pt x="3609975" y="0"/>
                  </a:lnTo>
                  <a:close/>
                </a:path>
              </a:pathLst>
            </a:custGeom>
            <a:solidFill>
              <a:srgbClr val="FFFFFF"/>
            </a:solidFill>
          </p:spPr>
          <p:txBody>
            <a:bodyPr wrap="square" lIns="0" tIns="0" rIns="0" bIns="0" rtlCol="0"/>
            <a:lstStyle/>
            <a:p/>
          </p:txBody>
        </p:sp>
        <p:pic>
          <p:nvPicPr>
            <p:cNvPr id="7" name="object 7" descr="A blue letter on a black background  AI-generated content may be incorrect."/>
            <p:cNvPicPr/>
            <p:nvPr/>
          </p:nvPicPr>
          <p:blipFill>
            <a:blip r:embed="rId4" cstate="print"/>
            <a:stretch>
              <a:fillRect/>
            </a:stretch>
          </p:blipFill>
          <p:spPr>
            <a:xfrm>
              <a:off x="4314825" y="428625"/>
              <a:ext cx="3209925" cy="514350"/>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descr="/mnt/data/enhanced_slides/slide_16_enhanced.png"/>
            <p:cNvPicPr/>
            <p:nvPr/>
          </p:nvPicPr>
          <p:blipFill>
            <a:blip r:embed="rId2" cstate="print"/>
            <a:stretch>
              <a:fillRect/>
            </a:stretch>
          </p:blipFill>
          <p:spPr>
            <a:xfrm>
              <a:off x="0" y="0"/>
              <a:ext cx="12192000" cy="6857999"/>
            </a:xfrm>
            <a:prstGeom prst="rect">
              <a:avLst/>
            </a:prstGeom>
          </p:spPr>
        </p:pic>
        <p:sp>
          <p:nvSpPr>
            <p:cNvPr id="4" name="object 4"/>
            <p:cNvSpPr/>
            <p:nvPr/>
          </p:nvSpPr>
          <p:spPr>
            <a:xfrm>
              <a:off x="9467850" y="161925"/>
              <a:ext cx="2533650" cy="790575"/>
            </a:xfrm>
            <a:custGeom>
              <a:avLst/>
              <a:gdLst/>
              <a:ahLst/>
              <a:cxnLst/>
              <a:rect l="l" t="t" r="r" b="b"/>
              <a:pathLst>
                <a:path w="2533650" h="790575">
                  <a:moveTo>
                    <a:pt x="2401824" y="0"/>
                  </a:moveTo>
                  <a:lnTo>
                    <a:pt x="131825" y="0"/>
                  </a:lnTo>
                  <a:lnTo>
                    <a:pt x="90172" y="6723"/>
                  </a:lnTo>
                  <a:lnTo>
                    <a:pt x="53986" y="25444"/>
                  </a:lnTo>
                  <a:lnTo>
                    <a:pt x="25444" y="53986"/>
                  </a:lnTo>
                  <a:lnTo>
                    <a:pt x="6723" y="90172"/>
                  </a:lnTo>
                  <a:lnTo>
                    <a:pt x="0" y="131825"/>
                  </a:lnTo>
                  <a:lnTo>
                    <a:pt x="0" y="658749"/>
                  </a:lnTo>
                  <a:lnTo>
                    <a:pt x="6723" y="700402"/>
                  </a:lnTo>
                  <a:lnTo>
                    <a:pt x="25444" y="736588"/>
                  </a:lnTo>
                  <a:lnTo>
                    <a:pt x="53986" y="765130"/>
                  </a:lnTo>
                  <a:lnTo>
                    <a:pt x="90172" y="783851"/>
                  </a:lnTo>
                  <a:lnTo>
                    <a:pt x="131825" y="790575"/>
                  </a:lnTo>
                  <a:lnTo>
                    <a:pt x="2401824" y="790575"/>
                  </a:lnTo>
                  <a:lnTo>
                    <a:pt x="2443477" y="783851"/>
                  </a:lnTo>
                  <a:lnTo>
                    <a:pt x="2479663" y="765130"/>
                  </a:lnTo>
                  <a:lnTo>
                    <a:pt x="2508205" y="736588"/>
                  </a:lnTo>
                  <a:lnTo>
                    <a:pt x="2526926" y="700402"/>
                  </a:lnTo>
                  <a:lnTo>
                    <a:pt x="2533650" y="658749"/>
                  </a:lnTo>
                  <a:lnTo>
                    <a:pt x="2533650" y="131825"/>
                  </a:lnTo>
                  <a:lnTo>
                    <a:pt x="2526926" y="90172"/>
                  </a:lnTo>
                  <a:lnTo>
                    <a:pt x="2508205" y="53986"/>
                  </a:lnTo>
                  <a:lnTo>
                    <a:pt x="2479663" y="25444"/>
                  </a:lnTo>
                  <a:lnTo>
                    <a:pt x="2443477" y="6723"/>
                  </a:lnTo>
                  <a:lnTo>
                    <a:pt x="2401824" y="0"/>
                  </a:lnTo>
                  <a:close/>
                </a:path>
              </a:pathLst>
            </a:custGeom>
            <a:solidFill>
              <a:srgbClr val="FFFFFF"/>
            </a:solidFill>
          </p:spPr>
          <p:txBody>
            <a:bodyPr wrap="square" lIns="0" tIns="0" rIns="0" bIns="0" rtlCol="0"/>
            <a:lstStyle/>
            <a:p/>
          </p:txBody>
        </p:sp>
        <p:pic>
          <p:nvPicPr>
            <p:cNvPr id="5" name="object 5"/>
            <p:cNvPicPr/>
            <p:nvPr/>
          </p:nvPicPr>
          <p:blipFill>
            <a:blip r:embed="rId3" cstate="print"/>
            <a:stretch>
              <a:fillRect/>
            </a:stretch>
          </p:blipFill>
          <p:spPr>
            <a:xfrm>
              <a:off x="10134600" y="209550"/>
              <a:ext cx="1828800" cy="552450"/>
            </a:xfrm>
            <a:prstGeom prst="rect">
              <a:avLst/>
            </a:prstGeom>
          </p:spPr>
        </p:pic>
        <p:sp>
          <p:nvSpPr>
            <p:cNvPr id="6" name="object 6"/>
            <p:cNvSpPr/>
            <p:nvPr/>
          </p:nvSpPr>
          <p:spPr>
            <a:xfrm>
              <a:off x="4048125" y="180975"/>
              <a:ext cx="3733800" cy="742950"/>
            </a:xfrm>
            <a:custGeom>
              <a:avLst/>
              <a:gdLst/>
              <a:ahLst/>
              <a:cxnLst/>
              <a:rect l="l" t="t" r="r" b="b"/>
              <a:pathLst>
                <a:path w="3733800" h="742950">
                  <a:moveTo>
                    <a:pt x="3609975" y="0"/>
                  </a:moveTo>
                  <a:lnTo>
                    <a:pt x="123825" y="0"/>
                  </a:lnTo>
                  <a:lnTo>
                    <a:pt x="75652" y="9739"/>
                  </a:lnTo>
                  <a:lnTo>
                    <a:pt x="36290" y="36290"/>
                  </a:lnTo>
                  <a:lnTo>
                    <a:pt x="9739" y="75652"/>
                  </a:lnTo>
                  <a:lnTo>
                    <a:pt x="0" y="123825"/>
                  </a:lnTo>
                  <a:lnTo>
                    <a:pt x="0" y="619125"/>
                  </a:lnTo>
                  <a:lnTo>
                    <a:pt x="9739" y="667297"/>
                  </a:lnTo>
                  <a:lnTo>
                    <a:pt x="36290" y="706659"/>
                  </a:lnTo>
                  <a:lnTo>
                    <a:pt x="75652" y="733210"/>
                  </a:lnTo>
                  <a:lnTo>
                    <a:pt x="123825" y="742950"/>
                  </a:lnTo>
                  <a:lnTo>
                    <a:pt x="3609975" y="742950"/>
                  </a:lnTo>
                  <a:lnTo>
                    <a:pt x="3658147" y="733210"/>
                  </a:lnTo>
                  <a:lnTo>
                    <a:pt x="3697509" y="706659"/>
                  </a:lnTo>
                  <a:lnTo>
                    <a:pt x="3724060" y="667297"/>
                  </a:lnTo>
                  <a:lnTo>
                    <a:pt x="3733800" y="619125"/>
                  </a:lnTo>
                  <a:lnTo>
                    <a:pt x="3733800" y="123825"/>
                  </a:lnTo>
                  <a:lnTo>
                    <a:pt x="3724060" y="75652"/>
                  </a:lnTo>
                  <a:lnTo>
                    <a:pt x="3697509" y="36290"/>
                  </a:lnTo>
                  <a:lnTo>
                    <a:pt x="3658147" y="9739"/>
                  </a:lnTo>
                  <a:lnTo>
                    <a:pt x="3609975" y="0"/>
                  </a:lnTo>
                  <a:close/>
                </a:path>
              </a:pathLst>
            </a:custGeom>
            <a:solidFill>
              <a:srgbClr val="FFFFFF"/>
            </a:solidFill>
          </p:spPr>
          <p:txBody>
            <a:bodyPr wrap="square" lIns="0" tIns="0" rIns="0" bIns="0" rtlCol="0"/>
            <a:lstStyle/>
            <a:p/>
          </p:txBody>
        </p:sp>
        <p:pic>
          <p:nvPicPr>
            <p:cNvPr id="7" name="object 7" descr="A blue letter on a black background  AI-generated content may be incorrect."/>
            <p:cNvPicPr/>
            <p:nvPr/>
          </p:nvPicPr>
          <p:blipFill>
            <a:blip r:embed="rId4" cstate="print"/>
            <a:stretch>
              <a:fillRect/>
            </a:stretch>
          </p:blipFill>
          <p:spPr>
            <a:xfrm>
              <a:off x="4314825" y="295275"/>
              <a:ext cx="3209925" cy="504825"/>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descr="/mnt/data/enhanced_slides/slide_10_enhanced.png"/>
            <p:cNvPicPr/>
            <p:nvPr/>
          </p:nvPicPr>
          <p:blipFill>
            <a:blip r:embed="rId2" cstate="print"/>
            <a:stretch>
              <a:fillRect/>
            </a:stretch>
          </p:blipFill>
          <p:spPr>
            <a:xfrm>
              <a:off x="0" y="0"/>
              <a:ext cx="12192000" cy="6857999"/>
            </a:xfrm>
            <a:prstGeom prst="rect">
              <a:avLst/>
            </a:prstGeom>
          </p:spPr>
        </p:pic>
        <p:sp>
          <p:nvSpPr>
            <p:cNvPr id="4" name="object 4"/>
            <p:cNvSpPr/>
            <p:nvPr/>
          </p:nvSpPr>
          <p:spPr>
            <a:xfrm>
              <a:off x="9467850" y="161925"/>
              <a:ext cx="2533650" cy="790575"/>
            </a:xfrm>
            <a:custGeom>
              <a:avLst/>
              <a:gdLst/>
              <a:ahLst/>
              <a:cxnLst/>
              <a:rect l="l" t="t" r="r" b="b"/>
              <a:pathLst>
                <a:path w="2533650" h="790575">
                  <a:moveTo>
                    <a:pt x="2401824" y="0"/>
                  </a:moveTo>
                  <a:lnTo>
                    <a:pt x="131825" y="0"/>
                  </a:lnTo>
                  <a:lnTo>
                    <a:pt x="90172" y="6723"/>
                  </a:lnTo>
                  <a:lnTo>
                    <a:pt x="53986" y="25444"/>
                  </a:lnTo>
                  <a:lnTo>
                    <a:pt x="25444" y="53986"/>
                  </a:lnTo>
                  <a:lnTo>
                    <a:pt x="6723" y="90172"/>
                  </a:lnTo>
                  <a:lnTo>
                    <a:pt x="0" y="131825"/>
                  </a:lnTo>
                  <a:lnTo>
                    <a:pt x="0" y="658749"/>
                  </a:lnTo>
                  <a:lnTo>
                    <a:pt x="6723" y="700402"/>
                  </a:lnTo>
                  <a:lnTo>
                    <a:pt x="25444" y="736588"/>
                  </a:lnTo>
                  <a:lnTo>
                    <a:pt x="53986" y="765130"/>
                  </a:lnTo>
                  <a:lnTo>
                    <a:pt x="90172" y="783851"/>
                  </a:lnTo>
                  <a:lnTo>
                    <a:pt x="131825" y="790575"/>
                  </a:lnTo>
                  <a:lnTo>
                    <a:pt x="2401824" y="790575"/>
                  </a:lnTo>
                  <a:lnTo>
                    <a:pt x="2443477" y="783851"/>
                  </a:lnTo>
                  <a:lnTo>
                    <a:pt x="2479663" y="765130"/>
                  </a:lnTo>
                  <a:lnTo>
                    <a:pt x="2508205" y="736588"/>
                  </a:lnTo>
                  <a:lnTo>
                    <a:pt x="2526926" y="700402"/>
                  </a:lnTo>
                  <a:lnTo>
                    <a:pt x="2533650" y="658749"/>
                  </a:lnTo>
                  <a:lnTo>
                    <a:pt x="2533650" y="131825"/>
                  </a:lnTo>
                  <a:lnTo>
                    <a:pt x="2526926" y="90172"/>
                  </a:lnTo>
                  <a:lnTo>
                    <a:pt x="2508205" y="53986"/>
                  </a:lnTo>
                  <a:lnTo>
                    <a:pt x="2479663" y="25444"/>
                  </a:lnTo>
                  <a:lnTo>
                    <a:pt x="2443477" y="6723"/>
                  </a:lnTo>
                  <a:lnTo>
                    <a:pt x="2401824" y="0"/>
                  </a:lnTo>
                  <a:close/>
                </a:path>
              </a:pathLst>
            </a:custGeom>
            <a:solidFill>
              <a:srgbClr val="FFFFFF"/>
            </a:solidFill>
          </p:spPr>
          <p:txBody>
            <a:bodyPr wrap="square" lIns="0" tIns="0" rIns="0" bIns="0" rtlCol="0"/>
            <a:lstStyle/>
            <a:p/>
          </p:txBody>
        </p:sp>
        <p:pic>
          <p:nvPicPr>
            <p:cNvPr id="5" name="object 5"/>
            <p:cNvPicPr/>
            <p:nvPr/>
          </p:nvPicPr>
          <p:blipFill>
            <a:blip r:embed="rId3" cstate="print"/>
            <a:stretch>
              <a:fillRect/>
            </a:stretch>
          </p:blipFill>
          <p:spPr>
            <a:xfrm>
              <a:off x="10134600" y="209550"/>
              <a:ext cx="1828800" cy="552450"/>
            </a:xfrm>
            <a:prstGeom prst="rect">
              <a:avLst/>
            </a:prstGeom>
          </p:spPr>
        </p:pic>
        <p:sp>
          <p:nvSpPr>
            <p:cNvPr id="6" name="object 6"/>
            <p:cNvSpPr/>
            <p:nvPr/>
          </p:nvSpPr>
          <p:spPr>
            <a:xfrm>
              <a:off x="2505075" y="219075"/>
              <a:ext cx="3733800" cy="847725"/>
            </a:xfrm>
            <a:custGeom>
              <a:avLst/>
              <a:gdLst/>
              <a:ahLst/>
              <a:cxnLst/>
              <a:rect l="l" t="t" r="r" b="b"/>
              <a:pathLst>
                <a:path w="3733800" h="847725">
                  <a:moveTo>
                    <a:pt x="3592449" y="0"/>
                  </a:moveTo>
                  <a:lnTo>
                    <a:pt x="141350" y="0"/>
                  </a:lnTo>
                  <a:lnTo>
                    <a:pt x="96658" y="7202"/>
                  </a:lnTo>
                  <a:lnTo>
                    <a:pt x="57854" y="27261"/>
                  </a:lnTo>
                  <a:lnTo>
                    <a:pt x="27261" y="57854"/>
                  </a:lnTo>
                  <a:lnTo>
                    <a:pt x="7202" y="96658"/>
                  </a:lnTo>
                  <a:lnTo>
                    <a:pt x="0" y="141350"/>
                  </a:lnTo>
                  <a:lnTo>
                    <a:pt x="0" y="706374"/>
                  </a:lnTo>
                  <a:lnTo>
                    <a:pt x="7202" y="751066"/>
                  </a:lnTo>
                  <a:lnTo>
                    <a:pt x="27261" y="789870"/>
                  </a:lnTo>
                  <a:lnTo>
                    <a:pt x="57854" y="820463"/>
                  </a:lnTo>
                  <a:lnTo>
                    <a:pt x="96658" y="840522"/>
                  </a:lnTo>
                  <a:lnTo>
                    <a:pt x="141350" y="847725"/>
                  </a:lnTo>
                  <a:lnTo>
                    <a:pt x="3592449" y="847725"/>
                  </a:lnTo>
                  <a:lnTo>
                    <a:pt x="3637141" y="840522"/>
                  </a:lnTo>
                  <a:lnTo>
                    <a:pt x="3675945" y="820463"/>
                  </a:lnTo>
                  <a:lnTo>
                    <a:pt x="3706538" y="789870"/>
                  </a:lnTo>
                  <a:lnTo>
                    <a:pt x="3726597" y="751066"/>
                  </a:lnTo>
                  <a:lnTo>
                    <a:pt x="3733800" y="706374"/>
                  </a:lnTo>
                  <a:lnTo>
                    <a:pt x="3733800" y="141350"/>
                  </a:lnTo>
                  <a:lnTo>
                    <a:pt x="3726597" y="96658"/>
                  </a:lnTo>
                  <a:lnTo>
                    <a:pt x="3706538" y="57854"/>
                  </a:lnTo>
                  <a:lnTo>
                    <a:pt x="3675945" y="27261"/>
                  </a:lnTo>
                  <a:lnTo>
                    <a:pt x="3637141" y="7202"/>
                  </a:lnTo>
                  <a:lnTo>
                    <a:pt x="3592449" y="0"/>
                  </a:lnTo>
                  <a:close/>
                </a:path>
              </a:pathLst>
            </a:custGeom>
            <a:solidFill>
              <a:srgbClr val="FFFFFF"/>
            </a:solidFill>
          </p:spPr>
          <p:txBody>
            <a:bodyPr wrap="square" lIns="0" tIns="0" rIns="0" bIns="0" rtlCol="0"/>
            <a:lstStyle/>
            <a:p/>
          </p:txBody>
        </p:sp>
        <p:pic>
          <p:nvPicPr>
            <p:cNvPr id="7" name="object 7" descr="A yellow and green arrow  AI-generated content may be incorrect."/>
            <p:cNvPicPr/>
            <p:nvPr/>
          </p:nvPicPr>
          <p:blipFill>
            <a:blip r:embed="rId4" cstate="print"/>
            <a:stretch>
              <a:fillRect/>
            </a:stretch>
          </p:blipFill>
          <p:spPr>
            <a:xfrm>
              <a:off x="1447800" y="161925"/>
              <a:ext cx="2724150" cy="1057275"/>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descr="/mnt/data/enhanced_slides/slide_09_enhanced.png"/>
            <p:cNvPicPr/>
            <p:nvPr/>
          </p:nvPicPr>
          <p:blipFill>
            <a:blip r:embed="rId2" cstate="print"/>
            <a:stretch>
              <a:fillRect/>
            </a:stretch>
          </p:blipFill>
          <p:spPr>
            <a:xfrm>
              <a:off x="0" y="0"/>
              <a:ext cx="12192000" cy="6857999"/>
            </a:xfrm>
            <a:prstGeom prst="rect">
              <a:avLst/>
            </a:prstGeom>
          </p:spPr>
        </p:pic>
        <p:sp>
          <p:nvSpPr>
            <p:cNvPr id="4" name="object 4"/>
            <p:cNvSpPr/>
            <p:nvPr/>
          </p:nvSpPr>
          <p:spPr>
            <a:xfrm>
              <a:off x="9467850" y="161925"/>
              <a:ext cx="2533650" cy="790575"/>
            </a:xfrm>
            <a:custGeom>
              <a:avLst/>
              <a:gdLst/>
              <a:ahLst/>
              <a:cxnLst/>
              <a:rect l="l" t="t" r="r" b="b"/>
              <a:pathLst>
                <a:path w="2533650" h="790575">
                  <a:moveTo>
                    <a:pt x="2401824" y="0"/>
                  </a:moveTo>
                  <a:lnTo>
                    <a:pt x="131825" y="0"/>
                  </a:lnTo>
                  <a:lnTo>
                    <a:pt x="90172" y="6723"/>
                  </a:lnTo>
                  <a:lnTo>
                    <a:pt x="53986" y="25444"/>
                  </a:lnTo>
                  <a:lnTo>
                    <a:pt x="25444" y="53986"/>
                  </a:lnTo>
                  <a:lnTo>
                    <a:pt x="6723" y="90172"/>
                  </a:lnTo>
                  <a:lnTo>
                    <a:pt x="0" y="131825"/>
                  </a:lnTo>
                  <a:lnTo>
                    <a:pt x="0" y="658749"/>
                  </a:lnTo>
                  <a:lnTo>
                    <a:pt x="6723" y="700402"/>
                  </a:lnTo>
                  <a:lnTo>
                    <a:pt x="25444" y="736588"/>
                  </a:lnTo>
                  <a:lnTo>
                    <a:pt x="53986" y="765130"/>
                  </a:lnTo>
                  <a:lnTo>
                    <a:pt x="90172" y="783851"/>
                  </a:lnTo>
                  <a:lnTo>
                    <a:pt x="131825" y="790575"/>
                  </a:lnTo>
                  <a:lnTo>
                    <a:pt x="2401824" y="790575"/>
                  </a:lnTo>
                  <a:lnTo>
                    <a:pt x="2443477" y="783851"/>
                  </a:lnTo>
                  <a:lnTo>
                    <a:pt x="2479663" y="765130"/>
                  </a:lnTo>
                  <a:lnTo>
                    <a:pt x="2508205" y="736588"/>
                  </a:lnTo>
                  <a:lnTo>
                    <a:pt x="2526926" y="700402"/>
                  </a:lnTo>
                  <a:lnTo>
                    <a:pt x="2533650" y="658749"/>
                  </a:lnTo>
                  <a:lnTo>
                    <a:pt x="2533650" y="131825"/>
                  </a:lnTo>
                  <a:lnTo>
                    <a:pt x="2526926" y="90172"/>
                  </a:lnTo>
                  <a:lnTo>
                    <a:pt x="2508205" y="53986"/>
                  </a:lnTo>
                  <a:lnTo>
                    <a:pt x="2479663" y="25444"/>
                  </a:lnTo>
                  <a:lnTo>
                    <a:pt x="2443477" y="6723"/>
                  </a:lnTo>
                  <a:lnTo>
                    <a:pt x="2401824" y="0"/>
                  </a:lnTo>
                  <a:close/>
                </a:path>
              </a:pathLst>
            </a:custGeom>
            <a:solidFill>
              <a:srgbClr val="FFFFFF"/>
            </a:solidFill>
          </p:spPr>
          <p:txBody>
            <a:bodyPr wrap="square" lIns="0" tIns="0" rIns="0" bIns="0" rtlCol="0"/>
            <a:lstStyle/>
            <a:p/>
          </p:txBody>
        </p:sp>
        <p:pic>
          <p:nvPicPr>
            <p:cNvPr id="5" name="object 5"/>
            <p:cNvPicPr/>
            <p:nvPr/>
          </p:nvPicPr>
          <p:blipFill>
            <a:blip r:embed="rId3" cstate="print"/>
            <a:stretch>
              <a:fillRect/>
            </a:stretch>
          </p:blipFill>
          <p:spPr>
            <a:xfrm>
              <a:off x="10134600" y="209550"/>
              <a:ext cx="1828800" cy="552450"/>
            </a:xfrm>
            <a:prstGeom prst="rect">
              <a:avLst/>
            </a:prstGeom>
          </p:spPr>
        </p:pic>
        <p:pic>
          <p:nvPicPr>
            <p:cNvPr id="6" name="object 6"/>
            <p:cNvPicPr/>
            <p:nvPr/>
          </p:nvPicPr>
          <p:blipFill>
            <a:blip r:embed="rId4" cstate="print"/>
            <a:stretch>
              <a:fillRect/>
            </a:stretch>
          </p:blipFill>
          <p:spPr>
            <a:xfrm>
              <a:off x="4038600" y="190500"/>
              <a:ext cx="3886200" cy="1504950"/>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descr="/mnt/data/enhanced_slides/slide_11_enhanced.png"/>
            <p:cNvPicPr/>
            <p:nvPr/>
          </p:nvPicPr>
          <p:blipFill>
            <a:blip r:embed="rId2" cstate="print"/>
            <a:stretch>
              <a:fillRect/>
            </a:stretch>
          </p:blipFill>
          <p:spPr>
            <a:xfrm>
              <a:off x="0" y="0"/>
              <a:ext cx="12192000" cy="6857999"/>
            </a:xfrm>
            <a:prstGeom prst="rect">
              <a:avLst/>
            </a:prstGeom>
          </p:spPr>
        </p:pic>
        <p:sp>
          <p:nvSpPr>
            <p:cNvPr id="4" name="object 4"/>
            <p:cNvSpPr/>
            <p:nvPr/>
          </p:nvSpPr>
          <p:spPr>
            <a:xfrm>
              <a:off x="9467850" y="161925"/>
              <a:ext cx="2533650" cy="790575"/>
            </a:xfrm>
            <a:custGeom>
              <a:avLst/>
              <a:gdLst/>
              <a:ahLst/>
              <a:cxnLst/>
              <a:rect l="l" t="t" r="r" b="b"/>
              <a:pathLst>
                <a:path w="2533650" h="790575">
                  <a:moveTo>
                    <a:pt x="2401824" y="0"/>
                  </a:moveTo>
                  <a:lnTo>
                    <a:pt x="131825" y="0"/>
                  </a:lnTo>
                  <a:lnTo>
                    <a:pt x="90172" y="6723"/>
                  </a:lnTo>
                  <a:lnTo>
                    <a:pt x="53986" y="25444"/>
                  </a:lnTo>
                  <a:lnTo>
                    <a:pt x="25444" y="53986"/>
                  </a:lnTo>
                  <a:lnTo>
                    <a:pt x="6723" y="90172"/>
                  </a:lnTo>
                  <a:lnTo>
                    <a:pt x="0" y="131825"/>
                  </a:lnTo>
                  <a:lnTo>
                    <a:pt x="0" y="658749"/>
                  </a:lnTo>
                  <a:lnTo>
                    <a:pt x="6723" y="700402"/>
                  </a:lnTo>
                  <a:lnTo>
                    <a:pt x="25444" y="736588"/>
                  </a:lnTo>
                  <a:lnTo>
                    <a:pt x="53986" y="765130"/>
                  </a:lnTo>
                  <a:lnTo>
                    <a:pt x="90172" y="783851"/>
                  </a:lnTo>
                  <a:lnTo>
                    <a:pt x="131825" y="790575"/>
                  </a:lnTo>
                  <a:lnTo>
                    <a:pt x="2401824" y="790575"/>
                  </a:lnTo>
                  <a:lnTo>
                    <a:pt x="2443477" y="783851"/>
                  </a:lnTo>
                  <a:lnTo>
                    <a:pt x="2479663" y="765130"/>
                  </a:lnTo>
                  <a:lnTo>
                    <a:pt x="2508205" y="736588"/>
                  </a:lnTo>
                  <a:lnTo>
                    <a:pt x="2526926" y="700402"/>
                  </a:lnTo>
                  <a:lnTo>
                    <a:pt x="2533650" y="658749"/>
                  </a:lnTo>
                  <a:lnTo>
                    <a:pt x="2533650" y="131825"/>
                  </a:lnTo>
                  <a:lnTo>
                    <a:pt x="2526926" y="90172"/>
                  </a:lnTo>
                  <a:lnTo>
                    <a:pt x="2508205" y="53986"/>
                  </a:lnTo>
                  <a:lnTo>
                    <a:pt x="2479663" y="25444"/>
                  </a:lnTo>
                  <a:lnTo>
                    <a:pt x="2443477" y="6723"/>
                  </a:lnTo>
                  <a:lnTo>
                    <a:pt x="2401824" y="0"/>
                  </a:lnTo>
                  <a:close/>
                </a:path>
              </a:pathLst>
            </a:custGeom>
            <a:solidFill>
              <a:srgbClr val="FFFFFF"/>
            </a:solidFill>
          </p:spPr>
          <p:txBody>
            <a:bodyPr wrap="square" lIns="0" tIns="0" rIns="0" bIns="0" rtlCol="0"/>
            <a:lstStyle/>
            <a:p/>
          </p:txBody>
        </p:sp>
        <p:pic>
          <p:nvPicPr>
            <p:cNvPr id="5" name="object 5"/>
            <p:cNvPicPr/>
            <p:nvPr/>
          </p:nvPicPr>
          <p:blipFill>
            <a:blip r:embed="rId3" cstate="print"/>
            <a:stretch>
              <a:fillRect/>
            </a:stretch>
          </p:blipFill>
          <p:spPr>
            <a:xfrm>
              <a:off x="10134600" y="209550"/>
              <a:ext cx="1828800" cy="552450"/>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descr="/mnt/data/enhanced_slides/slide_12_enhanced.png"/>
            <p:cNvPicPr/>
            <p:nvPr/>
          </p:nvPicPr>
          <p:blipFill>
            <a:blip r:embed="rId2" cstate="print"/>
            <a:stretch>
              <a:fillRect/>
            </a:stretch>
          </p:blipFill>
          <p:spPr>
            <a:xfrm>
              <a:off x="0" y="0"/>
              <a:ext cx="12192000" cy="6857999"/>
            </a:xfrm>
            <a:prstGeom prst="rect">
              <a:avLst/>
            </a:prstGeom>
          </p:spPr>
        </p:pic>
        <p:sp>
          <p:nvSpPr>
            <p:cNvPr id="4" name="object 4"/>
            <p:cNvSpPr/>
            <p:nvPr/>
          </p:nvSpPr>
          <p:spPr>
            <a:xfrm>
              <a:off x="9467850" y="161925"/>
              <a:ext cx="2533650" cy="790575"/>
            </a:xfrm>
            <a:custGeom>
              <a:avLst/>
              <a:gdLst/>
              <a:ahLst/>
              <a:cxnLst/>
              <a:rect l="l" t="t" r="r" b="b"/>
              <a:pathLst>
                <a:path w="2533650" h="790575">
                  <a:moveTo>
                    <a:pt x="2401824" y="0"/>
                  </a:moveTo>
                  <a:lnTo>
                    <a:pt x="131825" y="0"/>
                  </a:lnTo>
                  <a:lnTo>
                    <a:pt x="90172" y="6723"/>
                  </a:lnTo>
                  <a:lnTo>
                    <a:pt x="53986" y="25444"/>
                  </a:lnTo>
                  <a:lnTo>
                    <a:pt x="25444" y="53986"/>
                  </a:lnTo>
                  <a:lnTo>
                    <a:pt x="6723" y="90172"/>
                  </a:lnTo>
                  <a:lnTo>
                    <a:pt x="0" y="131825"/>
                  </a:lnTo>
                  <a:lnTo>
                    <a:pt x="0" y="658749"/>
                  </a:lnTo>
                  <a:lnTo>
                    <a:pt x="6723" y="700402"/>
                  </a:lnTo>
                  <a:lnTo>
                    <a:pt x="25444" y="736588"/>
                  </a:lnTo>
                  <a:lnTo>
                    <a:pt x="53986" y="765130"/>
                  </a:lnTo>
                  <a:lnTo>
                    <a:pt x="90172" y="783851"/>
                  </a:lnTo>
                  <a:lnTo>
                    <a:pt x="131825" y="790575"/>
                  </a:lnTo>
                  <a:lnTo>
                    <a:pt x="2401824" y="790575"/>
                  </a:lnTo>
                  <a:lnTo>
                    <a:pt x="2443477" y="783851"/>
                  </a:lnTo>
                  <a:lnTo>
                    <a:pt x="2479663" y="765130"/>
                  </a:lnTo>
                  <a:lnTo>
                    <a:pt x="2508205" y="736588"/>
                  </a:lnTo>
                  <a:lnTo>
                    <a:pt x="2526926" y="700402"/>
                  </a:lnTo>
                  <a:lnTo>
                    <a:pt x="2533650" y="658749"/>
                  </a:lnTo>
                  <a:lnTo>
                    <a:pt x="2533650" y="131825"/>
                  </a:lnTo>
                  <a:lnTo>
                    <a:pt x="2526926" y="90172"/>
                  </a:lnTo>
                  <a:lnTo>
                    <a:pt x="2508205" y="53986"/>
                  </a:lnTo>
                  <a:lnTo>
                    <a:pt x="2479663" y="25444"/>
                  </a:lnTo>
                  <a:lnTo>
                    <a:pt x="2443477" y="6723"/>
                  </a:lnTo>
                  <a:lnTo>
                    <a:pt x="2401824" y="0"/>
                  </a:lnTo>
                  <a:close/>
                </a:path>
              </a:pathLst>
            </a:custGeom>
            <a:solidFill>
              <a:srgbClr val="FFFFFF"/>
            </a:solidFill>
          </p:spPr>
          <p:txBody>
            <a:bodyPr wrap="square" lIns="0" tIns="0" rIns="0" bIns="0" rtlCol="0"/>
            <a:lstStyle/>
            <a:p/>
          </p:txBody>
        </p:sp>
        <p:pic>
          <p:nvPicPr>
            <p:cNvPr id="5" name="object 5"/>
            <p:cNvPicPr/>
            <p:nvPr/>
          </p:nvPicPr>
          <p:blipFill>
            <a:blip r:embed="rId3" cstate="print"/>
            <a:stretch>
              <a:fillRect/>
            </a:stretch>
          </p:blipFill>
          <p:spPr>
            <a:xfrm>
              <a:off x="10134600" y="209550"/>
              <a:ext cx="1828800" cy="552450"/>
            </a:xfrm>
            <a:prstGeom prst="rect">
              <a:avLst/>
            </a:prstGeom>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9048"/>
            <a:ext cx="12191999" cy="68199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
    <p:bg>
      <p:bgPr>
        <a:solidFill>
          <a:srgbClr val="0B318F"/>
        </a:solid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737360"/>
          </a:xfrm>
          <a:prstGeom prst="rect">
            <a:avLst/>
          </a:prstGeom>
          <a:noFill/>
          <a:ln/>
        </p:spPr>
        <p:txBody>
          <a:bodyPr wrap="square" lIns="0" tIns="0" rIns="0" bIns="0" rtlCol="0" anchor="b"/>
          <a:lstStyle/>
          <a:p>
            <a:pPr algn="l" indent="0" marL="0">
              <a:buNone/>
            </a:pPr>
            <a:r>
              <a:rPr lang="en-US" sz="4000" b="1" dirty="0">
                <a:solidFill>
                  <a:srgbClr val="FFFFFF"/>
                </a:solidFill>
              </a:rPr>
              <a:t>Web-GIS Mine Monitoring Platform &amp; Decision Support System</a:t>
            </a:r>
            <a:endParaRPr lang="en-US" sz="4000" dirty="0"/>
          </a:p>
        </p:txBody>
      </p:sp>
      <p:sp>
        <p:nvSpPr>
          <p:cNvPr id="3" name="text-1"/>
          <p:cNvSpPr txBox="1"/>
          <p:nvPr/>
        </p:nvSpPr>
        <p:spPr>
          <a:xfrm>
            <a:off x="731520" y="3703320"/>
            <a:ext cx="10698480" cy="411480"/>
          </a:xfrm>
          <a:prstGeom prst="rect">
            <a:avLst/>
          </a:prstGeom>
          <a:noFill/>
          <a:ln/>
        </p:spPr>
        <p:txBody>
          <a:bodyPr wrap="square" lIns="0" tIns="0" rIns="0" bIns="0" rtlCol="0" anchor="t"/>
          <a:lstStyle/>
          <a:p>
            <a:pPr indent="0" marL="0">
              <a:buNone/>
            </a:pPr>
            <a:r>
              <a:rPr lang="en-US" sz="2000" b="1" dirty="0">
                <a:solidFill>
                  <a:srgbClr val="EEF2F9"/>
                </a:solidFill>
              </a:rPr>
              <a:t>Technical Presentation  |  RFP for Selection of System Integrator</a:t>
            </a:r>
            <a:endParaRPr lang="en-US" sz="2000" dirty="0"/>
          </a:p>
        </p:txBody>
      </p:sp>
      <p:sp>
        <p:nvSpPr>
          <p:cNvPr id="4" name="text-2"/>
          <p:cNvSpPr txBox="1"/>
          <p:nvPr/>
        </p:nvSpPr>
        <p:spPr>
          <a:xfrm>
            <a:off x="731520" y="4206240"/>
            <a:ext cx="10698480" cy="731520"/>
          </a:xfrm>
          <a:prstGeom prst="rect">
            <a:avLst/>
          </a:prstGeom>
          <a:noFill/>
          <a:ln/>
        </p:spPr>
        <p:txBody>
          <a:bodyPr wrap="square" lIns="0" tIns="0" rIns="0" bIns="0" rtlCol="0" anchor="t"/>
          <a:lstStyle/>
          <a:p>
            <a:pPr indent="0" marL="0">
              <a:buNone/>
            </a:pPr>
            <a:r>
              <a:rPr lang="en-US" sz="1600" dirty="0">
                <a:solidFill>
                  <a:srgbClr val="EEF2F9"/>
                </a:solidFill>
              </a:rPr>
              <a:t>Department of Mines &amp; Geology, Government of Telangana</a:t>
            </a:r>
            <a:endParaRPr lang="en-US" sz="1600" dirty="0"/>
          </a:p>
          <a:p>
            <a:pPr indent="0" marL="0">
              <a:buNone/>
            </a:pPr>
            <a:r>
              <a:rPr lang="en-US" sz="1600" dirty="0">
                <a:solidFill>
                  <a:srgbClr val="EEF2F9"/>
                </a:solidFill>
              </a:rPr>
              <a:t>Tender issued by Telangana Technology Services Ltd (TGTS) on behalf of TGMDC</a:t>
            </a:r>
            <a:endParaRPr lang="en-US" sz="1600" dirty="0"/>
          </a:p>
        </p:txBody>
      </p:sp>
      <p:sp>
        <p:nvSpPr>
          <p:cNvPr id="5" name="text-3"/>
          <p:cNvSpPr txBox="1"/>
          <p:nvPr/>
        </p:nvSpPr>
        <p:spPr>
          <a:xfrm>
            <a:off x="731520" y="5943600"/>
            <a:ext cx="7315200" cy="365760"/>
          </a:xfrm>
          <a:prstGeom prst="rect">
            <a:avLst/>
          </a:prstGeom>
          <a:noFill/>
          <a:ln/>
        </p:spPr>
        <p:txBody>
          <a:bodyPr wrap="square" lIns="0" tIns="0" rIns="0" bIns="0" rtlCol="0" anchor="t"/>
          <a:lstStyle/>
          <a:p>
            <a:pPr indent="0" marL="0">
              <a:buNone/>
            </a:pPr>
            <a:r>
              <a:rPr lang="en-US" sz="1400" b="1" dirty="0">
                <a:solidFill>
                  <a:srgbClr val="FF6100"/>
                </a:solidFill>
              </a:rPr>
              <a:t>Presented by: [Bidder name]   |   October 2026</a:t>
            </a:r>
            <a:endParaRPr lang="en-US" sz="1400" dirty="0"/>
          </a:p>
        </p:txBody>
      </p:sp>
      <p:sp>
        <p:nvSpPr>
          <p:cNvPr id="8" name="KeyPoint band blue"/>
          <p:cNvSpPr/>
          <p:nvPr/>
        </p:nvSpPr>
        <p:spPr>
          <a:xfrm>
            <a:off x="0" y="6611000"/>
            <a:ext cx="8298000" cy="247000"/>
          </a:xfrm>
          <a:prstGeom prst="rect">
            <a:avLst/>
          </a:prstGeom>
          <a:solidFill>
            <a:srgbClr val="3767B1"/>
          </a:solidFill>
          <a:ln>
            <a:noFill/>
          </a:ln>
        </p:spPr>
      </p:sp>
      <p:sp>
        <p:nvSpPr>
          <p:cNvPr id="9" name="KeyPoint band orange"/>
          <p:cNvSpPr/>
          <p:nvPr/>
        </p:nvSpPr>
        <p:spPr>
          <a:xfrm>
            <a:off x="8298000" y="6611000"/>
            <a:ext cx="3894000" cy="247000"/>
          </a:xfrm>
          <a:prstGeom prst="rect">
            <a:avLst/>
          </a:prstGeom>
          <a:solidFill>
            <a:srgbClr val="FF6100"/>
          </a:solidFill>
          <a:ln>
            <a:noFill/>
          </a:ln>
        </p:spPr>
      </p:sp>
      <p:sp>
        <p:nvSpPr>
          <p:cNvPr id="6" name="KeyPoint logo box"/>
          <p:cNvSpPr/>
          <p:nvPr/>
        </p:nvSpPr>
        <p:spPr>
          <a:xfrm>
            <a:off x="9972675" y="142875"/>
            <a:ext cx="2162175" cy="704850"/>
          </a:xfrm>
          <a:custGeom>
            <a:avLst/>
            <a:gdLst/>
            <a:ahLst/>
            <a:cxnLst/>
            <a:rect l="l" t="t" r="r" b="b"/>
            <a:pathLst>
              <a:path w="2162175" h="704850">
                <a:moveTo>
                  <a:pt x="2044700" y="0"/>
                </a:moveTo>
                <a:lnTo>
                  <a:pt x="117475" y="0"/>
                </a:lnTo>
                <a:lnTo>
                  <a:pt x="71741" y="9229"/>
                </a:lnTo>
                <a:lnTo>
                  <a:pt x="34401" y="34401"/>
                </a:lnTo>
                <a:lnTo>
                  <a:pt x="9229" y="71741"/>
                </a:lnTo>
                <a:lnTo>
                  <a:pt x="0" y="117475"/>
                </a:lnTo>
                <a:lnTo>
                  <a:pt x="0" y="587375"/>
                </a:lnTo>
                <a:lnTo>
                  <a:pt x="9229" y="633108"/>
                </a:lnTo>
                <a:lnTo>
                  <a:pt x="34401" y="670448"/>
                </a:lnTo>
                <a:lnTo>
                  <a:pt x="71741" y="695620"/>
                </a:lnTo>
                <a:lnTo>
                  <a:pt x="117475" y="704850"/>
                </a:lnTo>
                <a:lnTo>
                  <a:pt x="2044700" y="704850"/>
                </a:lnTo>
                <a:lnTo>
                  <a:pt x="2090433" y="695620"/>
                </a:lnTo>
                <a:lnTo>
                  <a:pt x="2127773" y="670448"/>
                </a:lnTo>
                <a:lnTo>
                  <a:pt x="2152945" y="633108"/>
                </a:lnTo>
                <a:lnTo>
                  <a:pt x="2162175" y="587375"/>
                </a:lnTo>
                <a:lnTo>
                  <a:pt x="2162175" y="117475"/>
                </a:lnTo>
                <a:lnTo>
                  <a:pt x="2152945" y="71741"/>
                </a:lnTo>
                <a:lnTo>
                  <a:pt x="2127773" y="34401"/>
                </a:lnTo>
                <a:lnTo>
                  <a:pt x="2090433" y="9229"/>
                </a:lnTo>
                <a:lnTo>
                  <a:pt x="2044700" y="0"/>
                </a:lnTo>
                <a:close/>
              </a:path>
            </a:pathLst>
          </a:custGeom>
          <a:solidFill>
            <a:srgbClr val="FFFFFF"/>
          </a:solidFill>
        </p:spPr>
        <p:txBody>
          <a:bodyPr wrap="square" lIns="0" tIns="0" rIns="0" bIns="0" rtlCol="0"/>
          <a:lstStyle/>
          <a:p/>
        </p:txBody>
      </p:sp>
      <p:pic>
        <p:nvPicPr>
          <p:cNvPr id="7" name="KeyPoint logo" descr="KeyPoint Technologies logo"/>
          <p:cNvPicPr/>
          <p:nvPr/>
        </p:nvPicPr>
        <p:blipFill>
          <a:blip r:embed="rIdKpLogo" cstate="print"/>
          <a:stretch>
            <a:fillRect/>
          </a:stretch>
        </p:blipFill>
        <p:spPr>
          <a:xfrm>
            <a:off x="10134600" y="209550"/>
            <a:ext cx="1828800" cy="5524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6"/>
          <p:cNvSpPr txBox="1"/>
          <p:nvPr/>
        </p:nvSpPr>
        <p:spPr>
          <a:xfrm>
            <a:off x="548640" y="274320"/>
            <a:ext cx="10972800" cy="256032"/>
          </a:xfrm>
          <a:prstGeom prst="rect">
            <a:avLst/>
          </a:prstGeom>
          <a:noFill/>
          <a:ln/>
        </p:spPr>
        <p:txBody>
          <a:bodyPr wrap="square" lIns="0" tIns="0" rIns="0" bIns="0" rtlCol="0" anchor="ctr"/>
          <a:lstStyle/>
          <a:p>
            <a:pPr indent="0" marL="0">
              <a:buNone/>
            </a:pPr>
            <a:r>
              <a:rPr lang="en-US" sz="1100" b="1" spc="200" kern="0" dirty="0">
                <a:solidFill>
                  <a:srgbClr val="2E5FAE"/>
                </a:solidFill>
              </a:rPr>
              <a:t>AGENDA</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rgbClr val="0B318F"/>
                </a:solidFill>
              </a:rPr>
              <a:t>What this presentation covers</a:t>
            </a:r>
            <a:endParaRPr lang="en-US" sz="3200" dirty="0"/>
          </a:p>
        </p:txBody>
      </p:sp>
      <p:sp>
        <p:nvSpPr>
          <p:cNvPr id="5" name="num-bg-7"/>
          <p:cNvSpPr/>
          <p:nvPr/>
        </p:nvSpPr>
        <p:spPr>
          <a:xfrm>
            <a:off x="548640" y="1508760"/>
            <a:ext cx="457200" cy="457200"/>
          </a:xfrm>
          <a:prstGeom prst="ellipse">
            <a:avLst/>
          </a:prstGeom>
          <a:solidFill>
            <a:srgbClr val="2E5FAE"/>
          </a:solidFill>
          <a:ln/>
        </p:spPr>
      </p:sp>
      <p:sp>
        <p:nvSpPr>
          <p:cNvPr id="6" name="num-8"/>
          <p:cNvSpPr txBox="1"/>
          <p:nvPr/>
        </p:nvSpPr>
        <p:spPr>
          <a:xfrm>
            <a:off x="548640"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9"/>
          <p:cNvSpPr txBox="1"/>
          <p:nvPr/>
        </p:nvSpPr>
        <p:spPr>
          <a:xfrm>
            <a:off x="1188720" y="1490472"/>
            <a:ext cx="5669280" cy="292608"/>
          </a:xfrm>
          <a:prstGeom prst="rect">
            <a:avLst/>
          </a:prstGeom>
          <a:noFill/>
          <a:ln/>
        </p:spPr>
        <p:txBody>
          <a:bodyPr wrap="square" lIns="0" tIns="0" rIns="0" bIns="0" rtlCol="0" anchor="t"/>
          <a:lstStyle/>
          <a:p>
            <a:pPr indent="0" marL="0">
              <a:buNone/>
            </a:pPr>
            <a:r>
              <a:rPr lang="en-US" sz="1700" b="1" dirty="0">
                <a:solidFill>
                  <a:srgbClr val="0B318F"/>
                </a:solidFill>
              </a:rPr>
              <a:t>Understanding of the requirement</a:t>
            </a:r>
            <a:endParaRPr lang="en-US" sz="1700" dirty="0"/>
          </a:p>
        </p:txBody>
      </p:sp>
      <p:sp>
        <p:nvSpPr>
          <p:cNvPr id="8" name="text-10"/>
          <p:cNvSpPr txBox="1"/>
          <p:nvPr/>
        </p:nvSpPr>
        <p:spPr>
          <a:xfrm>
            <a:off x="1188720" y="1783080"/>
            <a:ext cx="5669280" cy="274320"/>
          </a:xfrm>
          <a:prstGeom prst="rect">
            <a:avLst/>
          </a:prstGeom>
          <a:noFill/>
          <a:ln/>
        </p:spPr>
        <p:txBody>
          <a:bodyPr wrap="square" lIns="0" tIns="0" rIns="0" bIns="0" rtlCol="0" anchor="t"/>
          <a:lstStyle/>
          <a:p>
            <a:pPr indent="0" marL="0">
              <a:buNone/>
            </a:pPr>
            <a:r>
              <a:rPr lang="en-US" sz="1300" dirty="0">
                <a:solidFill>
                  <a:srgbClr val="6B7280"/>
                </a:solidFill>
              </a:rPr>
              <a:t>Context, objective, scope of the 11 modules</a:t>
            </a:r>
            <a:endParaRPr lang="en-US" sz="1300" dirty="0"/>
          </a:p>
        </p:txBody>
      </p:sp>
      <p:sp>
        <p:nvSpPr>
          <p:cNvPr id="9" name="num-bg-11"/>
          <p:cNvSpPr/>
          <p:nvPr/>
        </p:nvSpPr>
        <p:spPr>
          <a:xfrm>
            <a:off x="548640" y="2167128"/>
            <a:ext cx="457200" cy="457200"/>
          </a:xfrm>
          <a:prstGeom prst="ellipse">
            <a:avLst/>
          </a:prstGeom>
          <a:solidFill>
            <a:srgbClr val="2E5FAE"/>
          </a:solidFill>
          <a:ln/>
        </p:spPr>
      </p:sp>
      <p:sp>
        <p:nvSpPr>
          <p:cNvPr id="10" name="num-12"/>
          <p:cNvSpPr txBox="1"/>
          <p:nvPr/>
        </p:nvSpPr>
        <p:spPr>
          <a:xfrm>
            <a:off x="548640" y="21671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1" name="text-13"/>
          <p:cNvSpPr txBox="1"/>
          <p:nvPr/>
        </p:nvSpPr>
        <p:spPr>
          <a:xfrm>
            <a:off x="1188720" y="2148840"/>
            <a:ext cx="5669280" cy="292608"/>
          </a:xfrm>
          <a:prstGeom prst="rect">
            <a:avLst/>
          </a:prstGeom>
          <a:noFill/>
          <a:ln/>
        </p:spPr>
        <p:txBody>
          <a:bodyPr wrap="square" lIns="0" tIns="0" rIns="0" bIns="0" rtlCol="0" anchor="t"/>
          <a:lstStyle/>
          <a:p>
            <a:pPr indent="0" marL="0">
              <a:buNone/>
            </a:pPr>
            <a:r>
              <a:rPr lang="en-US" sz="1700" b="1" dirty="0">
                <a:solidFill>
                  <a:srgbClr val="0B318F"/>
                </a:solidFill>
              </a:rPr>
              <a:t>Solution and data security</a:t>
            </a:r>
            <a:endParaRPr lang="en-US" sz="1700" dirty="0"/>
          </a:p>
        </p:txBody>
      </p:sp>
      <p:sp>
        <p:nvSpPr>
          <p:cNvPr id="12" name="text-14"/>
          <p:cNvSpPr txBox="1"/>
          <p:nvPr/>
        </p:nvSpPr>
        <p:spPr>
          <a:xfrm>
            <a:off x="1188720" y="2441448"/>
            <a:ext cx="5669280" cy="274320"/>
          </a:xfrm>
          <a:prstGeom prst="rect">
            <a:avLst/>
          </a:prstGeom>
          <a:noFill/>
          <a:ln/>
        </p:spPr>
        <p:txBody>
          <a:bodyPr wrap="square" lIns="0" tIns="0" rIns="0" bIns="0" rtlCol="0" anchor="t"/>
          <a:lstStyle/>
          <a:p>
            <a:pPr indent="0" marL="0">
              <a:buNone/>
            </a:pPr>
            <a:r>
              <a:rPr lang="en-US" sz="1300" dirty="0">
                <a:solidFill>
                  <a:srgbClr val="6B7280"/>
                </a:solidFill>
              </a:rPr>
              <a:t>Open-source architecture; RBAC, encryption, audit, CERT-In</a:t>
            </a:r>
            <a:endParaRPr lang="en-US" sz="1300" dirty="0"/>
          </a:p>
        </p:txBody>
      </p:sp>
      <p:sp>
        <p:nvSpPr>
          <p:cNvPr id="13" name="num-bg-15"/>
          <p:cNvSpPr/>
          <p:nvPr/>
        </p:nvSpPr>
        <p:spPr>
          <a:xfrm>
            <a:off x="548640" y="2825496"/>
            <a:ext cx="457200" cy="457200"/>
          </a:xfrm>
          <a:prstGeom prst="ellipse">
            <a:avLst/>
          </a:prstGeom>
          <a:solidFill>
            <a:srgbClr val="2E5FAE"/>
          </a:solidFill>
          <a:ln/>
        </p:spPr>
      </p:sp>
      <p:sp>
        <p:nvSpPr>
          <p:cNvPr id="14" name="num-16"/>
          <p:cNvSpPr txBox="1"/>
          <p:nvPr/>
        </p:nvSpPr>
        <p:spPr>
          <a:xfrm>
            <a:off x="548640" y="28254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5" name="text-17"/>
          <p:cNvSpPr txBox="1"/>
          <p:nvPr/>
        </p:nvSpPr>
        <p:spPr>
          <a:xfrm>
            <a:off x="1188720" y="2807208"/>
            <a:ext cx="5669280" cy="292608"/>
          </a:xfrm>
          <a:prstGeom prst="rect">
            <a:avLst/>
          </a:prstGeom>
          <a:noFill/>
          <a:ln/>
        </p:spPr>
        <p:txBody>
          <a:bodyPr wrap="square" lIns="0" tIns="0" rIns="0" bIns="0" rtlCol="0" anchor="t"/>
          <a:lstStyle/>
          <a:p>
            <a:pPr indent="0" marL="0">
              <a:buNone/>
            </a:pPr>
            <a:r>
              <a:rPr lang="en-US" sz="1700" b="1" dirty="0">
                <a:solidFill>
                  <a:srgbClr val="0B318F"/>
                </a:solidFill>
              </a:rPr>
              <a:t>Methodology and timeline</a:t>
            </a:r>
            <a:endParaRPr lang="en-US" sz="1700" dirty="0"/>
          </a:p>
        </p:txBody>
      </p:sp>
      <p:sp>
        <p:nvSpPr>
          <p:cNvPr id="16" name="text-18"/>
          <p:cNvSpPr txBox="1"/>
          <p:nvPr/>
        </p:nvSpPr>
        <p:spPr>
          <a:xfrm>
            <a:off x="1188720" y="3099816"/>
            <a:ext cx="5669280" cy="274320"/>
          </a:xfrm>
          <a:prstGeom prst="rect">
            <a:avLst/>
          </a:prstGeom>
          <a:noFill/>
          <a:ln/>
        </p:spPr>
        <p:txBody>
          <a:bodyPr wrap="square" lIns="0" tIns="0" rIns="0" bIns="0" rtlCol="0" anchor="t"/>
          <a:lstStyle/>
          <a:p>
            <a:pPr indent="0" marL="0">
              <a:buNone/>
            </a:pPr>
            <a:r>
              <a:rPr lang="en-US" sz="1300" dirty="0">
                <a:solidFill>
                  <a:srgbClr val="6B7280"/>
                </a:solidFill>
              </a:rPr>
              <a:t>Delivery approach and Go-Live at T+90 days</a:t>
            </a:r>
            <a:endParaRPr lang="en-US" sz="1300" dirty="0"/>
          </a:p>
        </p:txBody>
      </p:sp>
      <p:sp>
        <p:nvSpPr>
          <p:cNvPr id="17" name="num-bg-19"/>
          <p:cNvSpPr/>
          <p:nvPr/>
        </p:nvSpPr>
        <p:spPr>
          <a:xfrm>
            <a:off x="548640" y="3483864"/>
            <a:ext cx="457200" cy="457200"/>
          </a:xfrm>
          <a:prstGeom prst="ellipse">
            <a:avLst/>
          </a:prstGeom>
          <a:solidFill>
            <a:srgbClr val="2E5FAE"/>
          </a:solidFill>
          <a:ln/>
        </p:spPr>
      </p:sp>
      <p:sp>
        <p:nvSpPr>
          <p:cNvPr id="18" name="num-20"/>
          <p:cNvSpPr txBox="1"/>
          <p:nvPr/>
        </p:nvSpPr>
        <p:spPr>
          <a:xfrm>
            <a:off x="548640" y="348386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9" name="text-21"/>
          <p:cNvSpPr txBox="1"/>
          <p:nvPr/>
        </p:nvSpPr>
        <p:spPr>
          <a:xfrm>
            <a:off x="1188720" y="3465576"/>
            <a:ext cx="5669280" cy="292608"/>
          </a:xfrm>
          <a:prstGeom prst="rect">
            <a:avLst/>
          </a:prstGeom>
          <a:noFill/>
          <a:ln/>
        </p:spPr>
        <p:txBody>
          <a:bodyPr wrap="square" lIns="0" tIns="0" rIns="0" bIns="0" rtlCol="0" anchor="t"/>
          <a:lstStyle/>
          <a:p>
            <a:pPr indent="0" marL="0">
              <a:buNone/>
            </a:pPr>
            <a:r>
              <a:rPr lang="en-US" sz="1700" b="1" dirty="0">
                <a:solidFill>
                  <a:srgbClr val="0B318F"/>
                </a:solidFill>
              </a:rPr>
              <a:t>Resource deployment plan</a:t>
            </a:r>
            <a:endParaRPr lang="en-US" sz="1700" dirty="0"/>
          </a:p>
        </p:txBody>
      </p:sp>
      <p:sp>
        <p:nvSpPr>
          <p:cNvPr id="20" name="text-22"/>
          <p:cNvSpPr txBox="1"/>
          <p:nvPr/>
        </p:nvSpPr>
        <p:spPr>
          <a:xfrm>
            <a:off x="1188720" y="3758184"/>
            <a:ext cx="5669280" cy="274320"/>
          </a:xfrm>
          <a:prstGeom prst="rect">
            <a:avLst/>
          </a:prstGeom>
          <a:noFill/>
          <a:ln/>
        </p:spPr>
        <p:txBody>
          <a:bodyPr wrap="square" lIns="0" tIns="0" rIns="0" bIns="0" rtlCol="0" anchor="t"/>
          <a:lstStyle/>
          <a:p>
            <a:pPr indent="0" marL="0">
              <a:buNone/>
            </a:pPr>
            <a:r>
              <a:rPr lang="en-US" sz="1300" dirty="0">
                <a:solidFill>
                  <a:srgbClr val="6B7280"/>
                </a:solidFill>
              </a:rPr>
              <a:t>Development team and O&amp;M team</a:t>
            </a:r>
            <a:endParaRPr lang="en-US" sz="1300" dirty="0"/>
          </a:p>
        </p:txBody>
      </p:sp>
      <p:sp>
        <p:nvSpPr>
          <p:cNvPr id="21" name="num-bg-23"/>
          <p:cNvSpPr/>
          <p:nvPr/>
        </p:nvSpPr>
        <p:spPr>
          <a:xfrm>
            <a:off x="548640" y="4142232"/>
            <a:ext cx="457200" cy="457200"/>
          </a:xfrm>
          <a:prstGeom prst="ellipse">
            <a:avLst/>
          </a:prstGeom>
          <a:solidFill>
            <a:srgbClr val="2E5FAE"/>
          </a:solidFill>
          <a:ln/>
        </p:spPr>
      </p:sp>
      <p:sp>
        <p:nvSpPr>
          <p:cNvPr id="22" name="num-24"/>
          <p:cNvSpPr txBox="1"/>
          <p:nvPr/>
        </p:nvSpPr>
        <p:spPr>
          <a:xfrm>
            <a:off x="548640" y="41422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3" name="text-25"/>
          <p:cNvSpPr txBox="1"/>
          <p:nvPr/>
        </p:nvSpPr>
        <p:spPr>
          <a:xfrm>
            <a:off x="1188720" y="4123944"/>
            <a:ext cx="5669280" cy="292608"/>
          </a:xfrm>
          <a:prstGeom prst="rect">
            <a:avLst/>
          </a:prstGeom>
          <a:noFill/>
          <a:ln/>
        </p:spPr>
        <p:txBody>
          <a:bodyPr wrap="square" lIns="0" tIns="0" rIns="0" bIns="0" rtlCol="0" anchor="t"/>
          <a:lstStyle/>
          <a:p>
            <a:pPr indent="0" marL="0">
              <a:buNone/>
            </a:pPr>
            <a:r>
              <a:rPr lang="en-US" sz="1700" b="1" dirty="0">
                <a:solidFill>
                  <a:srgbClr val="0B318F"/>
                </a:solidFill>
              </a:rPr>
              <a:t>Training plan</a:t>
            </a:r>
            <a:endParaRPr lang="en-US" sz="1700" dirty="0"/>
          </a:p>
        </p:txBody>
      </p:sp>
      <p:sp>
        <p:nvSpPr>
          <p:cNvPr id="24" name="text-26"/>
          <p:cNvSpPr txBox="1"/>
          <p:nvPr/>
        </p:nvSpPr>
        <p:spPr>
          <a:xfrm>
            <a:off x="1188720" y="4416552"/>
            <a:ext cx="5669280" cy="274320"/>
          </a:xfrm>
          <a:prstGeom prst="rect">
            <a:avLst/>
          </a:prstGeom>
          <a:noFill/>
          <a:ln/>
        </p:spPr>
        <p:txBody>
          <a:bodyPr wrap="square" lIns="0" tIns="0" rIns="0" bIns="0" rtlCol="0" anchor="t"/>
          <a:lstStyle/>
          <a:p>
            <a:pPr indent="0" marL="0">
              <a:buNone/>
            </a:pPr>
            <a:r>
              <a:rPr lang="en-US" sz="1300" dirty="0">
                <a:solidFill>
                  <a:srgbClr val="6B7280"/>
                </a:solidFill>
              </a:rPr>
              <a:t>Role-wise, in English and Telugu</a:t>
            </a:r>
            <a:endParaRPr lang="en-US" sz="1300" dirty="0"/>
          </a:p>
        </p:txBody>
      </p:sp>
      <p:sp>
        <p:nvSpPr>
          <p:cNvPr id="25" name="num-bg-27"/>
          <p:cNvSpPr/>
          <p:nvPr/>
        </p:nvSpPr>
        <p:spPr>
          <a:xfrm>
            <a:off x="548640" y="4800600"/>
            <a:ext cx="457200" cy="457200"/>
          </a:xfrm>
          <a:prstGeom prst="ellipse">
            <a:avLst/>
          </a:prstGeom>
          <a:solidFill>
            <a:srgbClr val="2E5FAE"/>
          </a:solidFill>
          <a:ln/>
        </p:spPr>
      </p:sp>
      <p:sp>
        <p:nvSpPr>
          <p:cNvPr id="26" name="num-28"/>
          <p:cNvSpPr txBox="1"/>
          <p:nvPr/>
        </p:nvSpPr>
        <p:spPr>
          <a:xfrm>
            <a:off x="548640" y="4800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27" name="text-29"/>
          <p:cNvSpPr txBox="1"/>
          <p:nvPr/>
        </p:nvSpPr>
        <p:spPr>
          <a:xfrm>
            <a:off x="1188720" y="4782312"/>
            <a:ext cx="5669280" cy="292608"/>
          </a:xfrm>
          <a:prstGeom prst="rect">
            <a:avLst/>
          </a:prstGeom>
          <a:noFill/>
          <a:ln/>
        </p:spPr>
        <p:txBody>
          <a:bodyPr wrap="square" lIns="0" tIns="0" rIns="0" bIns="0" rtlCol="0" anchor="t"/>
          <a:lstStyle/>
          <a:p>
            <a:pPr indent="0" marL="0">
              <a:buNone/>
            </a:pPr>
            <a:r>
              <a:rPr lang="en-US" sz="1700" b="1" dirty="0">
                <a:solidFill>
                  <a:srgbClr val="0B318F"/>
                </a:solidFill>
              </a:rPr>
              <a:t>O&amp;M, helpdesk and escalation</a:t>
            </a:r>
            <a:endParaRPr lang="en-US" sz="1700" dirty="0"/>
          </a:p>
        </p:txBody>
      </p:sp>
      <p:sp>
        <p:nvSpPr>
          <p:cNvPr id="28" name="text-30"/>
          <p:cNvSpPr txBox="1"/>
          <p:nvPr/>
        </p:nvSpPr>
        <p:spPr>
          <a:xfrm>
            <a:off x="1188720" y="5074920"/>
            <a:ext cx="5669280" cy="274320"/>
          </a:xfrm>
          <a:prstGeom prst="rect">
            <a:avLst/>
          </a:prstGeom>
          <a:noFill/>
          <a:ln/>
        </p:spPr>
        <p:txBody>
          <a:bodyPr wrap="square" lIns="0" tIns="0" rIns="0" bIns="0" rtlCol="0" anchor="t"/>
          <a:lstStyle/>
          <a:p>
            <a:pPr indent="0" marL="0">
              <a:buNone/>
            </a:pPr>
            <a:r>
              <a:rPr lang="en-US" sz="1300" dirty="0">
                <a:solidFill>
                  <a:srgbClr val="6B7280"/>
                </a:solidFill>
              </a:rPr>
              <a:t>Support model, SLAs, escalation matrix</a:t>
            </a:r>
            <a:endParaRPr lang="en-US" sz="1300" dirty="0"/>
          </a:p>
        </p:txBody>
      </p:sp>
      <p:sp>
        <p:nvSpPr>
          <p:cNvPr id="29" name="num-bg-31"/>
          <p:cNvSpPr/>
          <p:nvPr/>
        </p:nvSpPr>
        <p:spPr>
          <a:xfrm>
            <a:off x="548640" y="5458968"/>
            <a:ext cx="457200" cy="457200"/>
          </a:xfrm>
          <a:prstGeom prst="ellipse">
            <a:avLst/>
          </a:prstGeom>
          <a:solidFill>
            <a:srgbClr val="2E5FAE"/>
          </a:solidFill>
          <a:ln/>
        </p:spPr>
      </p:sp>
      <p:sp>
        <p:nvSpPr>
          <p:cNvPr id="30" name="num-32"/>
          <p:cNvSpPr txBox="1"/>
          <p:nvPr/>
        </p:nvSpPr>
        <p:spPr>
          <a:xfrm>
            <a:off x="548640" y="5458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7</a:t>
            </a:r>
            <a:endParaRPr lang="en-US" sz="1600" dirty="0"/>
          </a:p>
        </p:txBody>
      </p:sp>
      <p:sp>
        <p:nvSpPr>
          <p:cNvPr id="31" name="text-33"/>
          <p:cNvSpPr txBox="1"/>
          <p:nvPr/>
        </p:nvSpPr>
        <p:spPr>
          <a:xfrm>
            <a:off x="1188720" y="5440680"/>
            <a:ext cx="5669280" cy="292608"/>
          </a:xfrm>
          <a:prstGeom prst="rect">
            <a:avLst/>
          </a:prstGeom>
          <a:noFill/>
          <a:ln/>
        </p:spPr>
        <p:txBody>
          <a:bodyPr wrap="square" lIns="0" tIns="0" rIns="0" bIns="0" rtlCol="0" anchor="t"/>
          <a:lstStyle/>
          <a:p>
            <a:pPr indent="0" marL="0">
              <a:buNone/>
            </a:pPr>
            <a:r>
              <a:rPr lang="en-US" sz="1700" b="1" dirty="0">
                <a:solidFill>
                  <a:srgbClr val="0B318F"/>
                </a:solidFill>
              </a:rPr>
              <a:t>Exit management plan</a:t>
            </a:r>
            <a:endParaRPr lang="en-US" sz="1700" dirty="0"/>
          </a:p>
        </p:txBody>
      </p:sp>
      <p:sp>
        <p:nvSpPr>
          <p:cNvPr id="32" name="text-34"/>
          <p:cNvSpPr txBox="1"/>
          <p:nvPr/>
        </p:nvSpPr>
        <p:spPr>
          <a:xfrm>
            <a:off x="1188720" y="5733288"/>
            <a:ext cx="5669280" cy="274320"/>
          </a:xfrm>
          <a:prstGeom prst="rect">
            <a:avLst/>
          </a:prstGeom>
          <a:noFill/>
          <a:ln/>
        </p:spPr>
        <p:txBody>
          <a:bodyPr wrap="square" lIns="0" tIns="0" rIns="0" bIns="0" rtlCol="0" anchor="t"/>
          <a:lstStyle/>
          <a:p>
            <a:pPr indent="0" marL="0">
              <a:buNone/>
            </a:pPr>
            <a:r>
              <a:rPr lang="en-US" sz="1300" dirty="0">
                <a:solidFill>
                  <a:srgbClr val="6B7280"/>
                </a:solidFill>
              </a:rPr>
              <a:t>Handover, parallel run, data deletion</a:t>
            </a:r>
            <a:endParaRPr lang="en-US" sz="1300" dirty="0"/>
          </a:p>
        </p:txBody>
      </p:sp>
      <p:sp>
        <p:nvSpPr>
          <p:cNvPr id="33" name="card-35"/>
          <p:cNvSpPr/>
          <p:nvPr/>
        </p:nvSpPr>
        <p:spPr>
          <a:xfrm>
            <a:off x="7406640" y="1508760"/>
            <a:ext cx="4206240" cy="4526280"/>
          </a:xfrm>
          <a:prstGeom prst="roundRect">
            <a:avLst>
              <a:gd name="adj" fmla="val 1739"/>
            </a:avLst>
          </a:prstGeom>
          <a:solidFill>
            <a:srgbClr val="0B318F"/>
          </a:solidFill>
          <a:ln/>
        </p:spPr>
      </p:sp>
      <p:sp>
        <p:nvSpPr>
          <p:cNvPr id="34" name="text-36"/>
          <p:cNvSpPr txBox="1"/>
          <p:nvPr/>
        </p:nvSpPr>
        <p:spPr>
          <a:xfrm>
            <a:off x="7726680" y="1783080"/>
            <a:ext cx="3657600" cy="274320"/>
          </a:xfrm>
          <a:prstGeom prst="rect">
            <a:avLst/>
          </a:prstGeom>
          <a:noFill/>
          <a:ln/>
        </p:spPr>
        <p:txBody>
          <a:bodyPr wrap="square" lIns="0" tIns="0" rIns="0" bIns="0" rtlCol="0" anchor="t"/>
          <a:lstStyle/>
          <a:p>
            <a:pPr indent="0" marL="0">
              <a:buNone/>
            </a:pPr>
            <a:r>
              <a:rPr lang="en-US" sz="1100" b="1" spc="200" kern="0" dirty="0">
                <a:solidFill>
                  <a:srgbClr val="FF6100"/>
                </a:solidFill>
              </a:rPr>
              <a:t>EVALUATION CRITERION 7</a:t>
            </a:r>
            <a:endParaRPr lang="en-US" sz="1100" dirty="0"/>
          </a:p>
        </p:txBody>
      </p:sp>
      <p:sp>
        <p:nvSpPr>
          <p:cNvPr id="35" name="text-37"/>
          <p:cNvSpPr txBox="1"/>
          <p:nvPr/>
        </p:nvSpPr>
        <p:spPr>
          <a:xfrm>
            <a:off x="7726680" y="2103120"/>
            <a:ext cx="3657600" cy="73152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Technical Demonstration of Project</a:t>
            </a:r>
            <a:endParaRPr lang="en-US" sz="2000" dirty="0"/>
          </a:p>
        </p:txBody>
      </p:sp>
      <p:sp>
        <p:nvSpPr>
          <p:cNvPr id="36" name="text-38"/>
          <p:cNvSpPr txBox="1"/>
          <p:nvPr/>
        </p:nvSpPr>
        <p:spPr>
          <a:xfrm>
            <a:off x="7726680" y="2834640"/>
            <a:ext cx="3657600" cy="548640"/>
          </a:xfrm>
          <a:prstGeom prst="rect">
            <a:avLst/>
          </a:prstGeom>
          <a:noFill/>
          <a:ln/>
        </p:spPr>
        <p:txBody>
          <a:bodyPr wrap="square" lIns="0" tIns="0" rIns="0" bIns="0" rtlCol="0" anchor="t"/>
          <a:lstStyle/>
          <a:p>
            <a:pPr indent="0" marL="0">
              <a:buNone/>
            </a:pPr>
            <a:r>
              <a:rPr lang="en-US" sz="3200" b="1" dirty="0">
                <a:solidFill>
                  <a:srgbClr val="FF6100"/>
                </a:solidFill>
                <a:latin typeface="Calibri" pitchFamily="34" charset="0"/>
                <a:ea typeface="Calibri" pitchFamily="34" charset="-122"/>
                <a:cs typeface="Calibri" pitchFamily="34" charset="-120"/>
              </a:rPr>
              <a:t>35 marks</a:t>
            </a:r>
            <a:endParaRPr lang="en-US" sz="3200" dirty="0"/>
          </a:p>
        </p:txBody>
      </p:sp>
      <p:sp>
        <p:nvSpPr>
          <p:cNvPr id="37" name="text-39"/>
          <p:cNvSpPr txBox="1"/>
          <p:nvPr/>
        </p:nvSpPr>
        <p:spPr>
          <a:xfrm>
            <a:off x="7726680" y="3520440"/>
            <a:ext cx="3611880" cy="22860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EEF2F9"/>
                </a:solidFill>
              </a:rPr>
              <a:t>This presentation: understanding, methodology, resources, training, O&amp;M, helpdesk, escalation, exit</a:t>
            </a:r>
            <a:endParaRPr lang="en-US" sz="1400" dirty="0"/>
          </a:p>
          <a:p>
            <a:pPr marL="177800" indent="-177800">
              <a:spcAft>
                <a:spcPts val="500"/>
              </a:spcAft>
              <a:buSzPct val="100000"/>
              <a:buChar char="•"/>
            </a:pPr>
            <a:r>
              <a:rPr lang="en-US" sz="1400" dirty="0">
                <a:solidFill>
                  <a:srgbClr val="EEF2F9"/>
                </a:solidFill>
              </a:rPr>
              <a:t>Separate live demo: Web-GIS visualisation, dashboards, web prototype</a:t>
            </a:r>
            <a:endParaRPr lang="en-US" sz="1400" dirty="0"/>
          </a:p>
        </p:txBody>
      </p:sp>
      <p:sp>
        <p:nvSpPr>
          <p:cNvPr id="40" name="KeyPoint band blue"/>
          <p:cNvSpPr/>
          <p:nvPr/>
        </p:nvSpPr>
        <p:spPr>
          <a:xfrm>
            <a:off x="0" y="6611000"/>
            <a:ext cx="8298000" cy="247000"/>
          </a:xfrm>
          <a:prstGeom prst="rect">
            <a:avLst/>
          </a:prstGeom>
          <a:solidFill>
            <a:srgbClr val="3767B1"/>
          </a:solidFill>
          <a:ln>
            <a:noFill/>
          </a:ln>
        </p:spPr>
      </p:sp>
      <p:sp>
        <p:nvSpPr>
          <p:cNvPr id="41" name="KeyPoint band orange"/>
          <p:cNvSpPr/>
          <p:nvPr/>
        </p:nvSpPr>
        <p:spPr>
          <a:xfrm>
            <a:off x="8298000" y="6611000"/>
            <a:ext cx="3894000" cy="247000"/>
          </a:xfrm>
          <a:prstGeom prst="rect">
            <a:avLst/>
          </a:prstGeom>
          <a:solidFill>
            <a:srgbClr val="FF6100"/>
          </a:solidFill>
          <a:ln>
            <a:noFill/>
          </a:ln>
        </p:spPr>
      </p:sp>
      <p:sp>
        <p:nvSpPr>
          <p:cNvPr id="38" name="KeyPoint logo box"/>
          <p:cNvSpPr/>
          <p:nvPr/>
        </p:nvSpPr>
        <p:spPr>
          <a:xfrm>
            <a:off x="9972675" y="142875"/>
            <a:ext cx="2162175" cy="704850"/>
          </a:xfrm>
          <a:custGeom>
            <a:avLst/>
            <a:gdLst/>
            <a:ahLst/>
            <a:cxnLst/>
            <a:rect l="l" t="t" r="r" b="b"/>
            <a:pathLst>
              <a:path w="2162175" h="704850">
                <a:moveTo>
                  <a:pt x="2044700" y="0"/>
                </a:moveTo>
                <a:lnTo>
                  <a:pt x="117475" y="0"/>
                </a:lnTo>
                <a:lnTo>
                  <a:pt x="71741" y="9229"/>
                </a:lnTo>
                <a:lnTo>
                  <a:pt x="34401" y="34401"/>
                </a:lnTo>
                <a:lnTo>
                  <a:pt x="9229" y="71741"/>
                </a:lnTo>
                <a:lnTo>
                  <a:pt x="0" y="117475"/>
                </a:lnTo>
                <a:lnTo>
                  <a:pt x="0" y="587375"/>
                </a:lnTo>
                <a:lnTo>
                  <a:pt x="9229" y="633108"/>
                </a:lnTo>
                <a:lnTo>
                  <a:pt x="34401" y="670448"/>
                </a:lnTo>
                <a:lnTo>
                  <a:pt x="71741" y="695620"/>
                </a:lnTo>
                <a:lnTo>
                  <a:pt x="117475" y="704850"/>
                </a:lnTo>
                <a:lnTo>
                  <a:pt x="2044700" y="704850"/>
                </a:lnTo>
                <a:lnTo>
                  <a:pt x="2090433" y="695620"/>
                </a:lnTo>
                <a:lnTo>
                  <a:pt x="2127773" y="670448"/>
                </a:lnTo>
                <a:lnTo>
                  <a:pt x="2152945" y="633108"/>
                </a:lnTo>
                <a:lnTo>
                  <a:pt x="2162175" y="587375"/>
                </a:lnTo>
                <a:lnTo>
                  <a:pt x="2162175" y="117475"/>
                </a:lnTo>
                <a:lnTo>
                  <a:pt x="2152945" y="71741"/>
                </a:lnTo>
                <a:lnTo>
                  <a:pt x="2127773" y="34401"/>
                </a:lnTo>
                <a:lnTo>
                  <a:pt x="2090433" y="9229"/>
                </a:lnTo>
                <a:lnTo>
                  <a:pt x="2044700" y="0"/>
                </a:lnTo>
                <a:close/>
              </a:path>
            </a:pathLst>
          </a:custGeom>
          <a:solidFill>
            <a:srgbClr val="FFFFFF"/>
          </a:solidFill>
        </p:spPr>
        <p:txBody>
          <a:bodyPr wrap="square" lIns="0" tIns="0" rIns="0" bIns="0" rtlCol="0"/>
          <a:lstStyle/>
          <a:p/>
        </p:txBody>
      </p:sp>
      <p:pic>
        <p:nvPicPr>
          <p:cNvPr id="39" name="KeyPoint logo" descr="KeyPoint Technologies logo"/>
          <p:cNvPicPr/>
          <p:nvPr/>
        </p:nvPicPr>
        <p:blipFill>
          <a:blip r:embed="rIdKpLogo" cstate="print"/>
          <a:stretch>
            <a:fillRect/>
          </a:stretch>
        </p:blipFill>
        <p:spPr>
          <a:xfrm>
            <a:off x="10134600" y="209550"/>
            <a:ext cx="1828800" cy="5524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40"/>
          <p:cNvSpPr txBox="1"/>
          <p:nvPr/>
        </p:nvSpPr>
        <p:spPr>
          <a:xfrm>
            <a:off x="548640" y="274320"/>
            <a:ext cx="10972800" cy="256032"/>
          </a:xfrm>
          <a:prstGeom prst="rect">
            <a:avLst/>
          </a:prstGeom>
          <a:noFill/>
          <a:ln/>
        </p:spPr>
        <p:txBody>
          <a:bodyPr wrap="square" lIns="0" tIns="0" rIns="0" bIns="0" rtlCol="0" anchor="ctr"/>
          <a:lstStyle/>
          <a:p>
            <a:pPr indent="0" marL="0">
              <a:buNone/>
            </a:pPr>
            <a:r>
              <a:rPr lang="en-US" sz="1100" b="1" spc="200" kern="0" dirty="0">
                <a:solidFill>
                  <a:srgbClr val="2E5FAE"/>
                </a:solidFill>
              </a:rPr>
              <a:t>01 · UNDERSTANDING OF THE REQUIREMENT</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rgbClr val="0B318F"/>
                </a:solidFill>
              </a:rPr>
              <a:t>Understanding of the requirement</a:t>
            </a:r>
            <a:endParaRPr lang="en-US" sz="3200" dirty="0"/>
          </a:p>
        </p:txBody>
      </p:sp>
      <p:sp>
        <p:nvSpPr>
          <p:cNvPr id="5" name="icon-bg-41"/>
          <p:cNvSpPr/>
          <p:nvPr/>
        </p:nvSpPr>
        <p:spPr>
          <a:xfrm>
            <a:off x="548640" y="1554480"/>
            <a:ext cx="640080" cy="640080"/>
          </a:xfrm>
          <a:prstGeom prst="ellipse">
            <a:avLst/>
          </a:prstGeom>
          <a:solidFill>
            <a:srgbClr val="6B7280"/>
          </a:solidFill>
          <a:ln/>
        </p:spPr>
      </p:sp>
      <p:pic>
        <p:nvPicPr>
          <p:cNvPr id="6" name="icon-42" descr="preencoded.png">    </p:cNvPr>
          <p:cNvPicPr>
            <a:picLocks noChangeAspect="1"/>
          </p:cNvPicPr>
          <p:nvPr/>
        </p:nvPicPr>
        <p:blipFill>
          <a:blip r:embed="rId1"/>
          <a:stretch>
            <a:fillRect/>
          </a:stretch>
        </p:blipFill>
        <p:spPr>
          <a:xfrm>
            <a:off x="689458" y="1695298"/>
            <a:ext cx="358445" cy="358445"/>
          </a:xfrm>
          <a:prstGeom prst="rect">
            <a:avLst/>
          </a:prstGeom>
        </p:spPr>
      </p:pic>
      <p:sp>
        <p:nvSpPr>
          <p:cNvPr id="7" name="text-43"/>
          <p:cNvSpPr txBox="1"/>
          <p:nvPr/>
        </p:nvSpPr>
        <p:spPr>
          <a:xfrm>
            <a:off x="1417320" y="1554480"/>
            <a:ext cx="5394960" cy="320040"/>
          </a:xfrm>
          <a:prstGeom prst="rect">
            <a:avLst/>
          </a:prstGeom>
          <a:noFill/>
          <a:ln/>
        </p:spPr>
        <p:txBody>
          <a:bodyPr wrap="square" lIns="0" tIns="0" rIns="0" bIns="0" rtlCol="0" anchor="t"/>
          <a:lstStyle/>
          <a:p>
            <a:pPr indent="0" marL="0">
              <a:buNone/>
            </a:pPr>
            <a:r>
              <a:rPr lang="en-US" sz="1700" b="1" dirty="0">
                <a:solidFill>
                  <a:srgbClr val="0B318F"/>
                </a:solidFill>
              </a:rPr>
              <a:t>Fragmented records</a:t>
            </a:r>
            <a:endParaRPr lang="en-US" sz="1700" dirty="0"/>
          </a:p>
        </p:txBody>
      </p:sp>
      <p:sp>
        <p:nvSpPr>
          <p:cNvPr id="8" name="text-44"/>
          <p:cNvSpPr txBox="1"/>
          <p:nvPr/>
        </p:nvSpPr>
        <p:spPr>
          <a:xfrm>
            <a:off x="1417320" y="1901952"/>
            <a:ext cx="5394960" cy="640080"/>
          </a:xfrm>
          <a:prstGeom prst="rect">
            <a:avLst/>
          </a:prstGeom>
          <a:noFill/>
          <a:ln/>
        </p:spPr>
        <p:txBody>
          <a:bodyPr wrap="square" lIns="0" tIns="0" rIns="0" bIns="0" rtlCol="0" anchor="t"/>
          <a:lstStyle/>
          <a:p>
            <a:pPr indent="0" marL="0">
              <a:buNone/>
            </a:pPr>
            <a:r>
              <a:rPr lang="en-US" sz="1400" dirty="0">
                <a:solidFill>
                  <a:srgbClr val="1A1F2B"/>
                </a:solidFill>
              </a:rPr>
              <a:t>Lease deeds, mine plans, survey sheets, returns and royalty sit in separate files and systems.</a:t>
            </a:r>
            <a:endParaRPr lang="en-US" sz="1400" dirty="0"/>
          </a:p>
        </p:txBody>
      </p:sp>
      <p:sp>
        <p:nvSpPr>
          <p:cNvPr id="9" name="icon-bg-45"/>
          <p:cNvSpPr/>
          <p:nvPr/>
        </p:nvSpPr>
        <p:spPr>
          <a:xfrm>
            <a:off x="548640" y="2670048"/>
            <a:ext cx="640080" cy="640080"/>
          </a:xfrm>
          <a:prstGeom prst="ellipse">
            <a:avLst/>
          </a:prstGeom>
          <a:solidFill>
            <a:srgbClr val="6B7280"/>
          </a:solidFill>
          <a:ln/>
        </p:spPr>
      </p:sp>
      <p:pic>
        <p:nvPicPr>
          <p:cNvPr id="10" name="icon-46" descr="preencoded.png">    </p:cNvPr>
          <p:cNvPicPr>
            <a:picLocks noChangeAspect="1"/>
          </p:cNvPicPr>
          <p:nvPr/>
        </p:nvPicPr>
        <p:blipFill>
          <a:blip r:embed="rId2"/>
          <a:stretch>
            <a:fillRect/>
          </a:stretch>
        </p:blipFill>
        <p:spPr>
          <a:xfrm>
            <a:off x="689458" y="2810866"/>
            <a:ext cx="358445" cy="358445"/>
          </a:xfrm>
          <a:prstGeom prst="rect">
            <a:avLst/>
          </a:prstGeom>
        </p:spPr>
      </p:pic>
      <p:sp>
        <p:nvSpPr>
          <p:cNvPr id="11" name="text-47"/>
          <p:cNvSpPr txBox="1"/>
          <p:nvPr/>
        </p:nvSpPr>
        <p:spPr>
          <a:xfrm>
            <a:off x="1417320" y="2670048"/>
            <a:ext cx="5394960" cy="320040"/>
          </a:xfrm>
          <a:prstGeom prst="rect">
            <a:avLst/>
          </a:prstGeom>
          <a:noFill/>
          <a:ln/>
        </p:spPr>
        <p:txBody>
          <a:bodyPr wrap="square" lIns="0" tIns="0" rIns="0" bIns="0" rtlCol="0" anchor="t"/>
          <a:lstStyle/>
          <a:p>
            <a:pPr indent="0" marL="0">
              <a:buNone/>
            </a:pPr>
            <a:r>
              <a:rPr lang="en-US" sz="1700" b="1" dirty="0">
                <a:solidFill>
                  <a:srgbClr val="0B318F"/>
                </a:solidFill>
              </a:rPr>
              <a:t>Limited spatial visibility</a:t>
            </a:r>
            <a:endParaRPr lang="en-US" sz="1700" dirty="0"/>
          </a:p>
        </p:txBody>
      </p:sp>
      <p:sp>
        <p:nvSpPr>
          <p:cNvPr id="12" name="text-48"/>
          <p:cNvSpPr txBox="1"/>
          <p:nvPr/>
        </p:nvSpPr>
        <p:spPr>
          <a:xfrm>
            <a:off x="1417320" y="3017520"/>
            <a:ext cx="5394960" cy="640080"/>
          </a:xfrm>
          <a:prstGeom prst="rect">
            <a:avLst/>
          </a:prstGeom>
          <a:noFill/>
          <a:ln/>
        </p:spPr>
        <p:txBody>
          <a:bodyPr wrap="square" lIns="0" tIns="0" rIns="0" bIns="0" rtlCol="0" anchor="t"/>
          <a:lstStyle/>
          <a:p>
            <a:pPr indent="0" marL="0">
              <a:buNone/>
            </a:pPr>
            <a:r>
              <a:rPr lang="en-US" sz="1400" dirty="0">
                <a:solidFill>
                  <a:srgbClr val="1A1F2B"/>
                </a:solidFill>
              </a:rPr>
              <a:t>Lease boundaries are not routinely seen against forest, water, eco-sensitive and revenue layers.</a:t>
            </a:r>
            <a:endParaRPr lang="en-US" sz="1400" dirty="0"/>
          </a:p>
        </p:txBody>
      </p:sp>
      <p:sp>
        <p:nvSpPr>
          <p:cNvPr id="13" name="icon-bg-49"/>
          <p:cNvSpPr/>
          <p:nvPr/>
        </p:nvSpPr>
        <p:spPr>
          <a:xfrm>
            <a:off x="548640" y="3785616"/>
            <a:ext cx="640080" cy="640080"/>
          </a:xfrm>
          <a:prstGeom prst="ellipse">
            <a:avLst/>
          </a:prstGeom>
          <a:solidFill>
            <a:srgbClr val="6B7280"/>
          </a:solidFill>
          <a:ln/>
        </p:spPr>
      </p:sp>
      <p:pic>
        <p:nvPicPr>
          <p:cNvPr id="14" name="icon-50" descr="preencoded.png">    </p:cNvPr>
          <p:cNvPicPr>
            <a:picLocks noChangeAspect="1"/>
          </p:cNvPicPr>
          <p:nvPr/>
        </p:nvPicPr>
        <p:blipFill>
          <a:blip r:embed="rId3"/>
          <a:stretch>
            <a:fillRect/>
          </a:stretch>
        </p:blipFill>
        <p:spPr>
          <a:xfrm>
            <a:off x="689458" y="3926434"/>
            <a:ext cx="358445" cy="358445"/>
          </a:xfrm>
          <a:prstGeom prst="rect">
            <a:avLst/>
          </a:prstGeom>
        </p:spPr>
      </p:pic>
      <p:sp>
        <p:nvSpPr>
          <p:cNvPr id="15" name="text-51"/>
          <p:cNvSpPr txBox="1"/>
          <p:nvPr/>
        </p:nvSpPr>
        <p:spPr>
          <a:xfrm>
            <a:off x="1417320" y="3785616"/>
            <a:ext cx="5394960" cy="320040"/>
          </a:xfrm>
          <a:prstGeom prst="rect">
            <a:avLst/>
          </a:prstGeom>
          <a:noFill/>
          <a:ln/>
        </p:spPr>
        <p:txBody>
          <a:bodyPr wrap="square" lIns="0" tIns="0" rIns="0" bIns="0" rtlCol="0" anchor="t"/>
          <a:lstStyle/>
          <a:p>
            <a:pPr indent="0" marL="0">
              <a:buNone/>
            </a:pPr>
            <a:r>
              <a:rPr lang="en-US" sz="1700" b="1" dirty="0">
                <a:solidFill>
                  <a:srgbClr val="0B318F"/>
                </a:solidFill>
              </a:rPr>
              <a:t>Late detection of violations</a:t>
            </a:r>
            <a:endParaRPr lang="en-US" sz="1700" dirty="0"/>
          </a:p>
        </p:txBody>
      </p:sp>
      <p:sp>
        <p:nvSpPr>
          <p:cNvPr id="16" name="text-52"/>
          <p:cNvSpPr txBox="1"/>
          <p:nvPr/>
        </p:nvSpPr>
        <p:spPr>
          <a:xfrm>
            <a:off x="1417320" y="4133088"/>
            <a:ext cx="5394960" cy="640080"/>
          </a:xfrm>
          <a:prstGeom prst="rect">
            <a:avLst/>
          </a:prstGeom>
          <a:noFill/>
          <a:ln/>
        </p:spPr>
        <p:txBody>
          <a:bodyPr wrap="square" lIns="0" tIns="0" rIns="0" bIns="0" rtlCol="0" anchor="t"/>
          <a:lstStyle/>
          <a:p>
            <a:pPr indent="0" marL="0">
              <a:buNone/>
            </a:pPr>
            <a:r>
              <a:rPr lang="en-US" sz="1400" dirty="0">
                <a:solidFill>
                  <a:srgbClr val="1A1F2B"/>
                </a:solidFill>
              </a:rPr>
              <a:t>Mining beyond boundaries and unauthorised extraction are found through field visits, not monitoring.</a:t>
            </a:r>
            <a:endParaRPr lang="en-US" sz="1400" dirty="0"/>
          </a:p>
        </p:txBody>
      </p:sp>
      <p:sp>
        <p:nvSpPr>
          <p:cNvPr id="17" name="icon-bg-53"/>
          <p:cNvSpPr/>
          <p:nvPr/>
        </p:nvSpPr>
        <p:spPr>
          <a:xfrm>
            <a:off x="548640" y="4901184"/>
            <a:ext cx="640080" cy="640080"/>
          </a:xfrm>
          <a:prstGeom prst="ellipse">
            <a:avLst/>
          </a:prstGeom>
          <a:solidFill>
            <a:srgbClr val="6B7280"/>
          </a:solidFill>
          <a:ln/>
        </p:spPr>
      </p:sp>
      <p:pic>
        <p:nvPicPr>
          <p:cNvPr id="18" name="icon-54" descr="preencoded.png">    </p:cNvPr>
          <p:cNvPicPr>
            <a:picLocks noChangeAspect="1"/>
          </p:cNvPicPr>
          <p:nvPr/>
        </p:nvPicPr>
        <p:blipFill>
          <a:blip r:embed="rId4"/>
          <a:stretch>
            <a:fillRect/>
          </a:stretch>
        </p:blipFill>
        <p:spPr>
          <a:xfrm>
            <a:off x="689458" y="5042002"/>
            <a:ext cx="358445" cy="358445"/>
          </a:xfrm>
          <a:prstGeom prst="rect">
            <a:avLst/>
          </a:prstGeom>
        </p:spPr>
      </p:pic>
      <p:sp>
        <p:nvSpPr>
          <p:cNvPr id="19" name="text-55"/>
          <p:cNvSpPr txBox="1"/>
          <p:nvPr/>
        </p:nvSpPr>
        <p:spPr>
          <a:xfrm>
            <a:off x="1417320" y="4901184"/>
            <a:ext cx="5394960" cy="320040"/>
          </a:xfrm>
          <a:prstGeom prst="rect">
            <a:avLst/>
          </a:prstGeom>
          <a:noFill/>
          <a:ln/>
        </p:spPr>
        <p:txBody>
          <a:bodyPr wrap="square" lIns="0" tIns="0" rIns="0" bIns="0" rtlCol="0" anchor="t"/>
          <a:lstStyle/>
          <a:p>
            <a:pPr indent="0" marL="0">
              <a:buNone/>
            </a:pPr>
            <a:r>
              <a:rPr lang="en-US" sz="1700" b="1" dirty="0">
                <a:solidFill>
                  <a:srgbClr val="0B318F"/>
                </a:solidFill>
              </a:rPr>
              <a:t>Revenue tracking effort</a:t>
            </a:r>
            <a:endParaRPr lang="en-US" sz="1700" dirty="0"/>
          </a:p>
        </p:txBody>
      </p:sp>
      <p:sp>
        <p:nvSpPr>
          <p:cNvPr id="20" name="text-56"/>
          <p:cNvSpPr txBox="1"/>
          <p:nvPr/>
        </p:nvSpPr>
        <p:spPr>
          <a:xfrm>
            <a:off x="1417320" y="5248656"/>
            <a:ext cx="5394960" cy="640080"/>
          </a:xfrm>
          <a:prstGeom prst="rect">
            <a:avLst/>
          </a:prstGeom>
          <a:noFill/>
          <a:ln/>
        </p:spPr>
        <p:txBody>
          <a:bodyPr wrap="square" lIns="0" tIns="0" rIns="0" bIns="0" rtlCol="0" anchor="t"/>
          <a:lstStyle/>
          <a:p>
            <a:pPr indent="0" marL="0">
              <a:buNone/>
            </a:pPr>
            <a:r>
              <a:rPr lang="en-US" sz="1400" dirty="0">
                <a:solidFill>
                  <a:srgbClr val="1A1F2B"/>
                </a:solidFill>
              </a:rPr>
              <a:t>Royalty, dues and penalties are reconciled manually, which delays follow-up.</a:t>
            </a:r>
            <a:endParaRPr lang="en-US" sz="1400" dirty="0"/>
          </a:p>
        </p:txBody>
      </p:sp>
      <p:sp>
        <p:nvSpPr>
          <p:cNvPr id="21" name="card-57"/>
          <p:cNvSpPr/>
          <p:nvPr/>
        </p:nvSpPr>
        <p:spPr>
          <a:xfrm>
            <a:off x="7223760" y="1554480"/>
            <a:ext cx="4389120" cy="4434840"/>
          </a:xfrm>
          <a:prstGeom prst="roundRect">
            <a:avLst>
              <a:gd name="adj" fmla="val 1667"/>
            </a:avLst>
          </a:prstGeom>
          <a:solidFill>
            <a:srgbClr val="2E5FAE"/>
          </a:solidFill>
          <a:ln/>
        </p:spPr>
      </p:sp>
      <p:sp>
        <p:nvSpPr>
          <p:cNvPr id="22" name="text-58"/>
          <p:cNvSpPr txBox="1"/>
          <p:nvPr/>
        </p:nvSpPr>
        <p:spPr>
          <a:xfrm>
            <a:off x="7543800" y="1783080"/>
            <a:ext cx="3749040" cy="274320"/>
          </a:xfrm>
          <a:prstGeom prst="rect">
            <a:avLst/>
          </a:prstGeom>
          <a:noFill/>
          <a:ln/>
        </p:spPr>
        <p:txBody>
          <a:bodyPr wrap="square" lIns="0" tIns="0" rIns="0" bIns="0" rtlCol="0" anchor="t"/>
          <a:lstStyle/>
          <a:p>
            <a:pPr indent="0" marL="0">
              <a:buNone/>
            </a:pPr>
            <a:r>
              <a:rPr lang="en-US" sz="1100" b="1" spc="200" kern="0" dirty="0">
                <a:solidFill>
                  <a:srgbClr val="EEF2F9"/>
                </a:solidFill>
              </a:rPr>
              <a:t>OBJECTIVE</a:t>
            </a:r>
            <a:endParaRPr lang="en-US" sz="1100" dirty="0"/>
          </a:p>
        </p:txBody>
      </p:sp>
      <p:sp>
        <p:nvSpPr>
          <p:cNvPr id="23" name="text-59"/>
          <p:cNvSpPr txBox="1"/>
          <p:nvPr/>
        </p:nvSpPr>
        <p:spPr>
          <a:xfrm>
            <a:off x="7543800" y="2103120"/>
            <a:ext cx="3749040" cy="1371600"/>
          </a:xfrm>
          <a:prstGeom prst="rect">
            <a:avLst/>
          </a:prstGeom>
          <a:noFill/>
          <a:ln/>
        </p:spPr>
        <p:txBody>
          <a:bodyPr wrap="square" lIns="0" tIns="0" rIns="0" bIns="0" rtlCol="0" anchor="t"/>
          <a:lstStyle/>
          <a:p>
            <a:pPr indent="0" marL="0">
              <a:buNone/>
            </a:pPr>
            <a:r>
              <a:rPr lang="en-US" sz="2100" b="1" dirty="0">
                <a:solidFill>
                  <a:srgbClr val="FFFFFF"/>
                </a:solidFill>
                <a:latin typeface="Calibri" pitchFamily="34" charset="0"/>
                <a:ea typeface="Calibri" pitchFamily="34" charset="-122"/>
                <a:cs typeface="Calibri" pitchFamily="34" charset="-120"/>
              </a:rPr>
              <a:t>One lease-centric, spatially enabled source of truth for the State’s mineral sector</a:t>
            </a:r>
            <a:endParaRPr lang="en-US" sz="2100" dirty="0"/>
          </a:p>
        </p:txBody>
      </p:sp>
      <p:sp>
        <p:nvSpPr>
          <p:cNvPr id="24" name="text-60"/>
          <p:cNvSpPr txBox="1"/>
          <p:nvPr/>
        </p:nvSpPr>
        <p:spPr>
          <a:xfrm>
            <a:off x="7543800" y="3657600"/>
            <a:ext cx="1188720" cy="320040"/>
          </a:xfrm>
          <a:prstGeom prst="rect">
            <a:avLst/>
          </a:prstGeom>
          <a:noFill/>
          <a:ln/>
        </p:spPr>
        <p:txBody>
          <a:bodyPr wrap="square" lIns="0" tIns="0" rIns="0" bIns="0" rtlCol="0" anchor="t"/>
          <a:lstStyle/>
          <a:p>
            <a:pPr indent="0" marL="0">
              <a:buNone/>
            </a:pPr>
            <a:r>
              <a:rPr lang="en-US" sz="1600" b="1" dirty="0">
                <a:solidFill>
                  <a:srgbClr val="FF6100"/>
                </a:solidFill>
              </a:rPr>
              <a:t>Monitor</a:t>
            </a:r>
            <a:endParaRPr lang="en-US" sz="1600" dirty="0"/>
          </a:p>
        </p:txBody>
      </p:sp>
      <p:sp>
        <p:nvSpPr>
          <p:cNvPr id="25" name="text-61"/>
          <p:cNvSpPr txBox="1"/>
          <p:nvPr/>
        </p:nvSpPr>
        <p:spPr>
          <a:xfrm>
            <a:off x="8732520" y="3657600"/>
            <a:ext cx="2651760" cy="640080"/>
          </a:xfrm>
          <a:prstGeom prst="rect">
            <a:avLst/>
          </a:prstGeom>
          <a:noFill/>
          <a:ln/>
        </p:spPr>
        <p:txBody>
          <a:bodyPr wrap="square" lIns="0" tIns="0" rIns="0" bIns="0" rtlCol="0" anchor="t"/>
          <a:lstStyle/>
          <a:p>
            <a:pPr indent="0" marL="0">
              <a:buNone/>
            </a:pPr>
            <a:r>
              <a:rPr lang="en-US" sz="1300" dirty="0">
                <a:solidFill>
                  <a:srgbClr val="FFFFFF"/>
                </a:solidFill>
              </a:rPr>
              <a:t>Day-to-day visibility for district and field officers</a:t>
            </a:r>
            <a:endParaRPr lang="en-US" sz="1300" dirty="0"/>
          </a:p>
        </p:txBody>
      </p:sp>
      <p:sp>
        <p:nvSpPr>
          <p:cNvPr id="26" name="text-62"/>
          <p:cNvSpPr txBox="1"/>
          <p:nvPr/>
        </p:nvSpPr>
        <p:spPr>
          <a:xfrm>
            <a:off x="7543800" y="4389120"/>
            <a:ext cx="1188720" cy="320040"/>
          </a:xfrm>
          <a:prstGeom prst="rect">
            <a:avLst/>
          </a:prstGeom>
          <a:noFill/>
          <a:ln/>
        </p:spPr>
        <p:txBody>
          <a:bodyPr wrap="square" lIns="0" tIns="0" rIns="0" bIns="0" rtlCol="0" anchor="t"/>
          <a:lstStyle/>
          <a:p>
            <a:pPr indent="0" marL="0">
              <a:buNone/>
            </a:pPr>
            <a:r>
              <a:rPr lang="en-US" sz="1600" b="1" dirty="0">
                <a:solidFill>
                  <a:srgbClr val="FF6100"/>
                </a:solidFill>
              </a:rPr>
              <a:t>Enforce</a:t>
            </a:r>
            <a:endParaRPr lang="en-US" sz="1600" dirty="0"/>
          </a:p>
        </p:txBody>
      </p:sp>
      <p:sp>
        <p:nvSpPr>
          <p:cNvPr id="27" name="text-63"/>
          <p:cNvSpPr txBox="1"/>
          <p:nvPr/>
        </p:nvSpPr>
        <p:spPr>
          <a:xfrm>
            <a:off x="8732520" y="4389120"/>
            <a:ext cx="2651760" cy="640080"/>
          </a:xfrm>
          <a:prstGeom prst="rect">
            <a:avLst/>
          </a:prstGeom>
          <a:noFill/>
          <a:ln/>
        </p:spPr>
        <p:txBody>
          <a:bodyPr wrap="square" lIns="0" tIns="0" rIns="0" bIns="0" rtlCol="0" anchor="t"/>
          <a:lstStyle/>
          <a:p>
            <a:pPr indent="0" marL="0">
              <a:buNone/>
            </a:pPr>
            <a:r>
              <a:rPr lang="en-US" sz="1300" dirty="0">
                <a:solidFill>
                  <a:srgbClr val="FFFFFF"/>
                </a:solidFill>
              </a:rPr>
              <a:t>Compliance checks and early detection of violations</a:t>
            </a:r>
            <a:endParaRPr lang="en-US" sz="1300" dirty="0"/>
          </a:p>
        </p:txBody>
      </p:sp>
      <p:sp>
        <p:nvSpPr>
          <p:cNvPr id="28" name="text-64"/>
          <p:cNvSpPr txBox="1"/>
          <p:nvPr/>
        </p:nvSpPr>
        <p:spPr>
          <a:xfrm>
            <a:off x="7543800" y="5120640"/>
            <a:ext cx="1188720" cy="320040"/>
          </a:xfrm>
          <a:prstGeom prst="rect">
            <a:avLst/>
          </a:prstGeom>
          <a:noFill/>
          <a:ln/>
        </p:spPr>
        <p:txBody>
          <a:bodyPr wrap="square" lIns="0" tIns="0" rIns="0" bIns="0" rtlCol="0" anchor="t"/>
          <a:lstStyle/>
          <a:p>
            <a:pPr indent="0" marL="0">
              <a:buNone/>
            </a:pPr>
            <a:r>
              <a:rPr lang="en-US" sz="1600" b="1" dirty="0">
                <a:solidFill>
                  <a:srgbClr val="FF6100"/>
                </a:solidFill>
              </a:rPr>
              <a:t>Decide</a:t>
            </a:r>
            <a:endParaRPr lang="en-US" sz="1600" dirty="0"/>
          </a:p>
        </p:txBody>
      </p:sp>
      <p:sp>
        <p:nvSpPr>
          <p:cNvPr id="29" name="text-65"/>
          <p:cNvSpPr txBox="1"/>
          <p:nvPr/>
        </p:nvSpPr>
        <p:spPr>
          <a:xfrm>
            <a:off x="8732520" y="5120640"/>
            <a:ext cx="2651760" cy="640080"/>
          </a:xfrm>
          <a:prstGeom prst="rect">
            <a:avLst/>
          </a:prstGeom>
          <a:noFill/>
          <a:ln/>
        </p:spPr>
        <p:txBody>
          <a:bodyPr wrap="square" lIns="0" tIns="0" rIns="0" bIns="0" rtlCol="0" anchor="t"/>
          <a:lstStyle/>
          <a:p>
            <a:pPr indent="0" marL="0">
              <a:buNone/>
            </a:pPr>
            <a:r>
              <a:rPr lang="en-US" sz="1300" dirty="0">
                <a:solidFill>
                  <a:srgbClr val="FFFFFF"/>
                </a:solidFill>
              </a:rPr>
              <a:t>Consolidated dashboards and forecasts for senior officers</a:t>
            </a:r>
            <a:endParaRPr lang="en-US" sz="1300" dirty="0"/>
          </a:p>
        </p:txBody>
      </p:sp>
      <p:sp>
        <p:nvSpPr>
          <p:cNvPr id="32" name="KeyPoint band blue"/>
          <p:cNvSpPr/>
          <p:nvPr/>
        </p:nvSpPr>
        <p:spPr>
          <a:xfrm>
            <a:off x="0" y="6611000"/>
            <a:ext cx="8298000" cy="247000"/>
          </a:xfrm>
          <a:prstGeom prst="rect">
            <a:avLst/>
          </a:prstGeom>
          <a:solidFill>
            <a:srgbClr val="3767B1"/>
          </a:solidFill>
          <a:ln>
            <a:noFill/>
          </a:ln>
        </p:spPr>
      </p:sp>
      <p:sp>
        <p:nvSpPr>
          <p:cNvPr id="33" name="KeyPoint band orange"/>
          <p:cNvSpPr/>
          <p:nvPr/>
        </p:nvSpPr>
        <p:spPr>
          <a:xfrm>
            <a:off x="8298000" y="6611000"/>
            <a:ext cx="3894000" cy="247000"/>
          </a:xfrm>
          <a:prstGeom prst="rect">
            <a:avLst/>
          </a:prstGeom>
          <a:solidFill>
            <a:srgbClr val="FF6100"/>
          </a:solidFill>
          <a:ln>
            <a:noFill/>
          </a:ln>
        </p:spPr>
      </p:sp>
      <p:sp>
        <p:nvSpPr>
          <p:cNvPr id="30" name="KeyPoint logo box"/>
          <p:cNvSpPr/>
          <p:nvPr/>
        </p:nvSpPr>
        <p:spPr>
          <a:xfrm>
            <a:off x="9972675" y="142875"/>
            <a:ext cx="2162175" cy="704850"/>
          </a:xfrm>
          <a:custGeom>
            <a:avLst/>
            <a:gdLst/>
            <a:ahLst/>
            <a:cxnLst/>
            <a:rect l="l" t="t" r="r" b="b"/>
            <a:pathLst>
              <a:path w="2162175" h="704850">
                <a:moveTo>
                  <a:pt x="2044700" y="0"/>
                </a:moveTo>
                <a:lnTo>
                  <a:pt x="117475" y="0"/>
                </a:lnTo>
                <a:lnTo>
                  <a:pt x="71741" y="9229"/>
                </a:lnTo>
                <a:lnTo>
                  <a:pt x="34401" y="34401"/>
                </a:lnTo>
                <a:lnTo>
                  <a:pt x="9229" y="71741"/>
                </a:lnTo>
                <a:lnTo>
                  <a:pt x="0" y="117475"/>
                </a:lnTo>
                <a:lnTo>
                  <a:pt x="0" y="587375"/>
                </a:lnTo>
                <a:lnTo>
                  <a:pt x="9229" y="633108"/>
                </a:lnTo>
                <a:lnTo>
                  <a:pt x="34401" y="670448"/>
                </a:lnTo>
                <a:lnTo>
                  <a:pt x="71741" y="695620"/>
                </a:lnTo>
                <a:lnTo>
                  <a:pt x="117475" y="704850"/>
                </a:lnTo>
                <a:lnTo>
                  <a:pt x="2044700" y="704850"/>
                </a:lnTo>
                <a:lnTo>
                  <a:pt x="2090433" y="695620"/>
                </a:lnTo>
                <a:lnTo>
                  <a:pt x="2127773" y="670448"/>
                </a:lnTo>
                <a:lnTo>
                  <a:pt x="2152945" y="633108"/>
                </a:lnTo>
                <a:lnTo>
                  <a:pt x="2162175" y="587375"/>
                </a:lnTo>
                <a:lnTo>
                  <a:pt x="2162175" y="117475"/>
                </a:lnTo>
                <a:lnTo>
                  <a:pt x="2152945" y="71741"/>
                </a:lnTo>
                <a:lnTo>
                  <a:pt x="2127773" y="34401"/>
                </a:lnTo>
                <a:lnTo>
                  <a:pt x="2090433" y="9229"/>
                </a:lnTo>
                <a:lnTo>
                  <a:pt x="2044700" y="0"/>
                </a:lnTo>
                <a:close/>
              </a:path>
            </a:pathLst>
          </a:custGeom>
          <a:solidFill>
            <a:srgbClr val="FFFFFF"/>
          </a:solidFill>
        </p:spPr>
        <p:txBody>
          <a:bodyPr wrap="square" lIns="0" tIns="0" rIns="0" bIns="0" rtlCol="0"/>
          <a:lstStyle/>
          <a:p/>
        </p:txBody>
      </p:sp>
      <p:pic>
        <p:nvPicPr>
          <p:cNvPr id="31" name="KeyPoint logo" descr="KeyPoint Technologies logo"/>
          <p:cNvPicPr/>
          <p:nvPr/>
        </p:nvPicPr>
        <p:blipFill>
          <a:blip r:embed="rIdKpLogo" cstate="print"/>
          <a:stretch>
            <a:fillRect/>
          </a:stretch>
        </p:blipFill>
        <p:spPr>
          <a:xfrm>
            <a:off x="10134600" y="209550"/>
            <a:ext cx="1828800" cy="5524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66"/>
          <p:cNvSpPr txBox="1"/>
          <p:nvPr/>
        </p:nvSpPr>
        <p:spPr>
          <a:xfrm>
            <a:off x="548640" y="274320"/>
            <a:ext cx="10972800" cy="256032"/>
          </a:xfrm>
          <a:prstGeom prst="rect">
            <a:avLst/>
          </a:prstGeom>
          <a:noFill/>
          <a:ln/>
        </p:spPr>
        <p:txBody>
          <a:bodyPr wrap="square" lIns="0" tIns="0" rIns="0" bIns="0" rtlCol="0" anchor="ctr"/>
          <a:lstStyle/>
          <a:p>
            <a:pPr indent="0" marL="0">
              <a:buNone/>
            </a:pPr>
            <a:r>
              <a:rPr lang="en-US" sz="1100" b="1" spc="200" kern="0" dirty="0">
                <a:solidFill>
                  <a:srgbClr val="2E5FAE"/>
                </a:solidFill>
              </a:rPr>
              <a:t>01 · UNDERSTANDING OF THE REQUIREMENT</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rgbClr val="0B318F"/>
                </a:solidFill>
              </a:rPr>
              <a:t>Scope: 11 modules on one platform</a:t>
            </a:r>
            <a:endParaRPr lang="en-US" sz="3200" dirty="0"/>
          </a:p>
        </p:txBody>
      </p:sp>
      <p:sp>
        <p:nvSpPr>
          <p:cNvPr id="5" name="card-67"/>
          <p:cNvSpPr/>
          <p:nvPr/>
        </p:nvSpPr>
        <p:spPr>
          <a:xfrm>
            <a:off x="548640" y="1463040"/>
            <a:ext cx="2624328" cy="1371600"/>
          </a:xfrm>
          <a:prstGeom prst="roundRect">
            <a:avLst>
              <a:gd name="adj" fmla="val 5333"/>
            </a:avLst>
          </a:prstGeom>
          <a:solidFill>
            <a:srgbClr val="EEF2F9"/>
          </a:solidFill>
          <a:ln/>
        </p:spPr>
      </p:sp>
      <p:sp>
        <p:nvSpPr>
          <p:cNvPr id="6" name="text-68"/>
          <p:cNvSpPr txBox="1"/>
          <p:nvPr/>
        </p:nvSpPr>
        <p:spPr>
          <a:xfrm>
            <a:off x="731520" y="1600200"/>
            <a:ext cx="914400" cy="274320"/>
          </a:xfrm>
          <a:prstGeom prst="rect">
            <a:avLst/>
          </a:prstGeom>
          <a:noFill/>
          <a:ln/>
        </p:spPr>
        <p:txBody>
          <a:bodyPr wrap="square" lIns="0" tIns="0" rIns="0" bIns="0" rtlCol="0" anchor="t"/>
          <a:lstStyle/>
          <a:p>
            <a:pPr indent="0" marL="0">
              <a:buNone/>
            </a:pPr>
            <a:r>
              <a:rPr lang="en-US" sz="1300" b="1" dirty="0">
                <a:solidFill>
                  <a:srgbClr val="2E5FAE"/>
                </a:solidFill>
              </a:rPr>
              <a:t>M1</a:t>
            </a:r>
            <a:endParaRPr lang="en-US" sz="1300" dirty="0"/>
          </a:p>
        </p:txBody>
      </p:sp>
      <p:sp>
        <p:nvSpPr>
          <p:cNvPr id="7" name="text-69"/>
          <p:cNvSpPr txBox="1"/>
          <p:nvPr/>
        </p:nvSpPr>
        <p:spPr>
          <a:xfrm>
            <a:off x="731520" y="1847088"/>
            <a:ext cx="2286000" cy="502920"/>
          </a:xfrm>
          <a:prstGeom prst="rect">
            <a:avLst/>
          </a:prstGeom>
          <a:noFill/>
          <a:ln/>
        </p:spPr>
        <p:txBody>
          <a:bodyPr wrap="square" lIns="0" tIns="0" rIns="0" bIns="0" rtlCol="0" anchor="t"/>
          <a:lstStyle/>
          <a:p>
            <a:pPr indent="0" marL="0">
              <a:buNone/>
            </a:pPr>
            <a:r>
              <a:rPr lang="en-US" sz="1400" b="1" dirty="0">
                <a:solidFill>
                  <a:srgbClr val="0B318F"/>
                </a:solidFill>
              </a:rPr>
              <a:t>Web-GIS visualisation &amp; monitoring</a:t>
            </a:r>
            <a:endParaRPr lang="en-US" sz="1400" dirty="0"/>
          </a:p>
        </p:txBody>
      </p:sp>
      <p:sp>
        <p:nvSpPr>
          <p:cNvPr id="8" name="text-70"/>
          <p:cNvSpPr txBox="1"/>
          <p:nvPr/>
        </p:nvSpPr>
        <p:spPr>
          <a:xfrm>
            <a:off x="731520" y="2359152"/>
            <a:ext cx="2286000" cy="411480"/>
          </a:xfrm>
          <a:prstGeom prst="rect">
            <a:avLst/>
          </a:prstGeom>
          <a:noFill/>
          <a:ln/>
        </p:spPr>
        <p:txBody>
          <a:bodyPr wrap="square" lIns="0" tIns="0" rIns="0" bIns="0" rtlCol="0" anchor="t"/>
          <a:lstStyle/>
          <a:p>
            <a:pPr indent="0" marL="0">
              <a:buNone/>
            </a:pPr>
            <a:r>
              <a:rPr lang="en-US" sz="1200" dirty="0">
                <a:solidFill>
                  <a:srgbClr val="6B7280"/>
                </a:solidFill>
              </a:rPr>
              <a:t>Imagery, layers, search, spatial analysis</a:t>
            </a:r>
            <a:endParaRPr lang="en-US" sz="1200" dirty="0"/>
          </a:p>
        </p:txBody>
      </p:sp>
      <p:sp>
        <p:nvSpPr>
          <p:cNvPr id="9" name="card-71"/>
          <p:cNvSpPr/>
          <p:nvPr/>
        </p:nvSpPr>
        <p:spPr>
          <a:xfrm>
            <a:off x="3355848" y="1463040"/>
            <a:ext cx="2624328" cy="1371600"/>
          </a:xfrm>
          <a:prstGeom prst="roundRect">
            <a:avLst>
              <a:gd name="adj" fmla="val 5333"/>
            </a:avLst>
          </a:prstGeom>
          <a:solidFill>
            <a:srgbClr val="EEF2F9"/>
          </a:solidFill>
          <a:ln/>
        </p:spPr>
      </p:sp>
      <p:sp>
        <p:nvSpPr>
          <p:cNvPr id="10" name="text-72"/>
          <p:cNvSpPr txBox="1"/>
          <p:nvPr/>
        </p:nvSpPr>
        <p:spPr>
          <a:xfrm>
            <a:off x="3538728" y="1600200"/>
            <a:ext cx="914400" cy="274320"/>
          </a:xfrm>
          <a:prstGeom prst="rect">
            <a:avLst/>
          </a:prstGeom>
          <a:noFill/>
          <a:ln/>
        </p:spPr>
        <p:txBody>
          <a:bodyPr wrap="square" lIns="0" tIns="0" rIns="0" bIns="0" rtlCol="0" anchor="t"/>
          <a:lstStyle/>
          <a:p>
            <a:pPr indent="0" marL="0">
              <a:buNone/>
            </a:pPr>
            <a:r>
              <a:rPr lang="en-US" sz="1300" b="1" dirty="0">
                <a:solidFill>
                  <a:srgbClr val="2E5FAE"/>
                </a:solidFill>
              </a:rPr>
              <a:t>M2</a:t>
            </a:r>
            <a:endParaRPr lang="en-US" sz="1300" dirty="0"/>
          </a:p>
        </p:txBody>
      </p:sp>
      <p:sp>
        <p:nvSpPr>
          <p:cNvPr id="11" name="text-73"/>
          <p:cNvSpPr txBox="1"/>
          <p:nvPr/>
        </p:nvSpPr>
        <p:spPr>
          <a:xfrm>
            <a:off x="3538728" y="1847088"/>
            <a:ext cx="2286000" cy="502920"/>
          </a:xfrm>
          <a:prstGeom prst="rect">
            <a:avLst/>
          </a:prstGeom>
          <a:noFill/>
          <a:ln/>
        </p:spPr>
        <p:txBody>
          <a:bodyPr wrap="square" lIns="0" tIns="0" rIns="0" bIns="0" rtlCol="0" anchor="t"/>
          <a:lstStyle/>
          <a:p>
            <a:pPr indent="0" marL="0">
              <a:buNone/>
            </a:pPr>
            <a:r>
              <a:rPr lang="en-US" sz="1400" b="1" dirty="0">
                <a:solidFill>
                  <a:srgbClr val="0B318F"/>
                </a:solidFill>
              </a:rPr>
              <a:t>Lease master data &amp; repository</a:t>
            </a:r>
            <a:endParaRPr lang="en-US" sz="1400" dirty="0"/>
          </a:p>
        </p:txBody>
      </p:sp>
      <p:sp>
        <p:nvSpPr>
          <p:cNvPr id="12" name="text-74"/>
          <p:cNvSpPr txBox="1"/>
          <p:nvPr/>
        </p:nvSpPr>
        <p:spPr>
          <a:xfrm>
            <a:off x="3538728" y="2359152"/>
            <a:ext cx="2286000" cy="411480"/>
          </a:xfrm>
          <a:prstGeom prst="rect">
            <a:avLst/>
          </a:prstGeom>
          <a:noFill/>
          <a:ln/>
        </p:spPr>
        <p:txBody>
          <a:bodyPr wrap="square" lIns="0" tIns="0" rIns="0" bIns="0" rtlCol="0" anchor="t"/>
          <a:lstStyle/>
          <a:p>
            <a:pPr indent="0" marL="0">
              <a:buNone/>
            </a:pPr>
            <a:r>
              <a:rPr lang="en-US" sz="1200" dirty="0">
                <a:solidFill>
                  <a:srgbClr val="6B7280"/>
                </a:solidFill>
              </a:rPr>
              <a:t>Lease records, spatial versions, documents</a:t>
            </a:r>
            <a:endParaRPr lang="en-US" sz="1200" dirty="0"/>
          </a:p>
        </p:txBody>
      </p:sp>
      <p:sp>
        <p:nvSpPr>
          <p:cNvPr id="13" name="card-75"/>
          <p:cNvSpPr/>
          <p:nvPr/>
        </p:nvSpPr>
        <p:spPr>
          <a:xfrm>
            <a:off x="6163056" y="1463040"/>
            <a:ext cx="2624328" cy="1371600"/>
          </a:xfrm>
          <a:prstGeom prst="roundRect">
            <a:avLst>
              <a:gd name="adj" fmla="val 5333"/>
            </a:avLst>
          </a:prstGeom>
          <a:solidFill>
            <a:srgbClr val="EEF2F9"/>
          </a:solidFill>
          <a:ln/>
        </p:spPr>
      </p:sp>
      <p:sp>
        <p:nvSpPr>
          <p:cNvPr id="14" name="text-76"/>
          <p:cNvSpPr txBox="1"/>
          <p:nvPr/>
        </p:nvSpPr>
        <p:spPr>
          <a:xfrm>
            <a:off x="6345936" y="1600200"/>
            <a:ext cx="914400" cy="274320"/>
          </a:xfrm>
          <a:prstGeom prst="rect">
            <a:avLst/>
          </a:prstGeom>
          <a:noFill/>
          <a:ln/>
        </p:spPr>
        <p:txBody>
          <a:bodyPr wrap="square" lIns="0" tIns="0" rIns="0" bIns="0" rtlCol="0" anchor="t"/>
          <a:lstStyle/>
          <a:p>
            <a:pPr indent="0" marL="0">
              <a:buNone/>
            </a:pPr>
            <a:r>
              <a:rPr lang="en-US" sz="1300" b="1" dirty="0">
                <a:solidFill>
                  <a:srgbClr val="2E5FAE"/>
                </a:solidFill>
              </a:rPr>
              <a:t>M3</a:t>
            </a:r>
            <a:endParaRPr lang="en-US" sz="1300" dirty="0"/>
          </a:p>
        </p:txBody>
      </p:sp>
      <p:sp>
        <p:nvSpPr>
          <p:cNvPr id="15" name="text-77"/>
          <p:cNvSpPr txBox="1"/>
          <p:nvPr/>
        </p:nvSpPr>
        <p:spPr>
          <a:xfrm>
            <a:off x="6345936" y="1847088"/>
            <a:ext cx="2286000" cy="502920"/>
          </a:xfrm>
          <a:prstGeom prst="rect">
            <a:avLst/>
          </a:prstGeom>
          <a:noFill/>
          <a:ln/>
        </p:spPr>
        <p:txBody>
          <a:bodyPr wrap="square" lIns="0" tIns="0" rIns="0" bIns="0" rtlCol="0" anchor="t"/>
          <a:lstStyle/>
          <a:p>
            <a:pPr indent="0" marL="0">
              <a:buNone/>
            </a:pPr>
            <a:r>
              <a:rPr lang="en-US" sz="1400" b="1" dirty="0">
                <a:solidFill>
                  <a:srgbClr val="0B318F"/>
                </a:solidFill>
              </a:rPr>
              <a:t>Operational &amp; financial information</a:t>
            </a:r>
            <a:endParaRPr lang="en-US" sz="1400" dirty="0"/>
          </a:p>
        </p:txBody>
      </p:sp>
      <p:sp>
        <p:nvSpPr>
          <p:cNvPr id="16" name="text-78"/>
          <p:cNvSpPr txBox="1"/>
          <p:nvPr/>
        </p:nvSpPr>
        <p:spPr>
          <a:xfrm>
            <a:off x="6345936" y="2359152"/>
            <a:ext cx="2286000" cy="411480"/>
          </a:xfrm>
          <a:prstGeom prst="rect">
            <a:avLst/>
          </a:prstGeom>
          <a:noFill/>
          <a:ln/>
        </p:spPr>
        <p:txBody>
          <a:bodyPr wrap="square" lIns="0" tIns="0" rIns="0" bIns="0" rtlCol="0" anchor="t"/>
          <a:lstStyle/>
          <a:p>
            <a:pPr indent="0" marL="0">
              <a:buNone/>
            </a:pPr>
            <a:r>
              <a:rPr lang="en-US" sz="1200" dirty="0">
                <a:solidFill>
                  <a:srgbClr val="6B7280"/>
                </a:solidFill>
              </a:rPr>
              <a:t>Production, dispatch, royalty, anomaly detection</a:t>
            </a:r>
            <a:endParaRPr lang="en-US" sz="1200" dirty="0"/>
          </a:p>
        </p:txBody>
      </p:sp>
      <p:sp>
        <p:nvSpPr>
          <p:cNvPr id="17" name="card-79"/>
          <p:cNvSpPr/>
          <p:nvPr/>
        </p:nvSpPr>
        <p:spPr>
          <a:xfrm>
            <a:off x="8970264" y="1463040"/>
            <a:ext cx="2624328" cy="1371600"/>
          </a:xfrm>
          <a:prstGeom prst="roundRect">
            <a:avLst>
              <a:gd name="adj" fmla="val 5333"/>
            </a:avLst>
          </a:prstGeom>
          <a:solidFill>
            <a:srgbClr val="EEF2F9"/>
          </a:solidFill>
          <a:ln/>
        </p:spPr>
      </p:sp>
      <p:sp>
        <p:nvSpPr>
          <p:cNvPr id="18" name="text-80"/>
          <p:cNvSpPr txBox="1"/>
          <p:nvPr/>
        </p:nvSpPr>
        <p:spPr>
          <a:xfrm>
            <a:off x="9153144" y="1600200"/>
            <a:ext cx="914400" cy="274320"/>
          </a:xfrm>
          <a:prstGeom prst="rect">
            <a:avLst/>
          </a:prstGeom>
          <a:noFill/>
          <a:ln/>
        </p:spPr>
        <p:txBody>
          <a:bodyPr wrap="square" lIns="0" tIns="0" rIns="0" bIns="0" rtlCol="0" anchor="t"/>
          <a:lstStyle/>
          <a:p>
            <a:pPr indent="0" marL="0">
              <a:buNone/>
            </a:pPr>
            <a:r>
              <a:rPr lang="en-US" sz="1300" b="1" dirty="0">
                <a:solidFill>
                  <a:srgbClr val="2E5FAE"/>
                </a:solidFill>
              </a:rPr>
              <a:t>M4</a:t>
            </a:r>
            <a:endParaRPr lang="en-US" sz="1300" dirty="0"/>
          </a:p>
        </p:txBody>
      </p:sp>
      <p:sp>
        <p:nvSpPr>
          <p:cNvPr id="19" name="text-81"/>
          <p:cNvSpPr txBox="1"/>
          <p:nvPr/>
        </p:nvSpPr>
        <p:spPr>
          <a:xfrm>
            <a:off x="9153144" y="1847088"/>
            <a:ext cx="2286000" cy="502920"/>
          </a:xfrm>
          <a:prstGeom prst="rect">
            <a:avLst/>
          </a:prstGeom>
          <a:noFill/>
          <a:ln/>
        </p:spPr>
        <p:txBody>
          <a:bodyPr wrap="square" lIns="0" tIns="0" rIns="0" bIns="0" rtlCol="0" anchor="t"/>
          <a:lstStyle/>
          <a:p>
            <a:pPr indent="0" marL="0">
              <a:buNone/>
            </a:pPr>
            <a:r>
              <a:rPr lang="en-US" sz="1400" b="1" dirty="0">
                <a:solidFill>
                  <a:srgbClr val="0B318F"/>
                </a:solidFill>
              </a:rPr>
              <a:t>Dashboards, MIS &amp; decision support</a:t>
            </a:r>
            <a:endParaRPr lang="en-US" sz="1400" dirty="0"/>
          </a:p>
        </p:txBody>
      </p:sp>
      <p:sp>
        <p:nvSpPr>
          <p:cNvPr id="20" name="text-82"/>
          <p:cNvSpPr txBox="1"/>
          <p:nvPr/>
        </p:nvSpPr>
        <p:spPr>
          <a:xfrm>
            <a:off x="9153144" y="2359152"/>
            <a:ext cx="2286000" cy="411480"/>
          </a:xfrm>
          <a:prstGeom prst="rect">
            <a:avLst/>
          </a:prstGeom>
          <a:noFill/>
          <a:ln/>
        </p:spPr>
        <p:txBody>
          <a:bodyPr wrap="square" lIns="0" tIns="0" rIns="0" bIns="0" rtlCol="0" anchor="t"/>
          <a:lstStyle/>
          <a:p>
            <a:pPr indent="0" marL="0">
              <a:buNone/>
            </a:pPr>
            <a:r>
              <a:rPr lang="en-US" sz="1200" dirty="0">
                <a:solidFill>
                  <a:srgbClr val="6B7280"/>
                </a:solidFill>
              </a:rPr>
              <a:t>Executive views, forecasts, early warnings</a:t>
            </a:r>
            <a:endParaRPr lang="en-US" sz="1200" dirty="0"/>
          </a:p>
        </p:txBody>
      </p:sp>
      <p:sp>
        <p:nvSpPr>
          <p:cNvPr id="21" name="card-83"/>
          <p:cNvSpPr/>
          <p:nvPr/>
        </p:nvSpPr>
        <p:spPr>
          <a:xfrm>
            <a:off x="548640" y="3017520"/>
            <a:ext cx="2624328" cy="1371600"/>
          </a:xfrm>
          <a:prstGeom prst="roundRect">
            <a:avLst>
              <a:gd name="adj" fmla="val 5333"/>
            </a:avLst>
          </a:prstGeom>
          <a:solidFill>
            <a:srgbClr val="EEF2F9"/>
          </a:solidFill>
          <a:ln/>
        </p:spPr>
      </p:sp>
      <p:sp>
        <p:nvSpPr>
          <p:cNvPr id="22" name="text-84"/>
          <p:cNvSpPr txBox="1"/>
          <p:nvPr/>
        </p:nvSpPr>
        <p:spPr>
          <a:xfrm>
            <a:off x="731520" y="3154680"/>
            <a:ext cx="914400" cy="274320"/>
          </a:xfrm>
          <a:prstGeom prst="rect">
            <a:avLst/>
          </a:prstGeom>
          <a:noFill/>
          <a:ln/>
        </p:spPr>
        <p:txBody>
          <a:bodyPr wrap="square" lIns="0" tIns="0" rIns="0" bIns="0" rtlCol="0" anchor="t"/>
          <a:lstStyle/>
          <a:p>
            <a:pPr indent="0" marL="0">
              <a:buNone/>
            </a:pPr>
            <a:r>
              <a:rPr lang="en-US" sz="1300" b="1" dirty="0">
                <a:solidFill>
                  <a:srgbClr val="2E5FAE"/>
                </a:solidFill>
              </a:rPr>
              <a:t>M5</a:t>
            </a:r>
            <a:endParaRPr lang="en-US" sz="1300" dirty="0"/>
          </a:p>
        </p:txBody>
      </p:sp>
      <p:sp>
        <p:nvSpPr>
          <p:cNvPr id="23" name="text-85"/>
          <p:cNvSpPr txBox="1"/>
          <p:nvPr/>
        </p:nvSpPr>
        <p:spPr>
          <a:xfrm>
            <a:off x="731520" y="3401568"/>
            <a:ext cx="2286000" cy="502920"/>
          </a:xfrm>
          <a:prstGeom prst="rect">
            <a:avLst/>
          </a:prstGeom>
          <a:noFill/>
          <a:ln/>
        </p:spPr>
        <p:txBody>
          <a:bodyPr wrap="square" lIns="0" tIns="0" rIns="0" bIns="0" rtlCol="0" anchor="t"/>
          <a:lstStyle/>
          <a:p>
            <a:pPr indent="0" marL="0">
              <a:buNone/>
            </a:pPr>
            <a:r>
              <a:rPr lang="en-US" sz="1400" b="1" dirty="0">
                <a:solidFill>
                  <a:srgbClr val="0B318F"/>
                </a:solidFill>
              </a:rPr>
              <a:t>Governance, users &amp; audit</a:t>
            </a:r>
            <a:endParaRPr lang="en-US" sz="1400" dirty="0"/>
          </a:p>
        </p:txBody>
      </p:sp>
      <p:sp>
        <p:nvSpPr>
          <p:cNvPr id="24" name="text-86"/>
          <p:cNvSpPr txBox="1"/>
          <p:nvPr/>
        </p:nvSpPr>
        <p:spPr>
          <a:xfrm>
            <a:off x="731520" y="3913632"/>
            <a:ext cx="2286000" cy="411480"/>
          </a:xfrm>
          <a:prstGeom prst="rect">
            <a:avLst/>
          </a:prstGeom>
          <a:noFill/>
          <a:ln/>
        </p:spPr>
        <p:txBody>
          <a:bodyPr wrap="square" lIns="0" tIns="0" rIns="0" bIns="0" rtlCol="0" anchor="t"/>
          <a:lstStyle/>
          <a:p>
            <a:pPr indent="0" marL="0">
              <a:buNone/>
            </a:pPr>
            <a:r>
              <a:rPr lang="en-US" sz="1200" dirty="0">
                <a:solidFill>
                  <a:srgbClr val="6B7280"/>
                </a:solidFill>
              </a:rPr>
              <a:t>RBAC, SSO, MFA, tamper-proof audit trail</a:t>
            </a:r>
            <a:endParaRPr lang="en-US" sz="1200" dirty="0"/>
          </a:p>
        </p:txBody>
      </p:sp>
      <p:sp>
        <p:nvSpPr>
          <p:cNvPr id="25" name="card-87"/>
          <p:cNvSpPr/>
          <p:nvPr/>
        </p:nvSpPr>
        <p:spPr>
          <a:xfrm>
            <a:off x="3355848" y="3017520"/>
            <a:ext cx="2624328" cy="1371600"/>
          </a:xfrm>
          <a:prstGeom prst="roundRect">
            <a:avLst>
              <a:gd name="adj" fmla="val 5333"/>
            </a:avLst>
          </a:prstGeom>
          <a:solidFill>
            <a:srgbClr val="EEF2F9"/>
          </a:solidFill>
          <a:ln/>
        </p:spPr>
      </p:sp>
      <p:sp>
        <p:nvSpPr>
          <p:cNvPr id="26" name="text-88"/>
          <p:cNvSpPr txBox="1"/>
          <p:nvPr/>
        </p:nvSpPr>
        <p:spPr>
          <a:xfrm>
            <a:off x="3538728" y="3154680"/>
            <a:ext cx="914400" cy="274320"/>
          </a:xfrm>
          <a:prstGeom prst="rect">
            <a:avLst/>
          </a:prstGeom>
          <a:noFill/>
          <a:ln/>
        </p:spPr>
        <p:txBody>
          <a:bodyPr wrap="square" lIns="0" tIns="0" rIns="0" bIns="0" rtlCol="0" anchor="t"/>
          <a:lstStyle/>
          <a:p>
            <a:pPr indent="0" marL="0">
              <a:buNone/>
            </a:pPr>
            <a:r>
              <a:rPr lang="en-US" sz="1300" b="1" dirty="0">
                <a:solidFill>
                  <a:srgbClr val="2E5FAE"/>
                </a:solidFill>
              </a:rPr>
              <a:t>M6</a:t>
            </a:r>
            <a:endParaRPr lang="en-US" sz="1300" dirty="0"/>
          </a:p>
        </p:txBody>
      </p:sp>
      <p:sp>
        <p:nvSpPr>
          <p:cNvPr id="27" name="text-89"/>
          <p:cNvSpPr txBox="1"/>
          <p:nvPr/>
        </p:nvSpPr>
        <p:spPr>
          <a:xfrm>
            <a:off x="3538728" y="3401568"/>
            <a:ext cx="2286000" cy="502920"/>
          </a:xfrm>
          <a:prstGeom prst="rect">
            <a:avLst/>
          </a:prstGeom>
          <a:noFill/>
          <a:ln/>
        </p:spPr>
        <p:txBody>
          <a:bodyPr wrap="square" lIns="0" tIns="0" rIns="0" bIns="0" rtlCol="0" anchor="t"/>
          <a:lstStyle/>
          <a:p>
            <a:pPr indent="0" marL="0">
              <a:buNone/>
            </a:pPr>
            <a:r>
              <a:rPr lang="en-US" sz="1400" b="1" dirty="0">
                <a:solidFill>
                  <a:srgbClr val="0B318F"/>
                </a:solidFill>
              </a:rPr>
              <a:t>Open source &amp; cloud compliance</a:t>
            </a:r>
            <a:endParaRPr lang="en-US" sz="1400" dirty="0"/>
          </a:p>
        </p:txBody>
      </p:sp>
      <p:sp>
        <p:nvSpPr>
          <p:cNvPr id="28" name="text-90"/>
          <p:cNvSpPr txBox="1"/>
          <p:nvPr/>
        </p:nvSpPr>
        <p:spPr>
          <a:xfrm>
            <a:off x="3538728" y="3913632"/>
            <a:ext cx="2286000" cy="411480"/>
          </a:xfrm>
          <a:prstGeom prst="rect">
            <a:avLst/>
          </a:prstGeom>
          <a:noFill/>
          <a:ln/>
        </p:spPr>
        <p:txBody>
          <a:bodyPr wrap="square" lIns="0" tIns="0" rIns="0" bIns="0" rtlCol="0" anchor="t"/>
          <a:lstStyle/>
          <a:p>
            <a:pPr indent="0" marL="0">
              <a:buNone/>
            </a:pPr>
            <a:r>
              <a:rPr lang="en-US" sz="1200" dirty="0">
                <a:solidFill>
                  <a:srgbClr val="6B7280"/>
                </a:solidFill>
              </a:rPr>
              <a:t>OSS only, OGC services, MeitY cloud, DR</a:t>
            </a:r>
            <a:endParaRPr lang="en-US" sz="1200" dirty="0"/>
          </a:p>
        </p:txBody>
      </p:sp>
      <p:sp>
        <p:nvSpPr>
          <p:cNvPr id="29" name="card-91"/>
          <p:cNvSpPr/>
          <p:nvPr/>
        </p:nvSpPr>
        <p:spPr>
          <a:xfrm>
            <a:off x="6163056" y="3017520"/>
            <a:ext cx="2624328" cy="1371600"/>
          </a:xfrm>
          <a:prstGeom prst="roundRect">
            <a:avLst>
              <a:gd name="adj" fmla="val 5333"/>
            </a:avLst>
          </a:prstGeom>
          <a:solidFill>
            <a:srgbClr val="EEF2F9"/>
          </a:solidFill>
          <a:ln/>
        </p:spPr>
      </p:sp>
      <p:sp>
        <p:nvSpPr>
          <p:cNvPr id="30" name="text-92"/>
          <p:cNvSpPr txBox="1"/>
          <p:nvPr/>
        </p:nvSpPr>
        <p:spPr>
          <a:xfrm>
            <a:off x="6345936" y="3154680"/>
            <a:ext cx="914400" cy="274320"/>
          </a:xfrm>
          <a:prstGeom prst="rect">
            <a:avLst/>
          </a:prstGeom>
          <a:noFill/>
          <a:ln/>
        </p:spPr>
        <p:txBody>
          <a:bodyPr wrap="square" lIns="0" tIns="0" rIns="0" bIns="0" rtlCol="0" anchor="t"/>
          <a:lstStyle/>
          <a:p>
            <a:pPr indent="0" marL="0">
              <a:buNone/>
            </a:pPr>
            <a:r>
              <a:rPr lang="en-US" sz="1300" b="1" dirty="0">
                <a:solidFill>
                  <a:srgbClr val="2E5FAE"/>
                </a:solidFill>
              </a:rPr>
              <a:t>M7</a:t>
            </a:r>
            <a:endParaRPr lang="en-US" sz="1300" dirty="0"/>
          </a:p>
        </p:txBody>
      </p:sp>
      <p:sp>
        <p:nvSpPr>
          <p:cNvPr id="31" name="text-93"/>
          <p:cNvSpPr txBox="1"/>
          <p:nvPr/>
        </p:nvSpPr>
        <p:spPr>
          <a:xfrm>
            <a:off x="6345936" y="3401568"/>
            <a:ext cx="2286000" cy="502920"/>
          </a:xfrm>
          <a:prstGeom prst="rect">
            <a:avLst/>
          </a:prstGeom>
          <a:noFill/>
          <a:ln/>
        </p:spPr>
        <p:txBody>
          <a:bodyPr wrap="square" lIns="0" tIns="0" rIns="0" bIns="0" rtlCol="0" anchor="t"/>
          <a:lstStyle/>
          <a:p>
            <a:pPr indent="0" marL="0">
              <a:buNone/>
            </a:pPr>
            <a:r>
              <a:rPr lang="en-US" sz="1400" b="1" dirty="0">
                <a:solidFill>
                  <a:srgbClr val="0B318F"/>
                </a:solidFill>
              </a:rPr>
              <a:t>Training &amp; knowledge transfer</a:t>
            </a:r>
            <a:endParaRPr lang="en-US" sz="1400" dirty="0"/>
          </a:p>
        </p:txBody>
      </p:sp>
      <p:sp>
        <p:nvSpPr>
          <p:cNvPr id="32" name="text-94"/>
          <p:cNvSpPr txBox="1"/>
          <p:nvPr/>
        </p:nvSpPr>
        <p:spPr>
          <a:xfrm>
            <a:off x="6345936" y="3913632"/>
            <a:ext cx="2286000" cy="411480"/>
          </a:xfrm>
          <a:prstGeom prst="rect">
            <a:avLst/>
          </a:prstGeom>
          <a:noFill/>
          <a:ln/>
        </p:spPr>
        <p:txBody>
          <a:bodyPr wrap="square" lIns="0" tIns="0" rIns="0" bIns="0" rtlCol="0" anchor="t"/>
          <a:lstStyle/>
          <a:p>
            <a:pPr indent="0" marL="0">
              <a:buNone/>
            </a:pPr>
            <a:r>
              <a:rPr lang="en-US" sz="1200" dirty="0">
                <a:solidFill>
                  <a:srgbClr val="6B7280"/>
                </a:solidFill>
              </a:rPr>
              <a:t>Role-wise, English and Telugu</a:t>
            </a:r>
            <a:endParaRPr lang="en-US" sz="1200" dirty="0"/>
          </a:p>
        </p:txBody>
      </p:sp>
      <p:sp>
        <p:nvSpPr>
          <p:cNvPr id="33" name="card-95"/>
          <p:cNvSpPr/>
          <p:nvPr/>
        </p:nvSpPr>
        <p:spPr>
          <a:xfrm>
            <a:off x="8970264" y="3017520"/>
            <a:ext cx="2624328" cy="1371600"/>
          </a:xfrm>
          <a:prstGeom prst="roundRect">
            <a:avLst>
              <a:gd name="adj" fmla="val 5333"/>
            </a:avLst>
          </a:prstGeom>
          <a:solidFill>
            <a:srgbClr val="EEF2F9"/>
          </a:solidFill>
          <a:ln/>
        </p:spPr>
      </p:sp>
      <p:sp>
        <p:nvSpPr>
          <p:cNvPr id="34" name="text-96"/>
          <p:cNvSpPr txBox="1"/>
          <p:nvPr/>
        </p:nvSpPr>
        <p:spPr>
          <a:xfrm>
            <a:off x="9153144" y="3154680"/>
            <a:ext cx="914400" cy="274320"/>
          </a:xfrm>
          <a:prstGeom prst="rect">
            <a:avLst/>
          </a:prstGeom>
          <a:noFill/>
          <a:ln/>
        </p:spPr>
        <p:txBody>
          <a:bodyPr wrap="square" lIns="0" tIns="0" rIns="0" bIns="0" rtlCol="0" anchor="t"/>
          <a:lstStyle/>
          <a:p>
            <a:pPr indent="0" marL="0">
              <a:buNone/>
            </a:pPr>
            <a:r>
              <a:rPr lang="en-US" sz="1300" b="1" dirty="0">
                <a:solidFill>
                  <a:srgbClr val="2E5FAE"/>
                </a:solidFill>
              </a:rPr>
              <a:t>M8</a:t>
            </a:r>
            <a:endParaRPr lang="en-US" sz="1300" dirty="0"/>
          </a:p>
        </p:txBody>
      </p:sp>
      <p:sp>
        <p:nvSpPr>
          <p:cNvPr id="35" name="text-97"/>
          <p:cNvSpPr txBox="1"/>
          <p:nvPr/>
        </p:nvSpPr>
        <p:spPr>
          <a:xfrm>
            <a:off x="9153144" y="3401568"/>
            <a:ext cx="2286000" cy="502920"/>
          </a:xfrm>
          <a:prstGeom prst="rect">
            <a:avLst/>
          </a:prstGeom>
          <a:noFill/>
          <a:ln/>
        </p:spPr>
        <p:txBody>
          <a:bodyPr wrap="square" lIns="0" tIns="0" rIns="0" bIns="0" rtlCol="0" anchor="t"/>
          <a:lstStyle/>
          <a:p>
            <a:pPr indent="0" marL="0">
              <a:buNone/>
            </a:pPr>
            <a:r>
              <a:rPr lang="en-US" sz="1400" b="1" dirty="0">
                <a:solidFill>
                  <a:srgbClr val="0B318F"/>
                </a:solidFill>
              </a:rPr>
              <a:t>Operations &amp; maintenance</a:t>
            </a:r>
            <a:endParaRPr lang="en-US" sz="1400" dirty="0"/>
          </a:p>
        </p:txBody>
      </p:sp>
      <p:sp>
        <p:nvSpPr>
          <p:cNvPr id="36" name="text-98"/>
          <p:cNvSpPr txBox="1"/>
          <p:nvPr/>
        </p:nvSpPr>
        <p:spPr>
          <a:xfrm>
            <a:off x="9153144" y="3913632"/>
            <a:ext cx="2286000" cy="411480"/>
          </a:xfrm>
          <a:prstGeom prst="rect">
            <a:avLst/>
          </a:prstGeom>
          <a:noFill/>
          <a:ln/>
        </p:spPr>
        <p:txBody>
          <a:bodyPr wrap="square" lIns="0" tIns="0" rIns="0" bIns="0" rtlCol="0" anchor="t"/>
          <a:lstStyle/>
          <a:p>
            <a:pPr indent="0" marL="0">
              <a:buNone/>
            </a:pPr>
            <a:r>
              <a:rPr lang="en-US" sz="1200" dirty="0">
                <a:solidFill>
                  <a:srgbClr val="6B7280"/>
                </a:solidFill>
              </a:rPr>
              <a:t>24x7 helpdesk, 99.5% uptime, hypercare</a:t>
            </a:r>
            <a:endParaRPr lang="en-US" sz="1200" dirty="0"/>
          </a:p>
        </p:txBody>
      </p:sp>
      <p:sp>
        <p:nvSpPr>
          <p:cNvPr id="37" name="card-99"/>
          <p:cNvSpPr/>
          <p:nvPr/>
        </p:nvSpPr>
        <p:spPr>
          <a:xfrm>
            <a:off x="548640" y="4572000"/>
            <a:ext cx="2624328" cy="1371600"/>
          </a:xfrm>
          <a:prstGeom prst="roundRect">
            <a:avLst>
              <a:gd name="adj" fmla="val 5333"/>
            </a:avLst>
          </a:prstGeom>
          <a:solidFill>
            <a:srgbClr val="EEF2F9"/>
          </a:solidFill>
          <a:ln/>
        </p:spPr>
      </p:sp>
      <p:sp>
        <p:nvSpPr>
          <p:cNvPr id="38" name="text-100"/>
          <p:cNvSpPr txBox="1"/>
          <p:nvPr/>
        </p:nvSpPr>
        <p:spPr>
          <a:xfrm>
            <a:off x="731520" y="4709160"/>
            <a:ext cx="914400" cy="274320"/>
          </a:xfrm>
          <a:prstGeom prst="rect">
            <a:avLst/>
          </a:prstGeom>
          <a:noFill/>
          <a:ln/>
        </p:spPr>
        <p:txBody>
          <a:bodyPr wrap="square" lIns="0" tIns="0" rIns="0" bIns="0" rtlCol="0" anchor="t"/>
          <a:lstStyle/>
          <a:p>
            <a:pPr indent="0" marL="0">
              <a:buNone/>
            </a:pPr>
            <a:r>
              <a:rPr lang="en-US" sz="1300" b="1" dirty="0">
                <a:solidFill>
                  <a:srgbClr val="2E5FAE"/>
                </a:solidFill>
              </a:rPr>
              <a:t>M9</a:t>
            </a:r>
            <a:endParaRPr lang="en-US" sz="1300" dirty="0"/>
          </a:p>
        </p:txBody>
      </p:sp>
      <p:sp>
        <p:nvSpPr>
          <p:cNvPr id="39" name="text-101"/>
          <p:cNvSpPr txBox="1"/>
          <p:nvPr/>
        </p:nvSpPr>
        <p:spPr>
          <a:xfrm>
            <a:off x="731520" y="4956048"/>
            <a:ext cx="2286000" cy="502920"/>
          </a:xfrm>
          <a:prstGeom prst="rect">
            <a:avLst/>
          </a:prstGeom>
          <a:noFill/>
          <a:ln/>
        </p:spPr>
        <p:txBody>
          <a:bodyPr wrap="square" lIns="0" tIns="0" rIns="0" bIns="0" rtlCol="0" anchor="t"/>
          <a:lstStyle/>
          <a:p>
            <a:pPr indent="0" marL="0">
              <a:buNone/>
            </a:pPr>
            <a:r>
              <a:rPr lang="en-US" sz="1400" b="1" dirty="0">
                <a:solidFill>
                  <a:srgbClr val="0B318F"/>
                </a:solidFill>
              </a:rPr>
              <a:t>Testing &amp; quality assurance</a:t>
            </a:r>
            <a:endParaRPr lang="en-US" sz="1400" dirty="0"/>
          </a:p>
        </p:txBody>
      </p:sp>
      <p:sp>
        <p:nvSpPr>
          <p:cNvPr id="40" name="text-102"/>
          <p:cNvSpPr txBox="1"/>
          <p:nvPr/>
        </p:nvSpPr>
        <p:spPr>
          <a:xfrm>
            <a:off x="731520" y="5468112"/>
            <a:ext cx="2286000" cy="411480"/>
          </a:xfrm>
          <a:prstGeom prst="rect">
            <a:avLst/>
          </a:prstGeom>
          <a:noFill/>
          <a:ln/>
        </p:spPr>
        <p:txBody>
          <a:bodyPr wrap="square" lIns="0" tIns="0" rIns="0" bIns="0" rtlCol="0" anchor="t"/>
          <a:lstStyle/>
          <a:p>
            <a:pPr indent="0" marL="0">
              <a:buNone/>
            </a:pPr>
            <a:r>
              <a:rPr lang="en-US" sz="1200" dirty="0">
                <a:solidFill>
                  <a:srgbClr val="6B7280"/>
                </a:solidFill>
              </a:rPr>
              <a:t>SIT, load, security, UAT</a:t>
            </a:r>
            <a:endParaRPr lang="en-US" sz="1200" dirty="0"/>
          </a:p>
        </p:txBody>
      </p:sp>
      <p:sp>
        <p:nvSpPr>
          <p:cNvPr id="41" name="card-103"/>
          <p:cNvSpPr/>
          <p:nvPr/>
        </p:nvSpPr>
        <p:spPr>
          <a:xfrm>
            <a:off x="3355848" y="4572000"/>
            <a:ext cx="2624328" cy="1371600"/>
          </a:xfrm>
          <a:prstGeom prst="roundRect">
            <a:avLst>
              <a:gd name="adj" fmla="val 5333"/>
            </a:avLst>
          </a:prstGeom>
          <a:solidFill>
            <a:srgbClr val="EEF2F9"/>
          </a:solidFill>
          <a:ln/>
        </p:spPr>
      </p:sp>
      <p:sp>
        <p:nvSpPr>
          <p:cNvPr id="42" name="text-104"/>
          <p:cNvSpPr txBox="1"/>
          <p:nvPr/>
        </p:nvSpPr>
        <p:spPr>
          <a:xfrm>
            <a:off x="3538728" y="4709160"/>
            <a:ext cx="914400" cy="274320"/>
          </a:xfrm>
          <a:prstGeom prst="rect">
            <a:avLst/>
          </a:prstGeom>
          <a:noFill/>
          <a:ln/>
        </p:spPr>
        <p:txBody>
          <a:bodyPr wrap="square" lIns="0" tIns="0" rIns="0" bIns="0" rtlCol="0" anchor="t"/>
          <a:lstStyle/>
          <a:p>
            <a:pPr indent="0" marL="0">
              <a:buNone/>
            </a:pPr>
            <a:r>
              <a:rPr lang="en-US" sz="1300" b="1" dirty="0">
                <a:solidFill>
                  <a:srgbClr val="2E5FAE"/>
                </a:solidFill>
              </a:rPr>
              <a:t>M10</a:t>
            </a:r>
            <a:endParaRPr lang="en-US" sz="1300" dirty="0"/>
          </a:p>
        </p:txBody>
      </p:sp>
      <p:sp>
        <p:nvSpPr>
          <p:cNvPr id="43" name="text-105"/>
          <p:cNvSpPr txBox="1"/>
          <p:nvPr/>
        </p:nvSpPr>
        <p:spPr>
          <a:xfrm>
            <a:off x="3538728" y="4956048"/>
            <a:ext cx="2286000" cy="502920"/>
          </a:xfrm>
          <a:prstGeom prst="rect">
            <a:avLst/>
          </a:prstGeom>
          <a:noFill/>
          <a:ln/>
        </p:spPr>
        <p:txBody>
          <a:bodyPr wrap="square" lIns="0" tIns="0" rIns="0" bIns="0" rtlCol="0" anchor="t"/>
          <a:lstStyle/>
          <a:p>
            <a:pPr indent="0" marL="0">
              <a:buNone/>
            </a:pPr>
            <a:r>
              <a:rPr lang="en-US" sz="1400" b="1" dirty="0">
                <a:solidFill>
                  <a:srgbClr val="0B318F"/>
                </a:solidFill>
              </a:rPr>
              <a:t>Integration &amp; interoperability</a:t>
            </a:r>
            <a:endParaRPr lang="en-US" sz="1400" dirty="0"/>
          </a:p>
        </p:txBody>
      </p:sp>
      <p:sp>
        <p:nvSpPr>
          <p:cNvPr id="44" name="text-106"/>
          <p:cNvSpPr txBox="1"/>
          <p:nvPr/>
        </p:nvSpPr>
        <p:spPr>
          <a:xfrm>
            <a:off x="3538728" y="5468112"/>
            <a:ext cx="2286000" cy="411480"/>
          </a:xfrm>
          <a:prstGeom prst="rect">
            <a:avLst/>
          </a:prstGeom>
          <a:noFill/>
          <a:ln/>
        </p:spPr>
        <p:txBody>
          <a:bodyPr wrap="square" lIns="0" tIns="0" rIns="0" bIns="0" rtlCol="0" anchor="t"/>
          <a:lstStyle/>
          <a:p>
            <a:pPr indent="0" marL="0">
              <a:buNone/>
            </a:pPr>
            <a:r>
              <a:rPr lang="en-US" sz="1200" dirty="0">
                <a:solidFill>
                  <a:srgbClr val="6B7280"/>
                </a:solidFill>
              </a:rPr>
              <a:t>REST APIs, payment, SMS, WhatsApp, imagery</a:t>
            </a:r>
            <a:endParaRPr lang="en-US" sz="1200" dirty="0"/>
          </a:p>
        </p:txBody>
      </p:sp>
      <p:sp>
        <p:nvSpPr>
          <p:cNvPr id="45" name="card-107"/>
          <p:cNvSpPr/>
          <p:nvPr/>
        </p:nvSpPr>
        <p:spPr>
          <a:xfrm>
            <a:off x="6163056" y="4572000"/>
            <a:ext cx="2624328" cy="1371600"/>
          </a:xfrm>
          <a:prstGeom prst="roundRect">
            <a:avLst>
              <a:gd name="adj" fmla="val 5333"/>
            </a:avLst>
          </a:prstGeom>
          <a:solidFill>
            <a:srgbClr val="EEF2F9"/>
          </a:solidFill>
          <a:ln/>
        </p:spPr>
      </p:sp>
      <p:sp>
        <p:nvSpPr>
          <p:cNvPr id="46" name="text-108"/>
          <p:cNvSpPr txBox="1"/>
          <p:nvPr/>
        </p:nvSpPr>
        <p:spPr>
          <a:xfrm>
            <a:off x="6345936" y="4709160"/>
            <a:ext cx="914400" cy="274320"/>
          </a:xfrm>
          <a:prstGeom prst="rect">
            <a:avLst/>
          </a:prstGeom>
          <a:noFill/>
          <a:ln/>
        </p:spPr>
        <p:txBody>
          <a:bodyPr wrap="square" lIns="0" tIns="0" rIns="0" bIns="0" rtlCol="0" anchor="t"/>
          <a:lstStyle/>
          <a:p>
            <a:pPr indent="0" marL="0">
              <a:buNone/>
            </a:pPr>
            <a:r>
              <a:rPr lang="en-US" sz="1300" b="1" dirty="0">
                <a:solidFill>
                  <a:srgbClr val="2E5FAE"/>
                </a:solidFill>
              </a:rPr>
              <a:t>M11</a:t>
            </a:r>
            <a:endParaRPr lang="en-US" sz="1300" dirty="0"/>
          </a:p>
        </p:txBody>
      </p:sp>
      <p:sp>
        <p:nvSpPr>
          <p:cNvPr id="47" name="text-109"/>
          <p:cNvSpPr txBox="1"/>
          <p:nvPr/>
        </p:nvSpPr>
        <p:spPr>
          <a:xfrm>
            <a:off x="6345936" y="4956048"/>
            <a:ext cx="2286000" cy="502920"/>
          </a:xfrm>
          <a:prstGeom prst="rect">
            <a:avLst/>
          </a:prstGeom>
          <a:noFill/>
          <a:ln/>
        </p:spPr>
        <p:txBody>
          <a:bodyPr wrap="square" lIns="0" tIns="0" rIns="0" bIns="0" rtlCol="0" anchor="t"/>
          <a:lstStyle/>
          <a:p>
            <a:pPr indent="0" marL="0">
              <a:buNone/>
            </a:pPr>
            <a:r>
              <a:rPr lang="en-US" sz="1400" b="1" dirty="0">
                <a:solidFill>
                  <a:srgbClr val="0B318F"/>
                </a:solidFill>
              </a:rPr>
              <a:t>Revenue information management</a:t>
            </a:r>
            <a:endParaRPr lang="en-US" sz="1400" dirty="0"/>
          </a:p>
        </p:txBody>
      </p:sp>
      <p:sp>
        <p:nvSpPr>
          <p:cNvPr id="48" name="text-110"/>
          <p:cNvSpPr txBox="1"/>
          <p:nvPr/>
        </p:nvSpPr>
        <p:spPr>
          <a:xfrm>
            <a:off x="6345936" y="5468112"/>
            <a:ext cx="2286000" cy="411480"/>
          </a:xfrm>
          <a:prstGeom prst="rect">
            <a:avLst/>
          </a:prstGeom>
          <a:noFill/>
          <a:ln/>
        </p:spPr>
        <p:txBody>
          <a:bodyPr wrap="square" lIns="0" tIns="0" rIns="0" bIns="0" rtlCol="0" anchor="t"/>
          <a:lstStyle/>
          <a:p>
            <a:pPr indent="0" marL="0">
              <a:buNone/>
            </a:pPr>
            <a:r>
              <a:rPr lang="en-US" sz="1200" dirty="0">
                <a:solidFill>
                  <a:srgbClr val="6B7280"/>
                </a:solidFill>
              </a:rPr>
              <a:t>Royalty, levies, penalties, outstanding dues</a:t>
            </a:r>
            <a:endParaRPr lang="en-US" sz="1200" dirty="0"/>
          </a:p>
        </p:txBody>
      </p:sp>
      <p:sp>
        <p:nvSpPr>
          <p:cNvPr id="49" name="card-111"/>
          <p:cNvSpPr/>
          <p:nvPr/>
        </p:nvSpPr>
        <p:spPr>
          <a:xfrm>
            <a:off x="8970264" y="4572000"/>
            <a:ext cx="2624328" cy="1371600"/>
          </a:xfrm>
          <a:prstGeom prst="roundRect">
            <a:avLst>
              <a:gd name="adj" fmla="val 5333"/>
            </a:avLst>
          </a:prstGeom>
          <a:solidFill>
            <a:srgbClr val="0B318F"/>
          </a:solidFill>
          <a:ln/>
        </p:spPr>
      </p:sp>
      <p:sp>
        <p:nvSpPr>
          <p:cNvPr id="50" name="text-112"/>
          <p:cNvSpPr txBox="1"/>
          <p:nvPr/>
        </p:nvSpPr>
        <p:spPr>
          <a:xfrm>
            <a:off x="9134856" y="4709160"/>
            <a:ext cx="2286000" cy="411480"/>
          </a:xfrm>
          <a:prstGeom prst="rect">
            <a:avLst/>
          </a:prstGeom>
          <a:noFill/>
          <a:ln/>
        </p:spPr>
        <p:txBody>
          <a:bodyPr wrap="square" lIns="0" tIns="0" rIns="0" bIns="0" rtlCol="0" anchor="t"/>
          <a:lstStyle/>
          <a:p>
            <a:pPr indent="0" marL="0">
              <a:buNone/>
            </a:pPr>
            <a:r>
              <a:rPr lang="en-US" sz="2200" b="1" dirty="0">
                <a:solidFill>
                  <a:srgbClr val="FF6100"/>
                </a:solidFill>
                <a:latin typeface="Calibri" pitchFamily="34" charset="0"/>
                <a:ea typeface="Calibri" pitchFamily="34" charset="-122"/>
                <a:cs typeface="Calibri" pitchFamily="34" charset="-120"/>
              </a:rPr>
              <a:t>T + 90 days</a:t>
            </a:r>
            <a:endParaRPr lang="en-US" sz="2200" dirty="0"/>
          </a:p>
        </p:txBody>
      </p:sp>
      <p:sp>
        <p:nvSpPr>
          <p:cNvPr id="51" name="text-113"/>
          <p:cNvSpPr txBox="1"/>
          <p:nvPr/>
        </p:nvSpPr>
        <p:spPr>
          <a:xfrm>
            <a:off x="9134856" y="5138928"/>
            <a:ext cx="2286000" cy="548640"/>
          </a:xfrm>
          <a:prstGeom prst="rect">
            <a:avLst/>
          </a:prstGeom>
          <a:noFill/>
          <a:ln/>
        </p:spPr>
        <p:txBody>
          <a:bodyPr wrap="square" lIns="0" tIns="0" rIns="0" bIns="0" rtlCol="0" anchor="t"/>
          <a:lstStyle/>
          <a:p>
            <a:pPr indent="0" marL="0">
              <a:buNone/>
            </a:pPr>
            <a:r>
              <a:rPr lang="en-US" sz="1300" dirty="0">
                <a:solidFill>
                  <a:srgbClr val="FFFFFF"/>
                </a:solidFill>
              </a:rPr>
              <a:t>to Go-Live, then 33 months of O&amp;M</a:t>
            </a:r>
            <a:endParaRPr lang="en-US" sz="1300" dirty="0"/>
          </a:p>
        </p:txBody>
      </p:sp>
      <p:sp>
        <p:nvSpPr>
          <p:cNvPr id="54" name="KeyPoint band blue"/>
          <p:cNvSpPr/>
          <p:nvPr/>
        </p:nvSpPr>
        <p:spPr>
          <a:xfrm>
            <a:off x="0" y="6611000"/>
            <a:ext cx="8298000" cy="247000"/>
          </a:xfrm>
          <a:prstGeom prst="rect">
            <a:avLst/>
          </a:prstGeom>
          <a:solidFill>
            <a:srgbClr val="3767B1"/>
          </a:solidFill>
          <a:ln>
            <a:noFill/>
          </a:ln>
        </p:spPr>
      </p:sp>
      <p:sp>
        <p:nvSpPr>
          <p:cNvPr id="55" name="KeyPoint band orange"/>
          <p:cNvSpPr/>
          <p:nvPr/>
        </p:nvSpPr>
        <p:spPr>
          <a:xfrm>
            <a:off x="8298000" y="6611000"/>
            <a:ext cx="3894000" cy="247000"/>
          </a:xfrm>
          <a:prstGeom prst="rect">
            <a:avLst/>
          </a:prstGeom>
          <a:solidFill>
            <a:srgbClr val="FF6100"/>
          </a:solidFill>
          <a:ln>
            <a:noFill/>
          </a:ln>
        </p:spPr>
      </p:sp>
      <p:sp>
        <p:nvSpPr>
          <p:cNvPr id="52" name="KeyPoint logo box"/>
          <p:cNvSpPr/>
          <p:nvPr/>
        </p:nvSpPr>
        <p:spPr>
          <a:xfrm>
            <a:off x="9972675" y="142875"/>
            <a:ext cx="2162175" cy="704850"/>
          </a:xfrm>
          <a:custGeom>
            <a:avLst/>
            <a:gdLst/>
            <a:ahLst/>
            <a:cxnLst/>
            <a:rect l="l" t="t" r="r" b="b"/>
            <a:pathLst>
              <a:path w="2162175" h="704850">
                <a:moveTo>
                  <a:pt x="2044700" y="0"/>
                </a:moveTo>
                <a:lnTo>
                  <a:pt x="117475" y="0"/>
                </a:lnTo>
                <a:lnTo>
                  <a:pt x="71741" y="9229"/>
                </a:lnTo>
                <a:lnTo>
                  <a:pt x="34401" y="34401"/>
                </a:lnTo>
                <a:lnTo>
                  <a:pt x="9229" y="71741"/>
                </a:lnTo>
                <a:lnTo>
                  <a:pt x="0" y="117475"/>
                </a:lnTo>
                <a:lnTo>
                  <a:pt x="0" y="587375"/>
                </a:lnTo>
                <a:lnTo>
                  <a:pt x="9229" y="633108"/>
                </a:lnTo>
                <a:lnTo>
                  <a:pt x="34401" y="670448"/>
                </a:lnTo>
                <a:lnTo>
                  <a:pt x="71741" y="695620"/>
                </a:lnTo>
                <a:lnTo>
                  <a:pt x="117475" y="704850"/>
                </a:lnTo>
                <a:lnTo>
                  <a:pt x="2044700" y="704850"/>
                </a:lnTo>
                <a:lnTo>
                  <a:pt x="2090433" y="695620"/>
                </a:lnTo>
                <a:lnTo>
                  <a:pt x="2127773" y="670448"/>
                </a:lnTo>
                <a:lnTo>
                  <a:pt x="2152945" y="633108"/>
                </a:lnTo>
                <a:lnTo>
                  <a:pt x="2162175" y="587375"/>
                </a:lnTo>
                <a:lnTo>
                  <a:pt x="2162175" y="117475"/>
                </a:lnTo>
                <a:lnTo>
                  <a:pt x="2152945" y="71741"/>
                </a:lnTo>
                <a:lnTo>
                  <a:pt x="2127773" y="34401"/>
                </a:lnTo>
                <a:lnTo>
                  <a:pt x="2090433" y="9229"/>
                </a:lnTo>
                <a:lnTo>
                  <a:pt x="2044700" y="0"/>
                </a:lnTo>
                <a:close/>
              </a:path>
            </a:pathLst>
          </a:custGeom>
          <a:solidFill>
            <a:srgbClr val="FFFFFF"/>
          </a:solidFill>
        </p:spPr>
        <p:txBody>
          <a:bodyPr wrap="square" lIns="0" tIns="0" rIns="0" bIns="0" rtlCol="0"/>
          <a:lstStyle/>
          <a:p/>
        </p:txBody>
      </p:sp>
      <p:pic>
        <p:nvPicPr>
          <p:cNvPr id="53" name="KeyPoint logo" descr="KeyPoint Technologies logo"/>
          <p:cNvPicPr/>
          <p:nvPr/>
        </p:nvPicPr>
        <p:blipFill>
          <a:blip r:embed="rIdKpLogo" cstate="print"/>
          <a:stretch>
            <a:fillRect/>
          </a:stretch>
        </p:blipFill>
        <p:spPr>
          <a:xfrm>
            <a:off x="10134600" y="209550"/>
            <a:ext cx="1828800" cy="5524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114"/>
          <p:cNvSpPr txBox="1"/>
          <p:nvPr/>
        </p:nvSpPr>
        <p:spPr>
          <a:xfrm>
            <a:off x="548640" y="274320"/>
            <a:ext cx="10972800" cy="256032"/>
          </a:xfrm>
          <a:prstGeom prst="rect">
            <a:avLst/>
          </a:prstGeom>
          <a:noFill/>
          <a:ln/>
        </p:spPr>
        <p:txBody>
          <a:bodyPr wrap="square" lIns="0" tIns="0" rIns="0" bIns="0" rtlCol="0" anchor="ctr"/>
          <a:lstStyle/>
          <a:p>
            <a:pPr indent="0" marL="0">
              <a:buNone/>
            </a:pPr>
            <a:r>
              <a:rPr lang="en-US" sz="1100" b="1" spc="200" kern="0" dirty="0">
                <a:solidFill>
                  <a:srgbClr val="2E5FAE"/>
                </a:solidFill>
              </a:rPr>
              <a:t>02 · SOLUTION</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rgbClr val="0B318F"/>
                </a:solidFill>
              </a:rPr>
              <a:t>Solution architecture</a:t>
            </a:r>
            <a:endParaRPr lang="en-US" sz="3200" dirty="0"/>
          </a:p>
        </p:txBody>
      </p:sp>
      <p:sp>
        <p:nvSpPr>
          <p:cNvPr id="5" name="text-115"/>
          <p:cNvSpPr txBox="1"/>
          <p:nvPr/>
        </p:nvSpPr>
        <p:spPr>
          <a:xfrm>
            <a:off x="548640" y="1618488"/>
            <a:ext cx="1554480" cy="274320"/>
          </a:xfrm>
          <a:prstGeom prst="rect">
            <a:avLst/>
          </a:prstGeom>
          <a:noFill/>
          <a:ln/>
        </p:spPr>
        <p:txBody>
          <a:bodyPr wrap="square" lIns="0" tIns="0" rIns="0" bIns="0" rtlCol="0" anchor="t"/>
          <a:lstStyle/>
          <a:p>
            <a:pPr indent="0" marL="0">
              <a:buNone/>
            </a:pPr>
            <a:r>
              <a:rPr lang="en-US" sz="1200" b="1" spc="100" kern="0" dirty="0">
                <a:solidFill>
                  <a:srgbClr val="6B7280"/>
                </a:solidFill>
              </a:rPr>
              <a:t>USERS</a:t>
            </a:r>
            <a:endParaRPr lang="en-US" sz="1200" dirty="0"/>
          </a:p>
        </p:txBody>
      </p:sp>
      <p:sp>
        <p:nvSpPr>
          <p:cNvPr id="6" name="arch-box-116"/>
          <p:cNvSpPr/>
          <p:nvPr/>
        </p:nvSpPr>
        <p:spPr>
          <a:xfrm>
            <a:off x="2194560" y="1463040"/>
            <a:ext cx="1478280" cy="548640"/>
          </a:xfrm>
          <a:prstGeom prst="roundRect">
            <a:avLst>
              <a:gd name="adj" fmla="val 10000"/>
            </a:avLst>
          </a:prstGeom>
          <a:solidFill>
            <a:srgbClr val="EEF2F9"/>
          </a:solidFill>
          <a:ln/>
        </p:spPr>
      </p:sp>
      <p:sp>
        <p:nvSpPr>
          <p:cNvPr id="7" name="text-117"/>
          <p:cNvSpPr txBox="1"/>
          <p:nvPr/>
        </p:nvSpPr>
        <p:spPr>
          <a:xfrm>
            <a:off x="2240280" y="1463040"/>
            <a:ext cx="1386840" cy="548640"/>
          </a:xfrm>
          <a:prstGeom prst="rect">
            <a:avLst/>
          </a:prstGeom>
          <a:noFill/>
          <a:ln/>
        </p:spPr>
        <p:txBody>
          <a:bodyPr wrap="square" lIns="0" tIns="0" rIns="0" bIns="0" rtlCol="0" anchor="ctr"/>
          <a:lstStyle/>
          <a:p>
            <a:pPr algn="ctr" indent="0" marL="0">
              <a:buNone/>
            </a:pPr>
            <a:r>
              <a:rPr lang="en-US" sz="1200" dirty="0">
                <a:solidFill>
                  <a:srgbClr val="0B318F"/>
                </a:solidFill>
              </a:rPr>
              <a:t>Executives</a:t>
            </a:r>
            <a:endParaRPr lang="en-US" sz="1200" dirty="0"/>
          </a:p>
        </p:txBody>
      </p:sp>
      <p:sp>
        <p:nvSpPr>
          <p:cNvPr id="8" name="arch-box-118"/>
          <p:cNvSpPr/>
          <p:nvPr/>
        </p:nvSpPr>
        <p:spPr>
          <a:xfrm>
            <a:off x="3782568" y="1463040"/>
            <a:ext cx="1478280" cy="548640"/>
          </a:xfrm>
          <a:prstGeom prst="roundRect">
            <a:avLst>
              <a:gd name="adj" fmla="val 10000"/>
            </a:avLst>
          </a:prstGeom>
          <a:solidFill>
            <a:srgbClr val="EEF2F9"/>
          </a:solidFill>
          <a:ln/>
        </p:spPr>
      </p:sp>
      <p:sp>
        <p:nvSpPr>
          <p:cNvPr id="9" name="text-119"/>
          <p:cNvSpPr txBox="1"/>
          <p:nvPr/>
        </p:nvSpPr>
        <p:spPr>
          <a:xfrm>
            <a:off x="3828288" y="1463040"/>
            <a:ext cx="1386840" cy="548640"/>
          </a:xfrm>
          <a:prstGeom prst="rect">
            <a:avLst/>
          </a:prstGeom>
          <a:noFill/>
          <a:ln/>
        </p:spPr>
        <p:txBody>
          <a:bodyPr wrap="square" lIns="0" tIns="0" rIns="0" bIns="0" rtlCol="0" anchor="ctr"/>
          <a:lstStyle/>
          <a:p>
            <a:pPr algn="ctr" indent="0" marL="0">
              <a:buNone/>
            </a:pPr>
            <a:r>
              <a:rPr lang="en-US" sz="1200" dirty="0">
                <a:solidFill>
                  <a:srgbClr val="0B318F"/>
                </a:solidFill>
              </a:rPr>
              <a:t>District officers</a:t>
            </a:r>
            <a:endParaRPr lang="en-US" sz="1200" dirty="0"/>
          </a:p>
        </p:txBody>
      </p:sp>
      <p:sp>
        <p:nvSpPr>
          <p:cNvPr id="10" name="arch-box-120"/>
          <p:cNvSpPr/>
          <p:nvPr/>
        </p:nvSpPr>
        <p:spPr>
          <a:xfrm>
            <a:off x="5370576" y="1463040"/>
            <a:ext cx="1478280" cy="548640"/>
          </a:xfrm>
          <a:prstGeom prst="roundRect">
            <a:avLst>
              <a:gd name="adj" fmla="val 10000"/>
            </a:avLst>
          </a:prstGeom>
          <a:solidFill>
            <a:srgbClr val="EEF2F9"/>
          </a:solidFill>
          <a:ln/>
        </p:spPr>
      </p:sp>
      <p:sp>
        <p:nvSpPr>
          <p:cNvPr id="11" name="text-121"/>
          <p:cNvSpPr txBox="1"/>
          <p:nvPr/>
        </p:nvSpPr>
        <p:spPr>
          <a:xfrm>
            <a:off x="5416296" y="1463040"/>
            <a:ext cx="1386840" cy="548640"/>
          </a:xfrm>
          <a:prstGeom prst="rect">
            <a:avLst/>
          </a:prstGeom>
          <a:noFill/>
          <a:ln/>
        </p:spPr>
        <p:txBody>
          <a:bodyPr wrap="square" lIns="0" tIns="0" rIns="0" bIns="0" rtlCol="0" anchor="ctr"/>
          <a:lstStyle/>
          <a:p>
            <a:pPr algn="ctr" indent="0" marL="0">
              <a:buNone/>
            </a:pPr>
            <a:r>
              <a:rPr lang="en-US" sz="1200" dirty="0">
                <a:solidFill>
                  <a:srgbClr val="0B318F"/>
                </a:solidFill>
              </a:rPr>
              <a:t>Field officers (mobile)</a:t>
            </a:r>
            <a:endParaRPr lang="en-US" sz="1200" dirty="0"/>
          </a:p>
        </p:txBody>
      </p:sp>
      <p:sp>
        <p:nvSpPr>
          <p:cNvPr id="12" name="arch-box-122"/>
          <p:cNvSpPr/>
          <p:nvPr/>
        </p:nvSpPr>
        <p:spPr>
          <a:xfrm>
            <a:off x="6958584" y="1463040"/>
            <a:ext cx="1478280" cy="548640"/>
          </a:xfrm>
          <a:prstGeom prst="roundRect">
            <a:avLst>
              <a:gd name="adj" fmla="val 10000"/>
            </a:avLst>
          </a:prstGeom>
          <a:solidFill>
            <a:srgbClr val="EEF2F9"/>
          </a:solidFill>
          <a:ln/>
        </p:spPr>
      </p:sp>
      <p:sp>
        <p:nvSpPr>
          <p:cNvPr id="13" name="text-123"/>
          <p:cNvSpPr txBox="1"/>
          <p:nvPr/>
        </p:nvSpPr>
        <p:spPr>
          <a:xfrm>
            <a:off x="7004304" y="1463040"/>
            <a:ext cx="1386840" cy="548640"/>
          </a:xfrm>
          <a:prstGeom prst="rect">
            <a:avLst/>
          </a:prstGeom>
          <a:noFill/>
          <a:ln/>
        </p:spPr>
        <p:txBody>
          <a:bodyPr wrap="square" lIns="0" tIns="0" rIns="0" bIns="0" rtlCol="0" anchor="ctr"/>
          <a:lstStyle/>
          <a:p>
            <a:pPr algn="ctr" indent="0" marL="0">
              <a:buNone/>
            </a:pPr>
            <a:r>
              <a:rPr lang="en-US" sz="1200" dirty="0">
                <a:solidFill>
                  <a:srgbClr val="0B318F"/>
                </a:solidFill>
              </a:rPr>
              <a:t>Revenue staff</a:t>
            </a:r>
            <a:endParaRPr lang="en-US" sz="1200" dirty="0"/>
          </a:p>
        </p:txBody>
      </p:sp>
      <p:sp>
        <p:nvSpPr>
          <p:cNvPr id="14" name="arch-box-124"/>
          <p:cNvSpPr/>
          <p:nvPr/>
        </p:nvSpPr>
        <p:spPr>
          <a:xfrm>
            <a:off x="8546592" y="1463040"/>
            <a:ext cx="1478280" cy="548640"/>
          </a:xfrm>
          <a:prstGeom prst="roundRect">
            <a:avLst>
              <a:gd name="adj" fmla="val 10000"/>
            </a:avLst>
          </a:prstGeom>
          <a:solidFill>
            <a:srgbClr val="EEF2F9"/>
          </a:solidFill>
          <a:ln/>
        </p:spPr>
      </p:sp>
      <p:sp>
        <p:nvSpPr>
          <p:cNvPr id="15" name="text-125"/>
          <p:cNvSpPr txBox="1"/>
          <p:nvPr/>
        </p:nvSpPr>
        <p:spPr>
          <a:xfrm>
            <a:off x="8592312" y="1463040"/>
            <a:ext cx="1386840" cy="548640"/>
          </a:xfrm>
          <a:prstGeom prst="rect">
            <a:avLst/>
          </a:prstGeom>
          <a:noFill/>
          <a:ln/>
        </p:spPr>
        <p:txBody>
          <a:bodyPr wrap="square" lIns="0" tIns="0" rIns="0" bIns="0" rtlCol="0" anchor="ctr"/>
          <a:lstStyle/>
          <a:p>
            <a:pPr algn="ctr" indent="0" marL="0">
              <a:buNone/>
            </a:pPr>
            <a:r>
              <a:rPr lang="en-US" sz="1200" dirty="0">
                <a:solidFill>
                  <a:srgbClr val="0B318F"/>
                </a:solidFill>
              </a:rPr>
              <a:t>Leaseholder portal</a:t>
            </a:r>
            <a:endParaRPr lang="en-US" sz="1200" dirty="0"/>
          </a:p>
        </p:txBody>
      </p:sp>
      <p:sp>
        <p:nvSpPr>
          <p:cNvPr id="16" name="arch-box-126"/>
          <p:cNvSpPr/>
          <p:nvPr/>
        </p:nvSpPr>
        <p:spPr>
          <a:xfrm>
            <a:off x="10134600" y="1463040"/>
            <a:ext cx="1478280" cy="548640"/>
          </a:xfrm>
          <a:prstGeom prst="roundRect">
            <a:avLst>
              <a:gd name="adj" fmla="val 10000"/>
            </a:avLst>
          </a:prstGeom>
          <a:solidFill>
            <a:srgbClr val="EEF2F9"/>
          </a:solidFill>
          <a:ln/>
        </p:spPr>
      </p:sp>
      <p:sp>
        <p:nvSpPr>
          <p:cNvPr id="17" name="text-127"/>
          <p:cNvSpPr txBox="1"/>
          <p:nvPr/>
        </p:nvSpPr>
        <p:spPr>
          <a:xfrm>
            <a:off x="10180320" y="1463040"/>
            <a:ext cx="1386840" cy="548640"/>
          </a:xfrm>
          <a:prstGeom prst="rect">
            <a:avLst/>
          </a:prstGeom>
          <a:noFill/>
          <a:ln/>
        </p:spPr>
        <p:txBody>
          <a:bodyPr wrap="square" lIns="0" tIns="0" rIns="0" bIns="0" rtlCol="0" anchor="ctr"/>
          <a:lstStyle/>
          <a:p>
            <a:pPr algn="ctr" indent="0" marL="0">
              <a:buNone/>
            </a:pPr>
            <a:r>
              <a:rPr lang="en-US" sz="1200" dirty="0">
                <a:solidFill>
                  <a:srgbClr val="0B318F"/>
                </a:solidFill>
              </a:rPr>
              <a:t>Admin &amp; audit</a:t>
            </a:r>
            <a:endParaRPr lang="en-US" sz="1200" dirty="0"/>
          </a:p>
        </p:txBody>
      </p:sp>
      <p:sp>
        <p:nvSpPr>
          <p:cNvPr id="18" name="text-128"/>
          <p:cNvSpPr txBox="1"/>
          <p:nvPr/>
        </p:nvSpPr>
        <p:spPr>
          <a:xfrm>
            <a:off x="548640" y="2295144"/>
            <a:ext cx="1554480" cy="274320"/>
          </a:xfrm>
          <a:prstGeom prst="rect">
            <a:avLst/>
          </a:prstGeom>
          <a:noFill/>
          <a:ln/>
        </p:spPr>
        <p:txBody>
          <a:bodyPr wrap="square" lIns="0" tIns="0" rIns="0" bIns="0" rtlCol="0" anchor="t"/>
          <a:lstStyle/>
          <a:p>
            <a:pPr indent="0" marL="0">
              <a:buNone/>
            </a:pPr>
            <a:r>
              <a:rPr lang="en-US" sz="1200" b="1" spc="100" kern="0" dirty="0">
                <a:solidFill>
                  <a:srgbClr val="6B7280"/>
                </a:solidFill>
              </a:rPr>
              <a:t>PRESENTATION</a:t>
            </a:r>
            <a:endParaRPr lang="en-US" sz="1200" dirty="0"/>
          </a:p>
        </p:txBody>
      </p:sp>
      <p:sp>
        <p:nvSpPr>
          <p:cNvPr id="19" name="arch-box-129"/>
          <p:cNvSpPr/>
          <p:nvPr/>
        </p:nvSpPr>
        <p:spPr>
          <a:xfrm>
            <a:off x="2194560" y="2139696"/>
            <a:ext cx="2272284" cy="548640"/>
          </a:xfrm>
          <a:prstGeom prst="roundRect">
            <a:avLst>
              <a:gd name="adj" fmla="val 10000"/>
            </a:avLst>
          </a:prstGeom>
          <a:solidFill>
            <a:srgbClr val="2E5FAE"/>
          </a:solidFill>
          <a:ln/>
        </p:spPr>
      </p:sp>
      <p:sp>
        <p:nvSpPr>
          <p:cNvPr id="20" name="text-130"/>
          <p:cNvSpPr txBox="1"/>
          <p:nvPr/>
        </p:nvSpPr>
        <p:spPr>
          <a:xfrm>
            <a:off x="2240280" y="2139696"/>
            <a:ext cx="2180844" cy="548640"/>
          </a:xfrm>
          <a:prstGeom prst="rect">
            <a:avLst/>
          </a:prstGeom>
          <a:noFill/>
          <a:ln/>
        </p:spPr>
        <p:txBody>
          <a:bodyPr wrap="square" lIns="0" tIns="0" rIns="0" bIns="0" rtlCol="0" anchor="ctr"/>
          <a:lstStyle/>
          <a:p>
            <a:pPr algn="ctr" indent="0" marL="0">
              <a:buNone/>
            </a:pPr>
            <a:r>
              <a:rPr lang="en-US" sz="1200" b="1" dirty="0">
                <a:solidFill>
                  <a:srgbClr val="FFFFFF"/>
                </a:solidFill>
              </a:rPr>
              <a:t>ReactJS web app</a:t>
            </a:r>
            <a:endParaRPr lang="en-US" sz="1200" dirty="0"/>
          </a:p>
        </p:txBody>
      </p:sp>
      <p:sp>
        <p:nvSpPr>
          <p:cNvPr id="21" name="arch-box-131"/>
          <p:cNvSpPr/>
          <p:nvPr/>
        </p:nvSpPr>
        <p:spPr>
          <a:xfrm>
            <a:off x="4576572" y="2139696"/>
            <a:ext cx="2272284" cy="548640"/>
          </a:xfrm>
          <a:prstGeom prst="roundRect">
            <a:avLst>
              <a:gd name="adj" fmla="val 10000"/>
            </a:avLst>
          </a:prstGeom>
          <a:solidFill>
            <a:srgbClr val="2E5FAE"/>
          </a:solidFill>
          <a:ln/>
        </p:spPr>
      </p:sp>
      <p:sp>
        <p:nvSpPr>
          <p:cNvPr id="22" name="text-132"/>
          <p:cNvSpPr txBox="1"/>
          <p:nvPr/>
        </p:nvSpPr>
        <p:spPr>
          <a:xfrm>
            <a:off x="4622292" y="2139696"/>
            <a:ext cx="2180844" cy="548640"/>
          </a:xfrm>
          <a:prstGeom prst="rect">
            <a:avLst/>
          </a:prstGeom>
          <a:noFill/>
          <a:ln/>
        </p:spPr>
        <p:txBody>
          <a:bodyPr wrap="square" lIns="0" tIns="0" rIns="0" bIns="0" rtlCol="0" anchor="ctr"/>
          <a:lstStyle/>
          <a:p>
            <a:pPr algn="ctr" indent="0" marL="0">
              <a:buNone/>
            </a:pPr>
            <a:r>
              <a:rPr lang="en-US" sz="1200" b="1" dirty="0">
                <a:solidFill>
                  <a:srgbClr val="FFFFFF"/>
                </a:solidFill>
              </a:rPr>
              <a:t>OpenLayers map UI</a:t>
            </a:r>
            <a:endParaRPr lang="en-US" sz="1200" dirty="0"/>
          </a:p>
        </p:txBody>
      </p:sp>
      <p:sp>
        <p:nvSpPr>
          <p:cNvPr id="23" name="arch-box-133"/>
          <p:cNvSpPr/>
          <p:nvPr/>
        </p:nvSpPr>
        <p:spPr>
          <a:xfrm>
            <a:off x="6958584" y="2139696"/>
            <a:ext cx="2272284" cy="548640"/>
          </a:xfrm>
          <a:prstGeom prst="roundRect">
            <a:avLst>
              <a:gd name="adj" fmla="val 10000"/>
            </a:avLst>
          </a:prstGeom>
          <a:solidFill>
            <a:srgbClr val="2E5FAE"/>
          </a:solidFill>
          <a:ln/>
        </p:spPr>
      </p:sp>
      <p:sp>
        <p:nvSpPr>
          <p:cNvPr id="24" name="text-134"/>
          <p:cNvSpPr txBox="1"/>
          <p:nvPr/>
        </p:nvSpPr>
        <p:spPr>
          <a:xfrm>
            <a:off x="7004304" y="2139696"/>
            <a:ext cx="2180844" cy="548640"/>
          </a:xfrm>
          <a:prstGeom prst="rect">
            <a:avLst/>
          </a:prstGeom>
          <a:noFill/>
          <a:ln/>
        </p:spPr>
        <p:txBody>
          <a:bodyPr wrap="square" lIns="0" tIns="0" rIns="0" bIns="0" rtlCol="0" anchor="ctr"/>
          <a:lstStyle/>
          <a:p>
            <a:pPr algn="ctr" indent="0" marL="0">
              <a:buNone/>
            </a:pPr>
            <a:r>
              <a:rPr lang="en-US" sz="1200" b="1" dirty="0">
                <a:solidFill>
                  <a:srgbClr val="FFFFFF"/>
                </a:solidFill>
              </a:rPr>
              <a:t>Apache Superset dashboards</a:t>
            </a:r>
            <a:endParaRPr lang="en-US" sz="1200" dirty="0"/>
          </a:p>
        </p:txBody>
      </p:sp>
      <p:sp>
        <p:nvSpPr>
          <p:cNvPr id="25" name="arch-box-135"/>
          <p:cNvSpPr/>
          <p:nvPr/>
        </p:nvSpPr>
        <p:spPr>
          <a:xfrm>
            <a:off x="9340596" y="2139696"/>
            <a:ext cx="2272284" cy="548640"/>
          </a:xfrm>
          <a:prstGeom prst="roundRect">
            <a:avLst>
              <a:gd name="adj" fmla="val 10000"/>
            </a:avLst>
          </a:prstGeom>
          <a:solidFill>
            <a:srgbClr val="2E5FAE"/>
          </a:solidFill>
          <a:ln/>
        </p:spPr>
      </p:sp>
      <p:sp>
        <p:nvSpPr>
          <p:cNvPr id="26" name="text-136"/>
          <p:cNvSpPr txBox="1"/>
          <p:nvPr/>
        </p:nvSpPr>
        <p:spPr>
          <a:xfrm>
            <a:off x="9386316" y="2139696"/>
            <a:ext cx="2180844" cy="548640"/>
          </a:xfrm>
          <a:prstGeom prst="rect">
            <a:avLst/>
          </a:prstGeom>
          <a:noFill/>
          <a:ln/>
        </p:spPr>
        <p:txBody>
          <a:bodyPr wrap="square" lIns="0" tIns="0" rIns="0" bIns="0" rtlCol="0" anchor="ctr"/>
          <a:lstStyle/>
          <a:p>
            <a:pPr algn="ctr" indent="0" marL="0">
              <a:buNone/>
            </a:pPr>
            <a:r>
              <a:rPr lang="en-US" sz="1200" b="1" dirty="0">
                <a:solidFill>
                  <a:srgbClr val="FFFFFF"/>
                </a:solidFill>
              </a:rPr>
              <a:t>English + Telugu UI</a:t>
            </a:r>
            <a:endParaRPr lang="en-US" sz="1200" dirty="0"/>
          </a:p>
        </p:txBody>
      </p:sp>
      <p:sp>
        <p:nvSpPr>
          <p:cNvPr id="27" name="text-137"/>
          <p:cNvSpPr txBox="1"/>
          <p:nvPr/>
        </p:nvSpPr>
        <p:spPr>
          <a:xfrm>
            <a:off x="548640" y="2971800"/>
            <a:ext cx="1554480" cy="274320"/>
          </a:xfrm>
          <a:prstGeom prst="rect">
            <a:avLst/>
          </a:prstGeom>
          <a:noFill/>
          <a:ln/>
        </p:spPr>
        <p:txBody>
          <a:bodyPr wrap="square" lIns="0" tIns="0" rIns="0" bIns="0" rtlCol="0" anchor="t"/>
          <a:lstStyle/>
          <a:p>
            <a:pPr indent="0" marL="0">
              <a:buNone/>
            </a:pPr>
            <a:r>
              <a:rPr lang="en-US" sz="1200" b="1" spc="100" kern="0" dirty="0">
                <a:solidFill>
                  <a:srgbClr val="6B7280"/>
                </a:solidFill>
              </a:rPr>
              <a:t>SECURITY</a:t>
            </a:r>
            <a:endParaRPr lang="en-US" sz="1200" dirty="0"/>
          </a:p>
        </p:txBody>
      </p:sp>
      <p:sp>
        <p:nvSpPr>
          <p:cNvPr id="28" name="arch-box-138"/>
          <p:cNvSpPr/>
          <p:nvPr/>
        </p:nvSpPr>
        <p:spPr>
          <a:xfrm>
            <a:off x="2194560" y="2816352"/>
            <a:ext cx="2272284" cy="548640"/>
          </a:xfrm>
          <a:prstGeom prst="roundRect">
            <a:avLst>
              <a:gd name="adj" fmla="val 10000"/>
            </a:avLst>
          </a:prstGeom>
          <a:solidFill>
            <a:srgbClr val="EEF2F9"/>
          </a:solidFill>
          <a:ln/>
        </p:spPr>
      </p:sp>
      <p:sp>
        <p:nvSpPr>
          <p:cNvPr id="29" name="text-139"/>
          <p:cNvSpPr txBox="1"/>
          <p:nvPr/>
        </p:nvSpPr>
        <p:spPr>
          <a:xfrm>
            <a:off x="2240280" y="2816352"/>
            <a:ext cx="2180844" cy="548640"/>
          </a:xfrm>
          <a:prstGeom prst="rect">
            <a:avLst/>
          </a:prstGeom>
          <a:noFill/>
          <a:ln/>
        </p:spPr>
        <p:txBody>
          <a:bodyPr wrap="square" lIns="0" tIns="0" rIns="0" bIns="0" rtlCol="0" anchor="ctr"/>
          <a:lstStyle/>
          <a:p>
            <a:pPr algn="ctr" indent="0" marL="0">
              <a:buNone/>
            </a:pPr>
            <a:r>
              <a:rPr lang="en-US" sz="1200" dirty="0">
                <a:solidFill>
                  <a:srgbClr val="0B318F"/>
                </a:solidFill>
              </a:rPr>
              <a:t>Keycloak SSO, MFA, RBAC</a:t>
            </a:r>
            <a:endParaRPr lang="en-US" sz="1200" dirty="0"/>
          </a:p>
        </p:txBody>
      </p:sp>
      <p:sp>
        <p:nvSpPr>
          <p:cNvPr id="30" name="arch-box-140"/>
          <p:cNvSpPr/>
          <p:nvPr/>
        </p:nvSpPr>
        <p:spPr>
          <a:xfrm>
            <a:off x="4576572" y="2816352"/>
            <a:ext cx="2272284" cy="548640"/>
          </a:xfrm>
          <a:prstGeom prst="roundRect">
            <a:avLst>
              <a:gd name="adj" fmla="val 10000"/>
            </a:avLst>
          </a:prstGeom>
          <a:solidFill>
            <a:srgbClr val="EEF2F9"/>
          </a:solidFill>
          <a:ln/>
        </p:spPr>
      </p:sp>
      <p:sp>
        <p:nvSpPr>
          <p:cNvPr id="31" name="text-141"/>
          <p:cNvSpPr txBox="1"/>
          <p:nvPr/>
        </p:nvSpPr>
        <p:spPr>
          <a:xfrm>
            <a:off x="4622292" y="2816352"/>
            <a:ext cx="2180844" cy="548640"/>
          </a:xfrm>
          <a:prstGeom prst="rect">
            <a:avLst/>
          </a:prstGeom>
          <a:noFill/>
          <a:ln/>
        </p:spPr>
        <p:txBody>
          <a:bodyPr wrap="square" lIns="0" tIns="0" rIns="0" bIns="0" rtlCol="0" anchor="ctr"/>
          <a:lstStyle/>
          <a:p>
            <a:pPr algn="ctr" indent="0" marL="0">
              <a:buNone/>
            </a:pPr>
            <a:r>
              <a:rPr lang="en-US" sz="1200" dirty="0">
                <a:solidFill>
                  <a:srgbClr val="0B318F"/>
                </a:solidFill>
              </a:rPr>
              <a:t>API gateway</a:t>
            </a:r>
            <a:endParaRPr lang="en-US" sz="1200" dirty="0"/>
          </a:p>
        </p:txBody>
      </p:sp>
      <p:sp>
        <p:nvSpPr>
          <p:cNvPr id="32" name="arch-box-142"/>
          <p:cNvSpPr/>
          <p:nvPr/>
        </p:nvSpPr>
        <p:spPr>
          <a:xfrm>
            <a:off x="6958584" y="2816352"/>
            <a:ext cx="2272284" cy="548640"/>
          </a:xfrm>
          <a:prstGeom prst="roundRect">
            <a:avLst>
              <a:gd name="adj" fmla="val 10000"/>
            </a:avLst>
          </a:prstGeom>
          <a:solidFill>
            <a:srgbClr val="EEF2F9"/>
          </a:solidFill>
          <a:ln/>
        </p:spPr>
      </p:sp>
      <p:sp>
        <p:nvSpPr>
          <p:cNvPr id="33" name="text-143"/>
          <p:cNvSpPr txBox="1"/>
          <p:nvPr/>
        </p:nvSpPr>
        <p:spPr>
          <a:xfrm>
            <a:off x="7004304" y="2816352"/>
            <a:ext cx="2180844" cy="548640"/>
          </a:xfrm>
          <a:prstGeom prst="rect">
            <a:avLst/>
          </a:prstGeom>
          <a:noFill/>
          <a:ln/>
        </p:spPr>
        <p:txBody>
          <a:bodyPr wrap="square" lIns="0" tIns="0" rIns="0" bIns="0" rtlCol="0" anchor="ctr"/>
          <a:lstStyle/>
          <a:p>
            <a:pPr algn="ctr" indent="0" marL="0">
              <a:buNone/>
            </a:pPr>
            <a:r>
              <a:rPr lang="en-US" sz="1200" dirty="0">
                <a:solidFill>
                  <a:srgbClr val="0B318F"/>
                </a:solidFill>
              </a:rPr>
              <a:t>TLS in transit, AES-256 at rest</a:t>
            </a:r>
            <a:endParaRPr lang="en-US" sz="1200" dirty="0"/>
          </a:p>
        </p:txBody>
      </p:sp>
      <p:sp>
        <p:nvSpPr>
          <p:cNvPr id="34" name="arch-box-144"/>
          <p:cNvSpPr/>
          <p:nvPr/>
        </p:nvSpPr>
        <p:spPr>
          <a:xfrm>
            <a:off x="9340596" y="2816352"/>
            <a:ext cx="2272284" cy="548640"/>
          </a:xfrm>
          <a:prstGeom prst="roundRect">
            <a:avLst>
              <a:gd name="adj" fmla="val 10000"/>
            </a:avLst>
          </a:prstGeom>
          <a:solidFill>
            <a:srgbClr val="EEF2F9"/>
          </a:solidFill>
          <a:ln/>
        </p:spPr>
      </p:sp>
      <p:sp>
        <p:nvSpPr>
          <p:cNvPr id="35" name="text-145"/>
          <p:cNvSpPr txBox="1"/>
          <p:nvPr/>
        </p:nvSpPr>
        <p:spPr>
          <a:xfrm>
            <a:off x="9386316" y="2816352"/>
            <a:ext cx="2180844" cy="548640"/>
          </a:xfrm>
          <a:prstGeom prst="rect">
            <a:avLst/>
          </a:prstGeom>
          <a:noFill/>
          <a:ln/>
        </p:spPr>
        <p:txBody>
          <a:bodyPr wrap="square" lIns="0" tIns="0" rIns="0" bIns="0" rtlCol="0" anchor="ctr"/>
          <a:lstStyle/>
          <a:p>
            <a:pPr algn="ctr" indent="0" marL="0">
              <a:buNone/>
            </a:pPr>
            <a:r>
              <a:rPr lang="en-US" sz="1200" dirty="0">
                <a:solidFill>
                  <a:srgbClr val="0B318F"/>
                </a:solidFill>
              </a:rPr>
              <a:t>Tamper-evident audit log</a:t>
            </a:r>
            <a:endParaRPr lang="en-US" sz="1200" dirty="0"/>
          </a:p>
        </p:txBody>
      </p:sp>
      <p:sp>
        <p:nvSpPr>
          <p:cNvPr id="36" name="text-146"/>
          <p:cNvSpPr txBox="1"/>
          <p:nvPr/>
        </p:nvSpPr>
        <p:spPr>
          <a:xfrm>
            <a:off x="548640" y="3648456"/>
            <a:ext cx="1554480" cy="274320"/>
          </a:xfrm>
          <a:prstGeom prst="rect">
            <a:avLst/>
          </a:prstGeom>
          <a:noFill/>
          <a:ln/>
        </p:spPr>
        <p:txBody>
          <a:bodyPr wrap="square" lIns="0" tIns="0" rIns="0" bIns="0" rtlCol="0" anchor="t"/>
          <a:lstStyle/>
          <a:p>
            <a:pPr indent="0" marL="0">
              <a:buNone/>
            </a:pPr>
            <a:r>
              <a:rPr lang="en-US" sz="1200" b="1" spc="100" kern="0" dirty="0">
                <a:solidFill>
                  <a:srgbClr val="6B7280"/>
                </a:solidFill>
              </a:rPr>
              <a:t>SERVICES</a:t>
            </a:r>
            <a:endParaRPr lang="en-US" sz="1200" dirty="0"/>
          </a:p>
        </p:txBody>
      </p:sp>
      <p:sp>
        <p:nvSpPr>
          <p:cNvPr id="37" name="arch-box-147"/>
          <p:cNvSpPr/>
          <p:nvPr/>
        </p:nvSpPr>
        <p:spPr>
          <a:xfrm>
            <a:off x="2194560" y="3493008"/>
            <a:ext cx="1251422" cy="548640"/>
          </a:xfrm>
          <a:prstGeom prst="roundRect">
            <a:avLst>
              <a:gd name="adj" fmla="val 10000"/>
            </a:avLst>
          </a:prstGeom>
          <a:solidFill>
            <a:srgbClr val="2E5FAE"/>
          </a:solidFill>
          <a:ln/>
        </p:spPr>
      </p:sp>
      <p:sp>
        <p:nvSpPr>
          <p:cNvPr id="38" name="text-148"/>
          <p:cNvSpPr txBox="1"/>
          <p:nvPr/>
        </p:nvSpPr>
        <p:spPr>
          <a:xfrm>
            <a:off x="2240280" y="3493008"/>
            <a:ext cx="1159982" cy="548640"/>
          </a:xfrm>
          <a:prstGeom prst="rect">
            <a:avLst/>
          </a:prstGeom>
          <a:noFill/>
          <a:ln/>
        </p:spPr>
        <p:txBody>
          <a:bodyPr wrap="square" lIns="0" tIns="0" rIns="0" bIns="0" rtlCol="0" anchor="ctr"/>
          <a:lstStyle/>
          <a:p>
            <a:pPr algn="ctr" indent="0" marL="0">
              <a:buNone/>
            </a:pPr>
            <a:r>
              <a:rPr lang="en-US" sz="1200" b="1" dirty="0">
                <a:solidFill>
                  <a:srgbClr val="FFFFFF"/>
                </a:solidFill>
              </a:rPr>
              <a:t>Lease master</a:t>
            </a:r>
            <a:endParaRPr lang="en-US" sz="1200" dirty="0"/>
          </a:p>
        </p:txBody>
      </p:sp>
      <p:sp>
        <p:nvSpPr>
          <p:cNvPr id="39" name="arch-box-149"/>
          <p:cNvSpPr/>
          <p:nvPr/>
        </p:nvSpPr>
        <p:spPr>
          <a:xfrm>
            <a:off x="3555710" y="3493008"/>
            <a:ext cx="1251422" cy="548640"/>
          </a:xfrm>
          <a:prstGeom prst="roundRect">
            <a:avLst>
              <a:gd name="adj" fmla="val 10000"/>
            </a:avLst>
          </a:prstGeom>
          <a:solidFill>
            <a:srgbClr val="2E5FAE"/>
          </a:solidFill>
          <a:ln/>
        </p:spPr>
      </p:sp>
      <p:sp>
        <p:nvSpPr>
          <p:cNvPr id="40" name="text-150"/>
          <p:cNvSpPr txBox="1"/>
          <p:nvPr/>
        </p:nvSpPr>
        <p:spPr>
          <a:xfrm>
            <a:off x="3601430" y="3493008"/>
            <a:ext cx="1159982" cy="548640"/>
          </a:xfrm>
          <a:prstGeom prst="rect">
            <a:avLst/>
          </a:prstGeom>
          <a:noFill/>
          <a:ln/>
        </p:spPr>
        <p:txBody>
          <a:bodyPr wrap="square" lIns="0" tIns="0" rIns="0" bIns="0" rtlCol="0" anchor="ctr"/>
          <a:lstStyle/>
          <a:p>
            <a:pPr algn="ctr" indent="0" marL="0">
              <a:buNone/>
            </a:pPr>
            <a:r>
              <a:rPr lang="en-US" sz="1200" b="1" dirty="0">
                <a:solidFill>
                  <a:srgbClr val="FFFFFF"/>
                </a:solidFill>
              </a:rPr>
              <a:t>Spatial &amp; survey</a:t>
            </a:r>
            <a:endParaRPr lang="en-US" sz="1200" dirty="0"/>
          </a:p>
        </p:txBody>
      </p:sp>
      <p:sp>
        <p:nvSpPr>
          <p:cNvPr id="41" name="arch-box-151"/>
          <p:cNvSpPr/>
          <p:nvPr/>
        </p:nvSpPr>
        <p:spPr>
          <a:xfrm>
            <a:off x="4916859" y="3493008"/>
            <a:ext cx="1251422" cy="548640"/>
          </a:xfrm>
          <a:prstGeom prst="roundRect">
            <a:avLst>
              <a:gd name="adj" fmla="val 10000"/>
            </a:avLst>
          </a:prstGeom>
          <a:solidFill>
            <a:srgbClr val="2E5FAE"/>
          </a:solidFill>
          <a:ln/>
        </p:spPr>
      </p:sp>
      <p:sp>
        <p:nvSpPr>
          <p:cNvPr id="42" name="text-152"/>
          <p:cNvSpPr txBox="1"/>
          <p:nvPr/>
        </p:nvSpPr>
        <p:spPr>
          <a:xfrm>
            <a:off x="4962579" y="3493008"/>
            <a:ext cx="1159982" cy="548640"/>
          </a:xfrm>
          <a:prstGeom prst="rect">
            <a:avLst/>
          </a:prstGeom>
          <a:noFill/>
          <a:ln/>
        </p:spPr>
        <p:txBody>
          <a:bodyPr wrap="square" lIns="0" tIns="0" rIns="0" bIns="0" rtlCol="0" anchor="ctr"/>
          <a:lstStyle/>
          <a:p>
            <a:pPr algn="ctr" indent="0" marL="0">
              <a:buNone/>
            </a:pPr>
            <a:r>
              <a:rPr lang="en-US" sz="1200" b="1" dirty="0">
                <a:solidFill>
                  <a:srgbClr val="FFFFFF"/>
                </a:solidFill>
              </a:rPr>
              <a:t>Documents</a:t>
            </a:r>
            <a:endParaRPr lang="en-US" sz="1200" dirty="0"/>
          </a:p>
        </p:txBody>
      </p:sp>
      <p:sp>
        <p:nvSpPr>
          <p:cNvPr id="43" name="arch-box-153"/>
          <p:cNvSpPr/>
          <p:nvPr/>
        </p:nvSpPr>
        <p:spPr>
          <a:xfrm>
            <a:off x="6278009" y="3493008"/>
            <a:ext cx="1251422" cy="548640"/>
          </a:xfrm>
          <a:prstGeom prst="roundRect">
            <a:avLst>
              <a:gd name="adj" fmla="val 10000"/>
            </a:avLst>
          </a:prstGeom>
          <a:solidFill>
            <a:srgbClr val="2E5FAE"/>
          </a:solidFill>
          <a:ln/>
        </p:spPr>
      </p:sp>
      <p:sp>
        <p:nvSpPr>
          <p:cNvPr id="44" name="text-154"/>
          <p:cNvSpPr txBox="1"/>
          <p:nvPr/>
        </p:nvSpPr>
        <p:spPr>
          <a:xfrm>
            <a:off x="6323729" y="3493008"/>
            <a:ext cx="1159982" cy="548640"/>
          </a:xfrm>
          <a:prstGeom prst="rect">
            <a:avLst/>
          </a:prstGeom>
          <a:noFill/>
          <a:ln/>
        </p:spPr>
        <p:txBody>
          <a:bodyPr wrap="square" lIns="0" tIns="0" rIns="0" bIns="0" rtlCol="0" anchor="ctr"/>
          <a:lstStyle/>
          <a:p>
            <a:pPr algn="ctr" indent="0" marL="0">
              <a:buNone/>
            </a:pPr>
            <a:r>
              <a:rPr lang="en-US" sz="1200" b="1" dirty="0">
                <a:solidFill>
                  <a:srgbClr val="FFFFFF"/>
                </a:solidFill>
              </a:rPr>
              <a:t>Operations</a:t>
            </a:r>
            <a:endParaRPr lang="en-US" sz="1200" dirty="0"/>
          </a:p>
        </p:txBody>
      </p:sp>
      <p:sp>
        <p:nvSpPr>
          <p:cNvPr id="45" name="arch-box-155"/>
          <p:cNvSpPr/>
          <p:nvPr/>
        </p:nvSpPr>
        <p:spPr>
          <a:xfrm>
            <a:off x="7639159" y="3493008"/>
            <a:ext cx="1251422" cy="548640"/>
          </a:xfrm>
          <a:prstGeom prst="roundRect">
            <a:avLst>
              <a:gd name="adj" fmla="val 10000"/>
            </a:avLst>
          </a:prstGeom>
          <a:solidFill>
            <a:srgbClr val="2E5FAE"/>
          </a:solidFill>
          <a:ln/>
        </p:spPr>
      </p:sp>
      <p:sp>
        <p:nvSpPr>
          <p:cNvPr id="46" name="text-156"/>
          <p:cNvSpPr txBox="1"/>
          <p:nvPr/>
        </p:nvSpPr>
        <p:spPr>
          <a:xfrm>
            <a:off x="7684879" y="3493008"/>
            <a:ext cx="1159982" cy="548640"/>
          </a:xfrm>
          <a:prstGeom prst="rect">
            <a:avLst/>
          </a:prstGeom>
          <a:noFill/>
          <a:ln/>
        </p:spPr>
        <p:txBody>
          <a:bodyPr wrap="square" lIns="0" tIns="0" rIns="0" bIns="0" rtlCol="0" anchor="ctr"/>
          <a:lstStyle/>
          <a:p>
            <a:pPr algn="ctr" indent="0" marL="0">
              <a:buNone/>
            </a:pPr>
            <a:r>
              <a:rPr lang="en-US" sz="1200" b="1" dirty="0">
                <a:solidFill>
                  <a:srgbClr val="FFFFFF"/>
                </a:solidFill>
              </a:rPr>
              <a:t>Revenue</a:t>
            </a:r>
            <a:endParaRPr lang="en-US" sz="1200" dirty="0"/>
          </a:p>
        </p:txBody>
      </p:sp>
      <p:sp>
        <p:nvSpPr>
          <p:cNvPr id="47" name="arch-box-157"/>
          <p:cNvSpPr/>
          <p:nvPr/>
        </p:nvSpPr>
        <p:spPr>
          <a:xfrm>
            <a:off x="9000309" y="3493008"/>
            <a:ext cx="1251422" cy="548640"/>
          </a:xfrm>
          <a:prstGeom prst="roundRect">
            <a:avLst>
              <a:gd name="adj" fmla="val 10000"/>
            </a:avLst>
          </a:prstGeom>
          <a:solidFill>
            <a:srgbClr val="2E5FAE"/>
          </a:solidFill>
          <a:ln/>
        </p:spPr>
      </p:sp>
      <p:sp>
        <p:nvSpPr>
          <p:cNvPr id="48" name="text-158"/>
          <p:cNvSpPr txBox="1"/>
          <p:nvPr/>
        </p:nvSpPr>
        <p:spPr>
          <a:xfrm>
            <a:off x="9046029" y="3493008"/>
            <a:ext cx="1159982" cy="548640"/>
          </a:xfrm>
          <a:prstGeom prst="rect">
            <a:avLst/>
          </a:prstGeom>
          <a:noFill/>
          <a:ln/>
        </p:spPr>
        <p:txBody>
          <a:bodyPr wrap="square" lIns="0" tIns="0" rIns="0" bIns="0" rtlCol="0" anchor="ctr"/>
          <a:lstStyle/>
          <a:p>
            <a:pPr algn="ctr" indent="0" marL="0">
              <a:buNone/>
            </a:pPr>
            <a:r>
              <a:rPr lang="en-US" sz="1200" b="1" dirty="0">
                <a:solidFill>
                  <a:srgbClr val="FFFFFF"/>
                </a:solidFill>
              </a:rPr>
              <a:t>Analytics &amp; ML</a:t>
            </a:r>
            <a:endParaRPr lang="en-US" sz="1200" dirty="0"/>
          </a:p>
        </p:txBody>
      </p:sp>
      <p:sp>
        <p:nvSpPr>
          <p:cNvPr id="49" name="arch-box-159"/>
          <p:cNvSpPr/>
          <p:nvPr/>
        </p:nvSpPr>
        <p:spPr>
          <a:xfrm>
            <a:off x="10361458" y="3493008"/>
            <a:ext cx="1251422" cy="548640"/>
          </a:xfrm>
          <a:prstGeom prst="roundRect">
            <a:avLst>
              <a:gd name="adj" fmla="val 10000"/>
            </a:avLst>
          </a:prstGeom>
          <a:solidFill>
            <a:srgbClr val="2E5FAE"/>
          </a:solidFill>
          <a:ln/>
        </p:spPr>
      </p:sp>
      <p:sp>
        <p:nvSpPr>
          <p:cNvPr id="50" name="text-160"/>
          <p:cNvSpPr txBox="1"/>
          <p:nvPr/>
        </p:nvSpPr>
        <p:spPr>
          <a:xfrm>
            <a:off x="10407178" y="3493008"/>
            <a:ext cx="1159982" cy="548640"/>
          </a:xfrm>
          <a:prstGeom prst="rect">
            <a:avLst/>
          </a:prstGeom>
          <a:noFill/>
          <a:ln/>
        </p:spPr>
        <p:txBody>
          <a:bodyPr wrap="square" lIns="0" tIns="0" rIns="0" bIns="0" rtlCol="0" anchor="ctr"/>
          <a:lstStyle/>
          <a:p>
            <a:pPr algn="ctr" indent="0" marL="0">
              <a:buNone/>
            </a:pPr>
            <a:r>
              <a:rPr lang="en-US" sz="1200" b="1" dirty="0">
                <a:solidFill>
                  <a:srgbClr val="FFFFFF"/>
                </a:solidFill>
              </a:rPr>
              <a:t>Notifications</a:t>
            </a:r>
            <a:endParaRPr lang="en-US" sz="1200" dirty="0"/>
          </a:p>
        </p:txBody>
      </p:sp>
      <p:sp>
        <p:nvSpPr>
          <p:cNvPr id="51" name="text-161"/>
          <p:cNvSpPr txBox="1"/>
          <p:nvPr/>
        </p:nvSpPr>
        <p:spPr>
          <a:xfrm>
            <a:off x="548640" y="4325112"/>
            <a:ext cx="1554480" cy="274320"/>
          </a:xfrm>
          <a:prstGeom prst="rect">
            <a:avLst/>
          </a:prstGeom>
          <a:noFill/>
          <a:ln/>
        </p:spPr>
        <p:txBody>
          <a:bodyPr wrap="square" lIns="0" tIns="0" rIns="0" bIns="0" rtlCol="0" anchor="t"/>
          <a:lstStyle/>
          <a:p>
            <a:pPr indent="0" marL="0">
              <a:buNone/>
            </a:pPr>
            <a:r>
              <a:rPr lang="en-US" sz="1200" b="1" spc="100" kern="0" dirty="0">
                <a:solidFill>
                  <a:srgbClr val="6B7280"/>
                </a:solidFill>
              </a:rPr>
              <a:t>GEO &amp; DATA</a:t>
            </a:r>
            <a:endParaRPr lang="en-US" sz="1200" dirty="0"/>
          </a:p>
        </p:txBody>
      </p:sp>
      <p:sp>
        <p:nvSpPr>
          <p:cNvPr id="52" name="arch-box-162"/>
          <p:cNvSpPr/>
          <p:nvPr/>
        </p:nvSpPr>
        <p:spPr>
          <a:xfrm>
            <a:off x="2194560" y="4169664"/>
            <a:ext cx="1795882" cy="548640"/>
          </a:xfrm>
          <a:prstGeom prst="roundRect">
            <a:avLst>
              <a:gd name="adj" fmla="val 10000"/>
            </a:avLst>
          </a:prstGeom>
          <a:solidFill>
            <a:srgbClr val="EEF2F9"/>
          </a:solidFill>
          <a:ln/>
        </p:spPr>
      </p:sp>
      <p:sp>
        <p:nvSpPr>
          <p:cNvPr id="53" name="text-163"/>
          <p:cNvSpPr txBox="1"/>
          <p:nvPr/>
        </p:nvSpPr>
        <p:spPr>
          <a:xfrm>
            <a:off x="2240280" y="4169664"/>
            <a:ext cx="1704442" cy="548640"/>
          </a:xfrm>
          <a:prstGeom prst="rect">
            <a:avLst/>
          </a:prstGeom>
          <a:noFill/>
          <a:ln/>
        </p:spPr>
        <p:txBody>
          <a:bodyPr wrap="square" lIns="0" tIns="0" rIns="0" bIns="0" rtlCol="0" anchor="ctr"/>
          <a:lstStyle/>
          <a:p>
            <a:pPr algn="ctr" indent="0" marL="0">
              <a:buNone/>
            </a:pPr>
            <a:r>
              <a:rPr lang="en-US" sz="1200" dirty="0">
                <a:solidFill>
                  <a:srgbClr val="0B318F"/>
                </a:solidFill>
              </a:rPr>
              <a:t>PostgreSQL + PostGIS</a:t>
            </a:r>
            <a:endParaRPr lang="en-US" sz="1200" dirty="0"/>
          </a:p>
        </p:txBody>
      </p:sp>
      <p:sp>
        <p:nvSpPr>
          <p:cNvPr id="54" name="arch-box-164"/>
          <p:cNvSpPr/>
          <p:nvPr/>
        </p:nvSpPr>
        <p:spPr>
          <a:xfrm>
            <a:off x="4100170" y="4169664"/>
            <a:ext cx="1795882" cy="548640"/>
          </a:xfrm>
          <a:prstGeom prst="roundRect">
            <a:avLst>
              <a:gd name="adj" fmla="val 10000"/>
            </a:avLst>
          </a:prstGeom>
          <a:solidFill>
            <a:srgbClr val="EEF2F9"/>
          </a:solidFill>
          <a:ln/>
        </p:spPr>
      </p:sp>
      <p:sp>
        <p:nvSpPr>
          <p:cNvPr id="55" name="text-165"/>
          <p:cNvSpPr txBox="1"/>
          <p:nvPr/>
        </p:nvSpPr>
        <p:spPr>
          <a:xfrm>
            <a:off x="4145890" y="4169664"/>
            <a:ext cx="1704442" cy="548640"/>
          </a:xfrm>
          <a:prstGeom prst="rect">
            <a:avLst/>
          </a:prstGeom>
          <a:noFill/>
          <a:ln/>
        </p:spPr>
        <p:txBody>
          <a:bodyPr wrap="square" lIns="0" tIns="0" rIns="0" bIns="0" rtlCol="0" anchor="ctr"/>
          <a:lstStyle/>
          <a:p>
            <a:pPr algn="ctr" indent="0" marL="0">
              <a:buNone/>
            </a:pPr>
            <a:r>
              <a:rPr lang="en-US" sz="1200" dirty="0">
                <a:solidFill>
                  <a:srgbClr val="0B318F"/>
                </a:solidFill>
              </a:rPr>
              <a:t>GeoServer: WMS, WFS, WCS</a:t>
            </a:r>
            <a:endParaRPr lang="en-US" sz="1200" dirty="0"/>
          </a:p>
        </p:txBody>
      </p:sp>
      <p:sp>
        <p:nvSpPr>
          <p:cNvPr id="56" name="arch-box-166"/>
          <p:cNvSpPr/>
          <p:nvPr/>
        </p:nvSpPr>
        <p:spPr>
          <a:xfrm>
            <a:off x="6005779" y="4169664"/>
            <a:ext cx="1795882" cy="548640"/>
          </a:xfrm>
          <a:prstGeom prst="roundRect">
            <a:avLst>
              <a:gd name="adj" fmla="val 10000"/>
            </a:avLst>
          </a:prstGeom>
          <a:solidFill>
            <a:srgbClr val="EEF2F9"/>
          </a:solidFill>
          <a:ln/>
        </p:spPr>
      </p:sp>
      <p:sp>
        <p:nvSpPr>
          <p:cNvPr id="57" name="text-167"/>
          <p:cNvSpPr txBox="1"/>
          <p:nvPr/>
        </p:nvSpPr>
        <p:spPr>
          <a:xfrm>
            <a:off x="6051499" y="4169664"/>
            <a:ext cx="1704442" cy="548640"/>
          </a:xfrm>
          <a:prstGeom prst="rect">
            <a:avLst/>
          </a:prstGeom>
          <a:noFill/>
          <a:ln/>
        </p:spPr>
        <p:txBody>
          <a:bodyPr wrap="square" lIns="0" tIns="0" rIns="0" bIns="0" rtlCol="0" anchor="ctr"/>
          <a:lstStyle/>
          <a:p>
            <a:pPr algn="ctr" indent="0" marL="0">
              <a:buNone/>
            </a:pPr>
            <a:r>
              <a:rPr lang="en-US" sz="1200" dirty="0">
                <a:solidFill>
                  <a:srgbClr val="0B318F"/>
                </a:solidFill>
              </a:rPr>
              <a:t>GeoNetwork: CSW</a:t>
            </a:r>
            <a:endParaRPr lang="en-US" sz="1200" dirty="0"/>
          </a:p>
        </p:txBody>
      </p:sp>
      <p:sp>
        <p:nvSpPr>
          <p:cNvPr id="58" name="arch-box-168"/>
          <p:cNvSpPr/>
          <p:nvPr/>
        </p:nvSpPr>
        <p:spPr>
          <a:xfrm>
            <a:off x="7911389" y="4169664"/>
            <a:ext cx="1795882" cy="548640"/>
          </a:xfrm>
          <a:prstGeom prst="roundRect">
            <a:avLst>
              <a:gd name="adj" fmla="val 10000"/>
            </a:avLst>
          </a:prstGeom>
          <a:solidFill>
            <a:srgbClr val="EEF2F9"/>
          </a:solidFill>
          <a:ln/>
        </p:spPr>
      </p:sp>
      <p:sp>
        <p:nvSpPr>
          <p:cNvPr id="59" name="text-169"/>
          <p:cNvSpPr txBox="1"/>
          <p:nvPr/>
        </p:nvSpPr>
        <p:spPr>
          <a:xfrm>
            <a:off x="7957109" y="4169664"/>
            <a:ext cx="1704442" cy="548640"/>
          </a:xfrm>
          <a:prstGeom prst="rect">
            <a:avLst/>
          </a:prstGeom>
          <a:noFill/>
          <a:ln/>
        </p:spPr>
        <p:txBody>
          <a:bodyPr wrap="square" lIns="0" tIns="0" rIns="0" bIns="0" rtlCol="0" anchor="ctr"/>
          <a:lstStyle/>
          <a:p>
            <a:pPr algn="ctr" indent="0" marL="0">
              <a:buNone/>
            </a:pPr>
            <a:r>
              <a:rPr lang="en-US" sz="1200" dirty="0">
                <a:solidFill>
                  <a:srgbClr val="0B318F"/>
                </a:solidFill>
              </a:rPr>
              <a:t>MinIO object store</a:t>
            </a:r>
            <a:endParaRPr lang="en-US" sz="1200" dirty="0"/>
          </a:p>
        </p:txBody>
      </p:sp>
      <p:sp>
        <p:nvSpPr>
          <p:cNvPr id="60" name="arch-box-170"/>
          <p:cNvSpPr/>
          <p:nvPr/>
        </p:nvSpPr>
        <p:spPr>
          <a:xfrm>
            <a:off x="9816998" y="4169664"/>
            <a:ext cx="1795882" cy="548640"/>
          </a:xfrm>
          <a:prstGeom prst="roundRect">
            <a:avLst>
              <a:gd name="adj" fmla="val 10000"/>
            </a:avLst>
          </a:prstGeom>
          <a:solidFill>
            <a:srgbClr val="EEF2F9"/>
          </a:solidFill>
          <a:ln/>
        </p:spPr>
      </p:sp>
      <p:sp>
        <p:nvSpPr>
          <p:cNvPr id="61" name="text-171"/>
          <p:cNvSpPr txBox="1"/>
          <p:nvPr/>
        </p:nvSpPr>
        <p:spPr>
          <a:xfrm>
            <a:off x="9862718" y="4169664"/>
            <a:ext cx="1704442" cy="548640"/>
          </a:xfrm>
          <a:prstGeom prst="rect">
            <a:avLst/>
          </a:prstGeom>
          <a:noFill/>
          <a:ln/>
        </p:spPr>
        <p:txBody>
          <a:bodyPr wrap="square" lIns="0" tIns="0" rIns="0" bIns="0" rtlCol="0" anchor="ctr"/>
          <a:lstStyle/>
          <a:p>
            <a:pPr algn="ctr" indent="0" marL="0">
              <a:buNone/>
            </a:pPr>
            <a:r>
              <a:rPr lang="en-US" sz="1200" dirty="0">
                <a:solidFill>
                  <a:srgbClr val="0B318F"/>
                </a:solidFill>
              </a:rPr>
              <a:t>Kafka message queue</a:t>
            </a:r>
            <a:endParaRPr lang="en-US" sz="1200" dirty="0"/>
          </a:p>
        </p:txBody>
      </p:sp>
      <p:sp>
        <p:nvSpPr>
          <p:cNvPr id="62" name="text-172"/>
          <p:cNvSpPr txBox="1"/>
          <p:nvPr/>
        </p:nvSpPr>
        <p:spPr>
          <a:xfrm>
            <a:off x="548640" y="5001768"/>
            <a:ext cx="1554480" cy="274320"/>
          </a:xfrm>
          <a:prstGeom prst="rect">
            <a:avLst/>
          </a:prstGeom>
          <a:noFill/>
          <a:ln/>
        </p:spPr>
        <p:txBody>
          <a:bodyPr wrap="square" lIns="0" tIns="0" rIns="0" bIns="0" rtlCol="0" anchor="t"/>
          <a:lstStyle/>
          <a:p>
            <a:pPr indent="0" marL="0">
              <a:buNone/>
            </a:pPr>
            <a:r>
              <a:rPr lang="en-US" sz="1200" b="1" spc="100" kern="0" dirty="0">
                <a:solidFill>
                  <a:srgbClr val="6B7280"/>
                </a:solidFill>
              </a:rPr>
              <a:t>INTEGRATIONS</a:t>
            </a:r>
            <a:endParaRPr lang="en-US" sz="1200" dirty="0"/>
          </a:p>
        </p:txBody>
      </p:sp>
      <p:sp>
        <p:nvSpPr>
          <p:cNvPr id="63" name="arch-box-173"/>
          <p:cNvSpPr/>
          <p:nvPr/>
        </p:nvSpPr>
        <p:spPr>
          <a:xfrm>
            <a:off x="2194560" y="4846320"/>
            <a:ext cx="2272284" cy="548640"/>
          </a:xfrm>
          <a:prstGeom prst="roundRect">
            <a:avLst>
              <a:gd name="adj" fmla="val 10000"/>
            </a:avLst>
          </a:prstGeom>
          <a:solidFill>
            <a:srgbClr val="2E5FAE"/>
          </a:solidFill>
          <a:ln/>
        </p:spPr>
      </p:sp>
      <p:sp>
        <p:nvSpPr>
          <p:cNvPr id="64" name="text-174"/>
          <p:cNvSpPr txBox="1"/>
          <p:nvPr/>
        </p:nvSpPr>
        <p:spPr>
          <a:xfrm>
            <a:off x="2240280" y="4846320"/>
            <a:ext cx="2180844" cy="548640"/>
          </a:xfrm>
          <a:prstGeom prst="rect">
            <a:avLst/>
          </a:prstGeom>
          <a:noFill/>
          <a:ln/>
        </p:spPr>
        <p:txBody>
          <a:bodyPr wrap="square" lIns="0" tIns="0" rIns="0" bIns="0" rtlCol="0" anchor="ctr"/>
          <a:lstStyle/>
          <a:p>
            <a:pPr algn="ctr" indent="0" marL="0">
              <a:buNone/>
            </a:pPr>
            <a:r>
              <a:rPr lang="en-US" sz="1200" b="1" dirty="0">
                <a:solidFill>
                  <a:srgbClr val="FFFFFF"/>
                </a:solidFill>
              </a:rPr>
              <a:t>Payment gateway</a:t>
            </a:r>
            <a:endParaRPr lang="en-US" sz="1200" dirty="0"/>
          </a:p>
        </p:txBody>
      </p:sp>
      <p:sp>
        <p:nvSpPr>
          <p:cNvPr id="65" name="arch-box-175"/>
          <p:cNvSpPr/>
          <p:nvPr/>
        </p:nvSpPr>
        <p:spPr>
          <a:xfrm>
            <a:off x="4576572" y="4846320"/>
            <a:ext cx="2272284" cy="548640"/>
          </a:xfrm>
          <a:prstGeom prst="roundRect">
            <a:avLst>
              <a:gd name="adj" fmla="val 10000"/>
            </a:avLst>
          </a:prstGeom>
          <a:solidFill>
            <a:srgbClr val="2E5FAE"/>
          </a:solidFill>
          <a:ln/>
        </p:spPr>
      </p:sp>
      <p:sp>
        <p:nvSpPr>
          <p:cNvPr id="66" name="text-176"/>
          <p:cNvSpPr txBox="1"/>
          <p:nvPr/>
        </p:nvSpPr>
        <p:spPr>
          <a:xfrm>
            <a:off x="4622292" y="4846320"/>
            <a:ext cx="2180844" cy="548640"/>
          </a:xfrm>
          <a:prstGeom prst="rect">
            <a:avLst/>
          </a:prstGeom>
          <a:noFill/>
          <a:ln/>
        </p:spPr>
        <p:txBody>
          <a:bodyPr wrap="square" lIns="0" tIns="0" rIns="0" bIns="0" rtlCol="0" anchor="ctr"/>
          <a:lstStyle/>
          <a:p>
            <a:pPr algn="ctr" indent="0" marL="0">
              <a:buNone/>
            </a:pPr>
            <a:r>
              <a:rPr lang="en-US" sz="1200" b="1" dirty="0">
                <a:solidFill>
                  <a:srgbClr val="FFFFFF"/>
                </a:solidFill>
              </a:rPr>
              <a:t>SMS, e-mail, WhatsApp</a:t>
            </a:r>
            <a:endParaRPr lang="en-US" sz="1200" dirty="0"/>
          </a:p>
        </p:txBody>
      </p:sp>
      <p:sp>
        <p:nvSpPr>
          <p:cNvPr id="67" name="arch-box-177"/>
          <p:cNvSpPr/>
          <p:nvPr/>
        </p:nvSpPr>
        <p:spPr>
          <a:xfrm>
            <a:off x="6958584" y="4846320"/>
            <a:ext cx="2272284" cy="548640"/>
          </a:xfrm>
          <a:prstGeom prst="roundRect">
            <a:avLst>
              <a:gd name="adj" fmla="val 10000"/>
            </a:avLst>
          </a:prstGeom>
          <a:solidFill>
            <a:srgbClr val="2E5FAE"/>
          </a:solidFill>
          <a:ln/>
        </p:spPr>
      </p:sp>
      <p:sp>
        <p:nvSpPr>
          <p:cNvPr id="68" name="text-178"/>
          <p:cNvSpPr txBox="1"/>
          <p:nvPr/>
        </p:nvSpPr>
        <p:spPr>
          <a:xfrm>
            <a:off x="7004304" y="4846320"/>
            <a:ext cx="2180844" cy="548640"/>
          </a:xfrm>
          <a:prstGeom prst="rect">
            <a:avLst/>
          </a:prstGeom>
          <a:noFill/>
          <a:ln/>
        </p:spPr>
        <p:txBody>
          <a:bodyPr wrap="square" lIns="0" tIns="0" rIns="0" bIns="0" rtlCol="0" anchor="ctr"/>
          <a:lstStyle/>
          <a:p>
            <a:pPr algn="ctr" indent="0" marL="0">
              <a:buNone/>
            </a:pPr>
            <a:r>
              <a:rPr lang="en-US" sz="1200" b="1" dirty="0">
                <a:solidFill>
                  <a:srgbClr val="FFFFFF"/>
                </a:solidFill>
              </a:rPr>
              <a:t>Satellite imagery providers</a:t>
            </a:r>
            <a:endParaRPr lang="en-US" sz="1200" dirty="0"/>
          </a:p>
        </p:txBody>
      </p:sp>
      <p:sp>
        <p:nvSpPr>
          <p:cNvPr id="69" name="arch-box-179"/>
          <p:cNvSpPr/>
          <p:nvPr/>
        </p:nvSpPr>
        <p:spPr>
          <a:xfrm>
            <a:off x="9340596" y="4846320"/>
            <a:ext cx="2272284" cy="548640"/>
          </a:xfrm>
          <a:prstGeom prst="roundRect">
            <a:avLst>
              <a:gd name="adj" fmla="val 10000"/>
            </a:avLst>
          </a:prstGeom>
          <a:solidFill>
            <a:srgbClr val="2E5FAE"/>
          </a:solidFill>
          <a:ln/>
        </p:spPr>
      </p:sp>
      <p:sp>
        <p:nvSpPr>
          <p:cNvPr id="70" name="text-180"/>
          <p:cNvSpPr txBox="1"/>
          <p:nvPr/>
        </p:nvSpPr>
        <p:spPr>
          <a:xfrm>
            <a:off x="9386316" y="4846320"/>
            <a:ext cx="2180844" cy="548640"/>
          </a:xfrm>
          <a:prstGeom prst="rect">
            <a:avLst/>
          </a:prstGeom>
          <a:noFill/>
          <a:ln/>
        </p:spPr>
        <p:txBody>
          <a:bodyPr wrap="square" lIns="0" tIns="0" rIns="0" bIns="0" rtlCol="0" anchor="ctr"/>
          <a:lstStyle/>
          <a:p>
            <a:pPr algn="ctr" indent="0" marL="0">
              <a:buNone/>
            </a:pPr>
            <a:r>
              <a:rPr lang="en-US" sz="1200" b="1" dirty="0">
                <a:solidFill>
                  <a:srgbClr val="FFFFFF"/>
                </a:solidFill>
              </a:rPr>
              <a:t>Department applications</a:t>
            </a:r>
            <a:endParaRPr lang="en-US" sz="1200" dirty="0"/>
          </a:p>
        </p:txBody>
      </p:sp>
      <p:sp>
        <p:nvSpPr>
          <p:cNvPr id="71" name="text-181"/>
          <p:cNvSpPr txBox="1"/>
          <p:nvPr/>
        </p:nvSpPr>
        <p:spPr>
          <a:xfrm>
            <a:off x="548640" y="5678424"/>
            <a:ext cx="1554480" cy="274320"/>
          </a:xfrm>
          <a:prstGeom prst="rect">
            <a:avLst/>
          </a:prstGeom>
          <a:noFill/>
          <a:ln/>
        </p:spPr>
        <p:txBody>
          <a:bodyPr wrap="square" lIns="0" tIns="0" rIns="0" bIns="0" rtlCol="0" anchor="t"/>
          <a:lstStyle/>
          <a:p>
            <a:pPr indent="0" marL="0">
              <a:buNone/>
            </a:pPr>
            <a:r>
              <a:rPr lang="en-US" sz="1200" b="1" spc="100" kern="0" dirty="0">
                <a:solidFill>
                  <a:srgbClr val="6B7280"/>
                </a:solidFill>
              </a:rPr>
              <a:t>PLATFORM</a:t>
            </a:r>
            <a:endParaRPr lang="en-US" sz="1200" dirty="0"/>
          </a:p>
        </p:txBody>
      </p:sp>
      <p:sp>
        <p:nvSpPr>
          <p:cNvPr id="72" name="arch-box-182"/>
          <p:cNvSpPr/>
          <p:nvPr/>
        </p:nvSpPr>
        <p:spPr>
          <a:xfrm>
            <a:off x="2194560" y="5522976"/>
            <a:ext cx="2272284" cy="548640"/>
          </a:xfrm>
          <a:prstGeom prst="roundRect">
            <a:avLst>
              <a:gd name="adj" fmla="val 10000"/>
            </a:avLst>
          </a:prstGeom>
          <a:solidFill>
            <a:srgbClr val="EEF2F9"/>
          </a:solidFill>
          <a:ln/>
        </p:spPr>
      </p:sp>
      <p:sp>
        <p:nvSpPr>
          <p:cNvPr id="73" name="text-183"/>
          <p:cNvSpPr txBox="1"/>
          <p:nvPr/>
        </p:nvSpPr>
        <p:spPr>
          <a:xfrm>
            <a:off x="2240280" y="5522976"/>
            <a:ext cx="2180844" cy="548640"/>
          </a:xfrm>
          <a:prstGeom prst="rect">
            <a:avLst/>
          </a:prstGeom>
          <a:noFill/>
          <a:ln/>
        </p:spPr>
        <p:txBody>
          <a:bodyPr wrap="square" lIns="0" tIns="0" rIns="0" bIns="0" rtlCol="0" anchor="ctr"/>
          <a:lstStyle/>
          <a:p>
            <a:pPr algn="ctr" indent="0" marL="0">
              <a:buNone/>
            </a:pPr>
            <a:r>
              <a:rPr lang="en-US" sz="1200" dirty="0">
                <a:solidFill>
                  <a:srgbClr val="0B318F"/>
                </a:solidFill>
              </a:rPr>
              <a:t>MeitY-empanelled cloud</a:t>
            </a:r>
            <a:endParaRPr lang="en-US" sz="1200" dirty="0"/>
          </a:p>
        </p:txBody>
      </p:sp>
      <p:sp>
        <p:nvSpPr>
          <p:cNvPr id="74" name="arch-box-184"/>
          <p:cNvSpPr/>
          <p:nvPr/>
        </p:nvSpPr>
        <p:spPr>
          <a:xfrm>
            <a:off x="4576572" y="5522976"/>
            <a:ext cx="2272284" cy="548640"/>
          </a:xfrm>
          <a:prstGeom prst="roundRect">
            <a:avLst>
              <a:gd name="adj" fmla="val 10000"/>
            </a:avLst>
          </a:prstGeom>
          <a:solidFill>
            <a:srgbClr val="EEF2F9"/>
          </a:solidFill>
          <a:ln/>
        </p:spPr>
      </p:sp>
      <p:sp>
        <p:nvSpPr>
          <p:cNvPr id="75" name="text-185"/>
          <p:cNvSpPr txBox="1"/>
          <p:nvPr/>
        </p:nvSpPr>
        <p:spPr>
          <a:xfrm>
            <a:off x="4622292" y="5522976"/>
            <a:ext cx="2180844" cy="548640"/>
          </a:xfrm>
          <a:prstGeom prst="rect">
            <a:avLst/>
          </a:prstGeom>
          <a:noFill/>
          <a:ln/>
        </p:spPr>
        <p:txBody>
          <a:bodyPr wrap="square" lIns="0" tIns="0" rIns="0" bIns="0" rtlCol="0" anchor="ctr"/>
          <a:lstStyle/>
          <a:p>
            <a:pPr algn="ctr" indent="0" marL="0">
              <a:buNone/>
            </a:pPr>
            <a:r>
              <a:rPr lang="en-US" sz="1200" dirty="0">
                <a:solidFill>
                  <a:srgbClr val="0B318F"/>
                </a:solidFill>
              </a:rPr>
              <a:t>Kubernetes, HA, load balancing</a:t>
            </a:r>
            <a:endParaRPr lang="en-US" sz="1200" dirty="0"/>
          </a:p>
        </p:txBody>
      </p:sp>
      <p:sp>
        <p:nvSpPr>
          <p:cNvPr id="76" name="arch-box-186"/>
          <p:cNvSpPr/>
          <p:nvPr/>
        </p:nvSpPr>
        <p:spPr>
          <a:xfrm>
            <a:off x="6958584" y="5522976"/>
            <a:ext cx="2272284" cy="548640"/>
          </a:xfrm>
          <a:prstGeom prst="roundRect">
            <a:avLst>
              <a:gd name="adj" fmla="val 10000"/>
            </a:avLst>
          </a:prstGeom>
          <a:solidFill>
            <a:srgbClr val="EEF2F9"/>
          </a:solidFill>
          <a:ln/>
        </p:spPr>
      </p:sp>
      <p:sp>
        <p:nvSpPr>
          <p:cNvPr id="77" name="text-187"/>
          <p:cNvSpPr txBox="1"/>
          <p:nvPr/>
        </p:nvSpPr>
        <p:spPr>
          <a:xfrm>
            <a:off x="7004304" y="5522976"/>
            <a:ext cx="2180844" cy="548640"/>
          </a:xfrm>
          <a:prstGeom prst="rect">
            <a:avLst/>
          </a:prstGeom>
          <a:noFill/>
          <a:ln/>
        </p:spPr>
        <p:txBody>
          <a:bodyPr wrap="square" lIns="0" tIns="0" rIns="0" bIns="0" rtlCol="0" anchor="ctr"/>
          <a:lstStyle/>
          <a:p>
            <a:pPr algn="ctr" indent="0" marL="0">
              <a:buNone/>
            </a:pPr>
            <a:r>
              <a:rPr lang="en-US" sz="1200" dirty="0">
                <a:solidFill>
                  <a:srgbClr val="0B318F"/>
                </a:solidFill>
              </a:rPr>
              <a:t>DR site, backups, PITR</a:t>
            </a:r>
            <a:endParaRPr lang="en-US" sz="1200" dirty="0"/>
          </a:p>
        </p:txBody>
      </p:sp>
      <p:sp>
        <p:nvSpPr>
          <p:cNvPr id="78" name="arch-box-188"/>
          <p:cNvSpPr/>
          <p:nvPr/>
        </p:nvSpPr>
        <p:spPr>
          <a:xfrm>
            <a:off x="9340596" y="5522976"/>
            <a:ext cx="2272284" cy="548640"/>
          </a:xfrm>
          <a:prstGeom prst="roundRect">
            <a:avLst>
              <a:gd name="adj" fmla="val 10000"/>
            </a:avLst>
          </a:prstGeom>
          <a:solidFill>
            <a:srgbClr val="EEF2F9"/>
          </a:solidFill>
          <a:ln/>
        </p:spPr>
      </p:sp>
      <p:sp>
        <p:nvSpPr>
          <p:cNvPr id="79" name="text-189"/>
          <p:cNvSpPr txBox="1"/>
          <p:nvPr/>
        </p:nvSpPr>
        <p:spPr>
          <a:xfrm>
            <a:off x="9386316" y="5522976"/>
            <a:ext cx="2180844" cy="548640"/>
          </a:xfrm>
          <a:prstGeom prst="rect">
            <a:avLst/>
          </a:prstGeom>
          <a:noFill/>
          <a:ln/>
        </p:spPr>
        <p:txBody>
          <a:bodyPr wrap="square" lIns="0" tIns="0" rIns="0" bIns="0" rtlCol="0" anchor="ctr"/>
          <a:lstStyle/>
          <a:p>
            <a:pPr algn="ctr" indent="0" marL="0">
              <a:buNone/>
            </a:pPr>
            <a:r>
              <a:rPr lang="en-US" sz="1200" dirty="0">
                <a:solidFill>
                  <a:srgbClr val="0B318F"/>
                </a:solidFill>
              </a:rPr>
              <a:t>Prometheus, Grafana, OpenSearch</a:t>
            </a:r>
            <a:endParaRPr lang="en-US" sz="1200" dirty="0"/>
          </a:p>
        </p:txBody>
      </p:sp>
      <p:sp>
        <p:nvSpPr>
          <p:cNvPr id="82" name="KeyPoint band blue"/>
          <p:cNvSpPr/>
          <p:nvPr/>
        </p:nvSpPr>
        <p:spPr>
          <a:xfrm>
            <a:off x="0" y="6611000"/>
            <a:ext cx="8298000" cy="247000"/>
          </a:xfrm>
          <a:prstGeom prst="rect">
            <a:avLst/>
          </a:prstGeom>
          <a:solidFill>
            <a:srgbClr val="3767B1"/>
          </a:solidFill>
          <a:ln>
            <a:noFill/>
          </a:ln>
        </p:spPr>
      </p:sp>
      <p:sp>
        <p:nvSpPr>
          <p:cNvPr id="83" name="KeyPoint band orange"/>
          <p:cNvSpPr/>
          <p:nvPr/>
        </p:nvSpPr>
        <p:spPr>
          <a:xfrm>
            <a:off x="8298000" y="6611000"/>
            <a:ext cx="3894000" cy="247000"/>
          </a:xfrm>
          <a:prstGeom prst="rect">
            <a:avLst/>
          </a:prstGeom>
          <a:solidFill>
            <a:srgbClr val="FF6100"/>
          </a:solidFill>
          <a:ln>
            <a:noFill/>
          </a:ln>
        </p:spPr>
      </p:sp>
      <p:sp>
        <p:nvSpPr>
          <p:cNvPr id="80" name="KeyPoint logo box"/>
          <p:cNvSpPr/>
          <p:nvPr/>
        </p:nvSpPr>
        <p:spPr>
          <a:xfrm>
            <a:off x="9972675" y="142875"/>
            <a:ext cx="2162175" cy="704850"/>
          </a:xfrm>
          <a:custGeom>
            <a:avLst/>
            <a:gdLst/>
            <a:ahLst/>
            <a:cxnLst/>
            <a:rect l="l" t="t" r="r" b="b"/>
            <a:pathLst>
              <a:path w="2162175" h="704850">
                <a:moveTo>
                  <a:pt x="2044700" y="0"/>
                </a:moveTo>
                <a:lnTo>
                  <a:pt x="117475" y="0"/>
                </a:lnTo>
                <a:lnTo>
                  <a:pt x="71741" y="9229"/>
                </a:lnTo>
                <a:lnTo>
                  <a:pt x="34401" y="34401"/>
                </a:lnTo>
                <a:lnTo>
                  <a:pt x="9229" y="71741"/>
                </a:lnTo>
                <a:lnTo>
                  <a:pt x="0" y="117475"/>
                </a:lnTo>
                <a:lnTo>
                  <a:pt x="0" y="587375"/>
                </a:lnTo>
                <a:lnTo>
                  <a:pt x="9229" y="633108"/>
                </a:lnTo>
                <a:lnTo>
                  <a:pt x="34401" y="670448"/>
                </a:lnTo>
                <a:lnTo>
                  <a:pt x="71741" y="695620"/>
                </a:lnTo>
                <a:lnTo>
                  <a:pt x="117475" y="704850"/>
                </a:lnTo>
                <a:lnTo>
                  <a:pt x="2044700" y="704850"/>
                </a:lnTo>
                <a:lnTo>
                  <a:pt x="2090433" y="695620"/>
                </a:lnTo>
                <a:lnTo>
                  <a:pt x="2127773" y="670448"/>
                </a:lnTo>
                <a:lnTo>
                  <a:pt x="2152945" y="633108"/>
                </a:lnTo>
                <a:lnTo>
                  <a:pt x="2162175" y="587375"/>
                </a:lnTo>
                <a:lnTo>
                  <a:pt x="2162175" y="117475"/>
                </a:lnTo>
                <a:lnTo>
                  <a:pt x="2152945" y="71741"/>
                </a:lnTo>
                <a:lnTo>
                  <a:pt x="2127773" y="34401"/>
                </a:lnTo>
                <a:lnTo>
                  <a:pt x="2090433" y="9229"/>
                </a:lnTo>
                <a:lnTo>
                  <a:pt x="2044700" y="0"/>
                </a:lnTo>
                <a:close/>
              </a:path>
            </a:pathLst>
          </a:custGeom>
          <a:solidFill>
            <a:srgbClr val="FFFFFF"/>
          </a:solidFill>
        </p:spPr>
        <p:txBody>
          <a:bodyPr wrap="square" lIns="0" tIns="0" rIns="0" bIns="0" rtlCol="0"/>
          <a:lstStyle/>
          <a:p/>
        </p:txBody>
      </p:sp>
      <p:pic>
        <p:nvPicPr>
          <p:cNvPr id="81" name="KeyPoint logo" descr="KeyPoint Technologies logo"/>
          <p:cNvPicPr/>
          <p:nvPr/>
        </p:nvPicPr>
        <p:blipFill>
          <a:blip r:embed="rIdKpLogo" cstate="print"/>
          <a:stretch>
            <a:fillRect/>
          </a:stretch>
        </p:blipFill>
        <p:spPr>
          <a:xfrm>
            <a:off x="10134600" y="209550"/>
            <a:ext cx="1828800" cy="5524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190"/>
          <p:cNvSpPr txBox="1"/>
          <p:nvPr/>
        </p:nvSpPr>
        <p:spPr>
          <a:xfrm>
            <a:off x="548640" y="274320"/>
            <a:ext cx="10972800" cy="256032"/>
          </a:xfrm>
          <a:prstGeom prst="rect">
            <a:avLst/>
          </a:prstGeom>
          <a:noFill/>
          <a:ln/>
        </p:spPr>
        <p:txBody>
          <a:bodyPr wrap="square" lIns="0" tIns="0" rIns="0" bIns="0" rtlCol="0" anchor="ctr"/>
          <a:lstStyle/>
          <a:p>
            <a:pPr indent="0" marL="0">
              <a:buNone/>
            </a:pPr>
            <a:r>
              <a:rPr lang="en-US" sz="1100" b="1" spc="200" kern="0" dirty="0">
                <a:solidFill>
                  <a:srgbClr val="2E5FAE"/>
                </a:solidFill>
              </a:rPr>
              <a:t>02 · DATA SECURITY &amp; COMPLIANCE</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rgbClr val="0B318F"/>
                </a:solidFill>
              </a:rPr>
              <a:t>Security, data protection and compliance</a:t>
            </a:r>
            <a:endParaRPr lang="en-US" sz="3200" dirty="0"/>
          </a:p>
        </p:txBody>
      </p:sp>
      <p:sp>
        <p:nvSpPr>
          <p:cNvPr id="5" name="card-191"/>
          <p:cNvSpPr/>
          <p:nvPr/>
        </p:nvSpPr>
        <p:spPr>
          <a:xfrm>
            <a:off x="548640" y="1508760"/>
            <a:ext cx="3566160" cy="2103120"/>
          </a:xfrm>
          <a:prstGeom prst="roundRect">
            <a:avLst>
              <a:gd name="adj" fmla="val 3478"/>
            </a:avLst>
          </a:prstGeom>
          <a:solidFill>
            <a:srgbClr val="EEF2F9"/>
          </a:solidFill>
          <a:ln/>
        </p:spPr>
      </p:sp>
      <p:sp>
        <p:nvSpPr>
          <p:cNvPr id="6" name="icon-bg-192"/>
          <p:cNvSpPr/>
          <p:nvPr/>
        </p:nvSpPr>
        <p:spPr>
          <a:xfrm>
            <a:off x="777240" y="1737360"/>
            <a:ext cx="594360" cy="594360"/>
          </a:xfrm>
          <a:prstGeom prst="ellipse">
            <a:avLst/>
          </a:prstGeom>
          <a:solidFill>
            <a:srgbClr val="2E5FAE"/>
          </a:solidFill>
          <a:ln/>
        </p:spPr>
      </p:sp>
      <p:pic>
        <p:nvPicPr>
          <p:cNvPr id="7" name="icon-193" descr="preencoded.png">    </p:cNvPr>
          <p:cNvPicPr>
            <a:picLocks noChangeAspect="1"/>
          </p:cNvPicPr>
          <p:nvPr/>
        </p:nvPicPr>
        <p:blipFill>
          <a:blip r:embed="rId1"/>
          <a:stretch>
            <a:fillRect/>
          </a:stretch>
        </p:blipFill>
        <p:spPr>
          <a:xfrm>
            <a:off x="907999" y="1868119"/>
            <a:ext cx="332842" cy="332842"/>
          </a:xfrm>
          <a:prstGeom prst="rect">
            <a:avLst/>
          </a:prstGeom>
        </p:spPr>
      </p:pic>
      <p:sp>
        <p:nvSpPr>
          <p:cNvPr id="8" name="text-194"/>
          <p:cNvSpPr txBox="1"/>
          <p:nvPr/>
        </p:nvSpPr>
        <p:spPr>
          <a:xfrm>
            <a:off x="1554480" y="1828800"/>
            <a:ext cx="2377440" cy="411480"/>
          </a:xfrm>
          <a:prstGeom prst="rect">
            <a:avLst/>
          </a:prstGeom>
          <a:noFill/>
          <a:ln/>
        </p:spPr>
        <p:txBody>
          <a:bodyPr wrap="square" lIns="0" tIns="0" rIns="0" bIns="0" rtlCol="0" anchor="t"/>
          <a:lstStyle/>
          <a:p>
            <a:pPr indent="0" marL="0">
              <a:buNone/>
            </a:pPr>
            <a:r>
              <a:rPr lang="en-US" sz="1700" b="1" dirty="0">
                <a:solidFill>
                  <a:srgbClr val="0B318F"/>
                </a:solidFill>
              </a:rPr>
              <a:t>Identity &amp; access</a:t>
            </a:r>
            <a:endParaRPr lang="en-US" sz="1700" dirty="0"/>
          </a:p>
        </p:txBody>
      </p:sp>
      <p:sp>
        <p:nvSpPr>
          <p:cNvPr id="9" name="text-195"/>
          <p:cNvSpPr txBox="1"/>
          <p:nvPr/>
        </p:nvSpPr>
        <p:spPr>
          <a:xfrm>
            <a:off x="777240" y="2468880"/>
            <a:ext cx="3108960" cy="1051560"/>
          </a:xfrm>
          <a:prstGeom prst="rect">
            <a:avLst/>
          </a:prstGeom>
          <a:noFill/>
          <a:ln/>
        </p:spPr>
        <p:txBody>
          <a:bodyPr wrap="square" lIns="0" tIns="0" rIns="0" bIns="0" rtlCol="0" anchor="t"/>
          <a:lstStyle/>
          <a:p>
            <a:pPr indent="0" marL="0">
              <a:buNone/>
            </a:pPr>
            <a:r>
              <a:rPr lang="en-US" sz="1400" dirty="0">
                <a:solidFill>
                  <a:srgbClr val="1A1F2B"/>
                </a:solidFill>
              </a:rPr>
              <a:t>Keycloak SSO and multi-factor authentication. Role-based access down to module, district and field level.</a:t>
            </a:r>
            <a:endParaRPr lang="en-US" sz="1400" dirty="0"/>
          </a:p>
        </p:txBody>
      </p:sp>
      <p:sp>
        <p:nvSpPr>
          <p:cNvPr id="10" name="card-196"/>
          <p:cNvSpPr/>
          <p:nvPr/>
        </p:nvSpPr>
        <p:spPr>
          <a:xfrm>
            <a:off x="4297680" y="1508760"/>
            <a:ext cx="3566160" cy="2103120"/>
          </a:xfrm>
          <a:prstGeom prst="roundRect">
            <a:avLst>
              <a:gd name="adj" fmla="val 3478"/>
            </a:avLst>
          </a:prstGeom>
          <a:solidFill>
            <a:srgbClr val="EEF2F9"/>
          </a:solidFill>
          <a:ln/>
        </p:spPr>
      </p:sp>
      <p:sp>
        <p:nvSpPr>
          <p:cNvPr id="11" name="icon-bg-197"/>
          <p:cNvSpPr/>
          <p:nvPr/>
        </p:nvSpPr>
        <p:spPr>
          <a:xfrm>
            <a:off x="4526280" y="1737360"/>
            <a:ext cx="594360" cy="594360"/>
          </a:xfrm>
          <a:prstGeom prst="ellipse">
            <a:avLst/>
          </a:prstGeom>
          <a:solidFill>
            <a:srgbClr val="2E5FAE"/>
          </a:solidFill>
          <a:ln/>
        </p:spPr>
      </p:sp>
      <p:pic>
        <p:nvPicPr>
          <p:cNvPr id="12" name="icon-198" descr="preencoded.png">    </p:cNvPr>
          <p:cNvPicPr>
            <a:picLocks noChangeAspect="1"/>
          </p:cNvPicPr>
          <p:nvPr/>
        </p:nvPicPr>
        <p:blipFill>
          <a:blip r:embed="rId2"/>
          <a:stretch>
            <a:fillRect/>
          </a:stretch>
        </p:blipFill>
        <p:spPr>
          <a:xfrm>
            <a:off x="4657039" y="1868119"/>
            <a:ext cx="332842" cy="332842"/>
          </a:xfrm>
          <a:prstGeom prst="rect">
            <a:avLst/>
          </a:prstGeom>
        </p:spPr>
      </p:pic>
      <p:sp>
        <p:nvSpPr>
          <p:cNvPr id="13" name="text-199"/>
          <p:cNvSpPr txBox="1"/>
          <p:nvPr/>
        </p:nvSpPr>
        <p:spPr>
          <a:xfrm>
            <a:off x="5303520" y="1828800"/>
            <a:ext cx="2377440" cy="411480"/>
          </a:xfrm>
          <a:prstGeom prst="rect">
            <a:avLst/>
          </a:prstGeom>
          <a:noFill/>
          <a:ln/>
        </p:spPr>
        <p:txBody>
          <a:bodyPr wrap="square" lIns="0" tIns="0" rIns="0" bIns="0" rtlCol="0" anchor="t"/>
          <a:lstStyle/>
          <a:p>
            <a:pPr indent="0" marL="0">
              <a:buNone/>
            </a:pPr>
            <a:r>
              <a:rPr lang="en-US" sz="1700" b="1" dirty="0">
                <a:solidFill>
                  <a:srgbClr val="0B318F"/>
                </a:solidFill>
              </a:rPr>
              <a:t>Encryption</a:t>
            </a:r>
            <a:endParaRPr lang="en-US" sz="1700" dirty="0"/>
          </a:p>
        </p:txBody>
      </p:sp>
      <p:sp>
        <p:nvSpPr>
          <p:cNvPr id="14" name="text-200"/>
          <p:cNvSpPr txBox="1"/>
          <p:nvPr/>
        </p:nvSpPr>
        <p:spPr>
          <a:xfrm>
            <a:off x="4526280" y="2468880"/>
            <a:ext cx="3108960" cy="1051560"/>
          </a:xfrm>
          <a:prstGeom prst="rect">
            <a:avLst/>
          </a:prstGeom>
          <a:noFill/>
          <a:ln/>
        </p:spPr>
        <p:txBody>
          <a:bodyPr wrap="square" lIns="0" tIns="0" rIns="0" bIns="0" rtlCol="0" anchor="t"/>
          <a:lstStyle/>
          <a:p>
            <a:pPr indent="0" marL="0">
              <a:buNone/>
            </a:pPr>
            <a:r>
              <a:rPr lang="en-US" sz="1400" dirty="0">
                <a:solidFill>
                  <a:srgbClr val="1A1F2B"/>
                </a:solidFill>
              </a:rPr>
              <a:t>TLS for all data in transit and AES-256 at rest. Secure session management and timeout.</a:t>
            </a:r>
            <a:endParaRPr lang="en-US" sz="1400" dirty="0"/>
          </a:p>
        </p:txBody>
      </p:sp>
      <p:sp>
        <p:nvSpPr>
          <p:cNvPr id="15" name="card-201"/>
          <p:cNvSpPr/>
          <p:nvPr/>
        </p:nvSpPr>
        <p:spPr>
          <a:xfrm>
            <a:off x="8046720" y="1508760"/>
            <a:ext cx="3566160" cy="2103120"/>
          </a:xfrm>
          <a:prstGeom prst="roundRect">
            <a:avLst>
              <a:gd name="adj" fmla="val 3478"/>
            </a:avLst>
          </a:prstGeom>
          <a:solidFill>
            <a:srgbClr val="EEF2F9"/>
          </a:solidFill>
          <a:ln/>
        </p:spPr>
      </p:sp>
      <p:sp>
        <p:nvSpPr>
          <p:cNvPr id="16" name="icon-bg-202"/>
          <p:cNvSpPr/>
          <p:nvPr/>
        </p:nvSpPr>
        <p:spPr>
          <a:xfrm>
            <a:off x="8275320" y="1737360"/>
            <a:ext cx="594360" cy="594360"/>
          </a:xfrm>
          <a:prstGeom prst="ellipse">
            <a:avLst/>
          </a:prstGeom>
          <a:solidFill>
            <a:srgbClr val="2E5FAE"/>
          </a:solidFill>
          <a:ln/>
        </p:spPr>
      </p:sp>
      <p:pic>
        <p:nvPicPr>
          <p:cNvPr id="17" name="icon-203" descr="preencoded.png">    </p:cNvPr>
          <p:cNvPicPr>
            <a:picLocks noChangeAspect="1"/>
          </p:cNvPicPr>
          <p:nvPr/>
        </p:nvPicPr>
        <p:blipFill>
          <a:blip r:embed="rId3"/>
          <a:stretch>
            <a:fillRect/>
          </a:stretch>
        </p:blipFill>
        <p:spPr>
          <a:xfrm>
            <a:off x="8406079" y="1868119"/>
            <a:ext cx="332842" cy="332842"/>
          </a:xfrm>
          <a:prstGeom prst="rect">
            <a:avLst/>
          </a:prstGeom>
        </p:spPr>
      </p:pic>
      <p:sp>
        <p:nvSpPr>
          <p:cNvPr id="18" name="text-204"/>
          <p:cNvSpPr txBox="1"/>
          <p:nvPr/>
        </p:nvSpPr>
        <p:spPr>
          <a:xfrm>
            <a:off x="9052560" y="1828800"/>
            <a:ext cx="2377440" cy="411480"/>
          </a:xfrm>
          <a:prstGeom prst="rect">
            <a:avLst/>
          </a:prstGeom>
          <a:noFill/>
          <a:ln/>
        </p:spPr>
        <p:txBody>
          <a:bodyPr wrap="square" lIns="0" tIns="0" rIns="0" bIns="0" rtlCol="0" anchor="t"/>
          <a:lstStyle/>
          <a:p>
            <a:pPr indent="0" marL="0">
              <a:buNone/>
            </a:pPr>
            <a:r>
              <a:rPr lang="en-US" sz="1700" b="1" dirty="0">
                <a:solidFill>
                  <a:srgbClr val="0B318F"/>
                </a:solidFill>
              </a:rPr>
              <a:t>Audit trail</a:t>
            </a:r>
            <a:endParaRPr lang="en-US" sz="1700" dirty="0"/>
          </a:p>
        </p:txBody>
      </p:sp>
      <p:sp>
        <p:nvSpPr>
          <p:cNvPr id="19" name="text-205"/>
          <p:cNvSpPr txBox="1"/>
          <p:nvPr/>
        </p:nvSpPr>
        <p:spPr>
          <a:xfrm>
            <a:off x="8275320" y="2468880"/>
            <a:ext cx="3108960" cy="1051560"/>
          </a:xfrm>
          <a:prstGeom prst="rect">
            <a:avLst/>
          </a:prstGeom>
          <a:noFill/>
          <a:ln/>
        </p:spPr>
        <p:txBody>
          <a:bodyPr wrap="square" lIns="0" tIns="0" rIns="0" bIns="0" rtlCol="0" anchor="t"/>
          <a:lstStyle/>
          <a:p>
            <a:pPr indent="0" marL="0">
              <a:buNone/>
            </a:pPr>
            <a:r>
              <a:rPr lang="en-US" sz="1400" dirty="0">
                <a:solidFill>
                  <a:srgbClr val="1A1F2B"/>
                </a:solidFill>
              </a:rPr>
              <a:t>Tamper-evident logs of every user action. Hash recorded for each uploaded document.</a:t>
            </a:r>
            <a:endParaRPr lang="en-US" sz="1400" dirty="0"/>
          </a:p>
        </p:txBody>
      </p:sp>
      <p:sp>
        <p:nvSpPr>
          <p:cNvPr id="20" name="card-206"/>
          <p:cNvSpPr/>
          <p:nvPr/>
        </p:nvSpPr>
        <p:spPr>
          <a:xfrm>
            <a:off x="548640" y="3794760"/>
            <a:ext cx="3566160" cy="2103120"/>
          </a:xfrm>
          <a:prstGeom prst="roundRect">
            <a:avLst>
              <a:gd name="adj" fmla="val 3478"/>
            </a:avLst>
          </a:prstGeom>
          <a:solidFill>
            <a:srgbClr val="EEF2F9"/>
          </a:solidFill>
          <a:ln/>
        </p:spPr>
      </p:sp>
      <p:sp>
        <p:nvSpPr>
          <p:cNvPr id="21" name="icon-bg-207"/>
          <p:cNvSpPr/>
          <p:nvPr/>
        </p:nvSpPr>
        <p:spPr>
          <a:xfrm>
            <a:off x="777240" y="4023360"/>
            <a:ext cx="594360" cy="594360"/>
          </a:xfrm>
          <a:prstGeom prst="ellipse">
            <a:avLst/>
          </a:prstGeom>
          <a:solidFill>
            <a:srgbClr val="2E5FAE"/>
          </a:solidFill>
          <a:ln/>
        </p:spPr>
      </p:sp>
      <p:pic>
        <p:nvPicPr>
          <p:cNvPr id="22" name="icon-208" descr="preencoded.png">    </p:cNvPr>
          <p:cNvPicPr>
            <a:picLocks noChangeAspect="1"/>
          </p:cNvPicPr>
          <p:nvPr/>
        </p:nvPicPr>
        <p:blipFill>
          <a:blip r:embed="rId4"/>
          <a:stretch>
            <a:fillRect/>
          </a:stretch>
        </p:blipFill>
        <p:spPr>
          <a:xfrm>
            <a:off x="907999" y="4154119"/>
            <a:ext cx="332842" cy="332842"/>
          </a:xfrm>
          <a:prstGeom prst="rect">
            <a:avLst/>
          </a:prstGeom>
        </p:spPr>
      </p:pic>
      <p:sp>
        <p:nvSpPr>
          <p:cNvPr id="23" name="text-209"/>
          <p:cNvSpPr txBox="1"/>
          <p:nvPr/>
        </p:nvSpPr>
        <p:spPr>
          <a:xfrm>
            <a:off x="1554480" y="4114800"/>
            <a:ext cx="2377440" cy="411480"/>
          </a:xfrm>
          <a:prstGeom prst="rect">
            <a:avLst/>
          </a:prstGeom>
          <a:noFill/>
          <a:ln/>
        </p:spPr>
        <p:txBody>
          <a:bodyPr wrap="square" lIns="0" tIns="0" rIns="0" bIns="0" rtlCol="0" anchor="t"/>
          <a:lstStyle/>
          <a:p>
            <a:pPr indent="0" marL="0">
              <a:buNone/>
            </a:pPr>
            <a:r>
              <a:rPr lang="en-US" sz="1700" b="1" dirty="0">
                <a:solidFill>
                  <a:srgbClr val="0B318F"/>
                </a:solidFill>
              </a:rPr>
              <a:t>Compliance</a:t>
            </a:r>
            <a:endParaRPr lang="en-US" sz="1700" dirty="0"/>
          </a:p>
        </p:txBody>
      </p:sp>
      <p:sp>
        <p:nvSpPr>
          <p:cNvPr id="24" name="text-210"/>
          <p:cNvSpPr txBox="1"/>
          <p:nvPr/>
        </p:nvSpPr>
        <p:spPr>
          <a:xfrm>
            <a:off x="777240" y="4754880"/>
            <a:ext cx="3108960" cy="1051560"/>
          </a:xfrm>
          <a:prstGeom prst="rect">
            <a:avLst/>
          </a:prstGeom>
          <a:noFill/>
          <a:ln/>
        </p:spPr>
        <p:txBody>
          <a:bodyPr wrap="square" lIns="0" tIns="0" rIns="0" bIns="0" rtlCol="0" anchor="t"/>
          <a:lstStyle/>
          <a:p>
            <a:pPr indent="0" marL="0">
              <a:buNone/>
            </a:pPr>
            <a:r>
              <a:rPr lang="en-US" sz="1400" dirty="0">
                <a:solidFill>
                  <a:srgbClr val="1A1F2B"/>
                </a:solidFill>
              </a:rPr>
              <a:t>CERT-In empanelled security audit before Go-Live. Government IT security guidelines followed.</a:t>
            </a:r>
            <a:endParaRPr lang="en-US" sz="1400" dirty="0"/>
          </a:p>
        </p:txBody>
      </p:sp>
      <p:sp>
        <p:nvSpPr>
          <p:cNvPr id="25" name="card-211"/>
          <p:cNvSpPr/>
          <p:nvPr/>
        </p:nvSpPr>
        <p:spPr>
          <a:xfrm>
            <a:off x="4297680" y="3794760"/>
            <a:ext cx="3566160" cy="2103120"/>
          </a:xfrm>
          <a:prstGeom prst="roundRect">
            <a:avLst>
              <a:gd name="adj" fmla="val 3478"/>
            </a:avLst>
          </a:prstGeom>
          <a:solidFill>
            <a:srgbClr val="EEF2F9"/>
          </a:solidFill>
          <a:ln/>
        </p:spPr>
      </p:sp>
      <p:sp>
        <p:nvSpPr>
          <p:cNvPr id="26" name="icon-bg-212"/>
          <p:cNvSpPr/>
          <p:nvPr/>
        </p:nvSpPr>
        <p:spPr>
          <a:xfrm>
            <a:off x="4526280" y="4023360"/>
            <a:ext cx="594360" cy="594360"/>
          </a:xfrm>
          <a:prstGeom prst="ellipse">
            <a:avLst/>
          </a:prstGeom>
          <a:solidFill>
            <a:srgbClr val="2E5FAE"/>
          </a:solidFill>
          <a:ln/>
        </p:spPr>
      </p:sp>
      <p:pic>
        <p:nvPicPr>
          <p:cNvPr id="27" name="icon-213" descr="preencoded.png">    </p:cNvPr>
          <p:cNvPicPr>
            <a:picLocks noChangeAspect="1"/>
          </p:cNvPicPr>
          <p:nvPr/>
        </p:nvPicPr>
        <p:blipFill>
          <a:blip r:embed="rId5"/>
          <a:stretch>
            <a:fillRect/>
          </a:stretch>
        </p:blipFill>
        <p:spPr>
          <a:xfrm>
            <a:off x="4657039" y="4154119"/>
            <a:ext cx="332842" cy="332842"/>
          </a:xfrm>
          <a:prstGeom prst="rect">
            <a:avLst/>
          </a:prstGeom>
        </p:spPr>
      </p:pic>
      <p:sp>
        <p:nvSpPr>
          <p:cNvPr id="28" name="text-214"/>
          <p:cNvSpPr txBox="1"/>
          <p:nvPr/>
        </p:nvSpPr>
        <p:spPr>
          <a:xfrm>
            <a:off x="5303520" y="4114800"/>
            <a:ext cx="2377440" cy="411480"/>
          </a:xfrm>
          <a:prstGeom prst="rect">
            <a:avLst/>
          </a:prstGeom>
          <a:noFill/>
          <a:ln/>
        </p:spPr>
        <p:txBody>
          <a:bodyPr wrap="square" lIns="0" tIns="0" rIns="0" bIns="0" rtlCol="0" anchor="t"/>
          <a:lstStyle/>
          <a:p>
            <a:pPr indent="0" marL="0">
              <a:buNone/>
            </a:pPr>
            <a:r>
              <a:rPr lang="en-US" sz="1700" b="1" dirty="0">
                <a:solidFill>
                  <a:srgbClr val="0B318F"/>
                </a:solidFill>
              </a:rPr>
              <a:t>Backup &amp; recovery</a:t>
            </a:r>
            <a:endParaRPr lang="en-US" sz="1700" dirty="0"/>
          </a:p>
        </p:txBody>
      </p:sp>
      <p:sp>
        <p:nvSpPr>
          <p:cNvPr id="29" name="text-215"/>
          <p:cNvSpPr txBox="1"/>
          <p:nvPr/>
        </p:nvSpPr>
        <p:spPr>
          <a:xfrm>
            <a:off x="4526280" y="4754880"/>
            <a:ext cx="3108960" cy="1051560"/>
          </a:xfrm>
          <a:prstGeom prst="rect">
            <a:avLst/>
          </a:prstGeom>
          <a:noFill/>
          <a:ln/>
        </p:spPr>
        <p:txBody>
          <a:bodyPr wrap="square" lIns="0" tIns="0" rIns="0" bIns="0" rtlCol="0" anchor="t"/>
          <a:lstStyle/>
          <a:p>
            <a:pPr indent="0" marL="0">
              <a:buNone/>
            </a:pPr>
            <a:r>
              <a:rPr lang="en-US" sz="1400" dirty="0">
                <a:solidFill>
                  <a:srgbClr val="1A1F2B"/>
                </a:solidFill>
              </a:rPr>
              <a:t>Daily incremental and weekly full backups, point-in-time recovery and DR replication.</a:t>
            </a:r>
            <a:endParaRPr lang="en-US" sz="1400" dirty="0"/>
          </a:p>
        </p:txBody>
      </p:sp>
      <p:sp>
        <p:nvSpPr>
          <p:cNvPr id="30" name="card-216"/>
          <p:cNvSpPr/>
          <p:nvPr/>
        </p:nvSpPr>
        <p:spPr>
          <a:xfrm>
            <a:off x="8046720" y="3794760"/>
            <a:ext cx="3566160" cy="2103120"/>
          </a:xfrm>
          <a:prstGeom prst="roundRect">
            <a:avLst>
              <a:gd name="adj" fmla="val 3478"/>
            </a:avLst>
          </a:prstGeom>
          <a:solidFill>
            <a:srgbClr val="EEF2F9"/>
          </a:solidFill>
          <a:ln/>
        </p:spPr>
      </p:sp>
      <p:sp>
        <p:nvSpPr>
          <p:cNvPr id="31" name="icon-bg-217"/>
          <p:cNvSpPr/>
          <p:nvPr/>
        </p:nvSpPr>
        <p:spPr>
          <a:xfrm>
            <a:off x="8275320" y="4023360"/>
            <a:ext cx="594360" cy="594360"/>
          </a:xfrm>
          <a:prstGeom prst="ellipse">
            <a:avLst/>
          </a:prstGeom>
          <a:solidFill>
            <a:srgbClr val="2E5FAE"/>
          </a:solidFill>
          <a:ln/>
        </p:spPr>
      </p:sp>
      <p:pic>
        <p:nvPicPr>
          <p:cNvPr id="32" name="icon-218" descr="preencoded.png">    </p:cNvPr>
          <p:cNvPicPr>
            <a:picLocks noChangeAspect="1"/>
          </p:cNvPicPr>
          <p:nvPr/>
        </p:nvPicPr>
        <p:blipFill>
          <a:blip r:embed="rId6"/>
          <a:stretch>
            <a:fillRect/>
          </a:stretch>
        </p:blipFill>
        <p:spPr>
          <a:xfrm>
            <a:off x="8406079" y="4154119"/>
            <a:ext cx="332842" cy="332842"/>
          </a:xfrm>
          <a:prstGeom prst="rect">
            <a:avLst/>
          </a:prstGeom>
        </p:spPr>
      </p:pic>
      <p:sp>
        <p:nvSpPr>
          <p:cNvPr id="33" name="text-219"/>
          <p:cNvSpPr txBox="1"/>
          <p:nvPr/>
        </p:nvSpPr>
        <p:spPr>
          <a:xfrm>
            <a:off x="9052560" y="4114800"/>
            <a:ext cx="2377440" cy="411480"/>
          </a:xfrm>
          <a:prstGeom prst="rect">
            <a:avLst/>
          </a:prstGeom>
          <a:noFill/>
          <a:ln/>
        </p:spPr>
        <p:txBody>
          <a:bodyPr wrap="square" lIns="0" tIns="0" rIns="0" bIns="0" rtlCol="0" anchor="t"/>
          <a:lstStyle/>
          <a:p>
            <a:pPr indent="0" marL="0">
              <a:buNone/>
            </a:pPr>
            <a:r>
              <a:rPr lang="en-US" sz="1700" b="1" dirty="0">
                <a:solidFill>
                  <a:srgbClr val="0B318F"/>
                </a:solidFill>
              </a:rPr>
              <a:t>Data ownership</a:t>
            </a:r>
            <a:endParaRPr lang="en-US" sz="1700" dirty="0"/>
          </a:p>
        </p:txBody>
      </p:sp>
      <p:sp>
        <p:nvSpPr>
          <p:cNvPr id="34" name="text-220"/>
          <p:cNvSpPr txBox="1"/>
          <p:nvPr/>
        </p:nvSpPr>
        <p:spPr>
          <a:xfrm>
            <a:off x="8275320" y="4754880"/>
            <a:ext cx="3108960" cy="1051560"/>
          </a:xfrm>
          <a:prstGeom prst="rect">
            <a:avLst/>
          </a:prstGeom>
          <a:noFill/>
          <a:ln/>
        </p:spPr>
        <p:txBody>
          <a:bodyPr wrap="square" lIns="0" tIns="0" rIns="0" bIns="0" rtlCol="0" anchor="t"/>
          <a:lstStyle/>
          <a:p>
            <a:pPr indent="0" marL="0">
              <a:buNone/>
            </a:pPr>
            <a:r>
              <a:rPr lang="en-US" sz="1400" dirty="0">
                <a:solidFill>
                  <a:srgbClr val="1A1F2B"/>
                </a:solidFill>
              </a:rPr>
              <a:t>All data, backups and code belong to the Department. No reuse of project data for any other purpose.</a:t>
            </a:r>
            <a:endParaRPr lang="en-US" sz="1400" dirty="0"/>
          </a:p>
        </p:txBody>
      </p:sp>
      <p:sp>
        <p:nvSpPr>
          <p:cNvPr id="37" name="KeyPoint band blue"/>
          <p:cNvSpPr/>
          <p:nvPr/>
        </p:nvSpPr>
        <p:spPr>
          <a:xfrm>
            <a:off x="0" y="6611000"/>
            <a:ext cx="8298000" cy="247000"/>
          </a:xfrm>
          <a:prstGeom prst="rect">
            <a:avLst/>
          </a:prstGeom>
          <a:solidFill>
            <a:srgbClr val="3767B1"/>
          </a:solidFill>
          <a:ln>
            <a:noFill/>
          </a:ln>
        </p:spPr>
      </p:sp>
      <p:sp>
        <p:nvSpPr>
          <p:cNvPr id="38" name="KeyPoint band orange"/>
          <p:cNvSpPr/>
          <p:nvPr/>
        </p:nvSpPr>
        <p:spPr>
          <a:xfrm>
            <a:off x="8298000" y="6611000"/>
            <a:ext cx="3894000" cy="247000"/>
          </a:xfrm>
          <a:prstGeom prst="rect">
            <a:avLst/>
          </a:prstGeom>
          <a:solidFill>
            <a:srgbClr val="FF6100"/>
          </a:solidFill>
          <a:ln>
            <a:noFill/>
          </a:ln>
        </p:spPr>
      </p:sp>
      <p:sp>
        <p:nvSpPr>
          <p:cNvPr id="35" name="KeyPoint logo box"/>
          <p:cNvSpPr/>
          <p:nvPr/>
        </p:nvSpPr>
        <p:spPr>
          <a:xfrm>
            <a:off x="9972675" y="142875"/>
            <a:ext cx="2162175" cy="704850"/>
          </a:xfrm>
          <a:custGeom>
            <a:avLst/>
            <a:gdLst/>
            <a:ahLst/>
            <a:cxnLst/>
            <a:rect l="l" t="t" r="r" b="b"/>
            <a:pathLst>
              <a:path w="2162175" h="704850">
                <a:moveTo>
                  <a:pt x="2044700" y="0"/>
                </a:moveTo>
                <a:lnTo>
                  <a:pt x="117475" y="0"/>
                </a:lnTo>
                <a:lnTo>
                  <a:pt x="71741" y="9229"/>
                </a:lnTo>
                <a:lnTo>
                  <a:pt x="34401" y="34401"/>
                </a:lnTo>
                <a:lnTo>
                  <a:pt x="9229" y="71741"/>
                </a:lnTo>
                <a:lnTo>
                  <a:pt x="0" y="117475"/>
                </a:lnTo>
                <a:lnTo>
                  <a:pt x="0" y="587375"/>
                </a:lnTo>
                <a:lnTo>
                  <a:pt x="9229" y="633108"/>
                </a:lnTo>
                <a:lnTo>
                  <a:pt x="34401" y="670448"/>
                </a:lnTo>
                <a:lnTo>
                  <a:pt x="71741" y="695620"/>
                </a:lnTo>
                <a:lnTo>
                  <a:pt x="117475" y="704850"/>
                </a:lnTo>
                <a:lnTo>
                  <a:pt x="2044700" y="704850"/>
                </a:lnTo>
                <a:lnTo>
                  <a:pt x="2090433" y="695620"/>
                </a:lnTo>
                <a:lnTo>
                  <a:pt x="2127773" y="670448"/>
                </a:lnTo>
                <a:lnTo>
                  <a:pt x="2152945" y="633108"/>
                </a:lnTo>
                <a:lnTo>
                  <a:pt x="2162175" y="587375"/>
                </a:lnTo>
                <a:lnTo>
                  <a:pt x="2162175" y="117475"/>
                </a:lnTo>
                <a:lnTo>
                  <a:pt x="2152945" y="71741"/>
                </a:lnTo>
                <a:lnTo>
                  <a:pt x="2127773" y="34401"/>
                </a:lnTo>
                <a:lnTo>
                  <a:pt x="2090433" y="9229"/>
                </a:lnTo>
                <a:lnTo>
                  <a:pt x="2044700" y="0"/>
                </a:lnTo>
                <a:close/>
              </a:path>
            </a:pathLst>
          </a:custGeom>
          <a:solidFill>
            <a:srgbClr val="FFFFFF"/>
          </a:solidFill>
        </p:spPr>
        <p:txBody>
          <a:bodyPr wrap="square" lIns="0" tIns="0" rIns="0" bIns="0" rtlCol="0"/>
          <a:lstStyle/>
          <a:p/>
        </p:txBody>
      </p:sp>
      <p:pic>
        <p:nvPicPr>
          <p:cNvPr id="36" name="KeyPoint logo" descr="KeyPoint Technologies logo"/>
          <p:cNvPicPr/>
          <p:nvPr/>
        </p:nvPicPr>
        <p:blipFill>
          <a:blip r:embed="rIdKpLogo" cstate="print"/>
          <a:stretch>
            <a:fillRect/>
          </a:stretch>
        </p:blipFill>
        <p:spPr>
          <a:xfrm>
            <a:off x="10134600" y="209550"/>
            <a:ext cx="1828800" cy="5524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221"/>
          <p:cNvSpPr txBox="1"/>
          <p:nvPr/>
        </p:nvSpPr>
        <p:spPr>
          <a:xfrm>
            <a:off x="548640" y="274320"/>
            <a:ext cx="10972800" cy="256032"/>
          </a:xfrm>
          <a:prstGeom prst="rect">
            <a:avLst/>
          </a:prstGeom>
          <a:noFill/>
          <a:ln/>
        </p:spPr>
        <p:txBody>
          <a:bodyPr wrap="square" lIns="0" tIns="0" rIns="0" bIns="0" rtlCol="0" anchor="ctr"/>
          <a:lstStyle/>
          <a:p>
            <a:pPr indent="0" marL="0">
              <a:buNone/>
            </a:pPr>
            <a:r>
              <a:rPr lang="en-US" sz="1100" b="1" spc="200" kern="0" dirty="0">
                <a:solidFill>
                  <a:srgbClr val="2E5FAE"/>
                </a:solidFill>
              </a:rPr>
              <a:t>03 · METHODOLOGY</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rgbClr val="0B318F"/>
                </a:solidFill>
              </a:rPr>
              <a:t>Methodology: five delivery phases</a:t>
            </a:r>
            <a:endParaRPr lang="en-US" sz="3200" dirty="0"/>
          </a:p>
        </p:txBody>
      </p:sp>
      <p:sp>
        <p:nvSpPr>
          <p:cNvPr id="5" name="phase-222"/>
          <p:cNvSpPr/>
          <p:nvPr/>
        </p:nvSpPr>
        <p:spPr>
          <a:xfrm>
            <a:off x="548640" y="1554480"/>
            <a:ext cx="2103120" cy="822960"/>
          </a:xfrm>
          <a:prstGeom prst="homePlate">
            <a:avLst/>
          </a:prstGeom>
          <a:solidFill>
            <a:srgbClr val="2E5FAE"/>
          </a:solidFill>
          <a:ln/>
        </p:spPr>
      </p:sp>
      <p:sp>
        <p:nvSpPr>
          <p:cNvPr id="6" name="text-223"/>
          <p:cNvSpPr txBox="1"/>
          <p:nvPr/>
        </p:nvSpPr>
        <p:spPr>
          <a:xfrm>
            <a:off x="685800" y="1554480"/>
            <a:ext cx="1371600" cy="822960"/>
          </a:xfrm>
          <a:prstGeom prst="rect">
            <a:avLst/>
          </a:prstGeom>
          <a:noFill/>
          <a:ln/>
        </p:spPr>
        <p:txBody>
          <a:bodyPr wrap="square" lIns="0" tIns="0" rIns="0" bIns="0" rtlCol="0" anchor="ctr"/>
          <a:lstStyle/>
          <a:p>
            <a:pPr indent="0" marL="0">
              <a:buNone/>
            </a:pPr>
            <a:r>
              <a:rPr lang="en-US" sz="1500" b="1" dirty="0">
                <a:solidFill>
                  <a:srgbClr val="FFFFFF"/>
                </a:solidFill>
              </a:rPr>
              <a:t>Discover</a:t>
            </a:r>
            <a:endParaRPr lang="en-US" sz="1500" dirty="0"/>
          </a:p>
        </p:txBody>
      </p:sp>
      <p:sp>
        <p:nvSpPr>
          <p:cNvPr id="7" name="text-224"/>
          <p:cNvSpPr txBox="1"/>
          <p:nvPr/>
        </p:nvSpPr>
        <p:spPr>
          <a:xfrm>
            <a:off x="640080" y="2560320"/>
            <a:ext cx="1920240" cy="320040"/>
          </a:xfrm>
          <a:prstGeom prst="rect">
            <a:avLst/>
          </a:prstGeom>
          <a:noFill/>
          <a:ln/>
        </p:spPr>
        <p:txBody>
          <a:bodyPr wrap="square" lIns="0" tIns="0" rIns="0" bIns="0" rtlCol="0" anchor="t"/>
          <a:lstStyle/>
          <a:p>
            <a:pPr indent="0" marL="0">
              <a:buNone/>
            </a:pPr>
            <a:r>
              <a:rPr lang="en-US" sz="1300" b="1" dirty="0">
                <a:solidFill>
                  <a:srgbClr val="2E5FAE"/>
                </a:solidFill>
              </a:rPr>
              <a:t>T to T+15</a:t>
            </a:r>
            <a:endParaRPr lang="en-US" sz="1300" dirty="0"/>
          </a:p>
        </p:txBody>
      </p:sp>
      <p:sp>
        <p:nvSpPr>
          <p:cNvPr id="8" name="text-225"/>
          <p:cNvSpPr txBox="1"/>
          <p:nvPr/>
        </p:nvSpPr>
        <p:spPr>
          <a:xfrm>
            <a:off x="640080" y="2971800"/>
            <a:ext cx="1920240" cy="20116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A1F2B"/>
                </a:solidFill>
              </a:rPr>
              <a:t>Workshops at HQ and districts</a:t>
            </a:r>
            <a:endParaRPr lang="en-US" sz="1400" dirty="0"/>
          </a:p>
          <a:p>
            <a:pPr marL="177800" indent="-177800">
              <a:spcAft>
                <a:spcPts val="500"/>
              </a:spcAft>
              <a:buSzPct val="100000"/>
              <a:buChar char="•"/>
            </a:pPr>
            <a:r>
              <a:rPr lang="en-US" sz="1400" dirty="0">
                <a:solidFill>
                  <a:srgbClr val="1A1F2B"/>
                </a:solidFill>
              </a:rPr>
              <a:t>Inventory of lease files and systems</a:t>
            </a:r>
            <a:endParaRPr lang="en-US" sz="1400" dirty="0"/>
          </a:p>
          <a:p>
            <a:pPr marL="177800" indent="-177800">
              <a:spcAft>
                <a:spcPts val="500"/>
              </a:spcAft>
              <a:buSzPct val="100000"/>
              <a:buChar char="•"/>
            </a:pPr>
            <a:r>
              <a:rPr lang="en-US" sz="1400" dirty="0">
                <a:solidFill>
                  <a:srgbClr val="1A1F2B"/>
                </a:solidFill>
              </a:rPr>
              <a:t>SRS with traceability matrix</a:t>
            </a:r>
            <a:endParaRPr lang="en-US" sz="1400" dirty="0"/>
          </a:p>
        </p:txBody>
      </p:sp>
      <p:sp>
        <p:nvSpPr>
          <p:cNvPr id="9" name="phase-226"/>
          <p:cNvSpPr/>
          <p:nvPr/>
        </p:nvSpPr>
        <p:spPr>
          <a:xfrm>
            <a:off x="2798064" y="1554480"/>
            <a:ext cx="2103120" cy="822960"/>
          </a:xfrm>
          <a:prstGeom prst="chevron">
            <a:avLst/>
          </a:prstGeom>
          <a:solidFill>
            <a:srgbClr val="2E5FAE"/>
          </a:solidFill>
          <a:ln/>
        </p:spPr>
      </p:sp>
      <p:sp>
        <p:nvSpPr>
          <p:cNvPr id="10" name="text-227"/>
          <p:cNvSpPr txBox="1"/>
          <p:nvPr/>
        </p:nvSpPr>
        <p:spPr>
          <a:xfrm>
            <a:off x="3255264" y="1554480"/>
            <a:ext cx="1371600" cy="822960"/>
          </a:xfrm>
          <a:prstGeom prst="rect">
            <a:avLst/>
          </a:prstGeom>
          <a:noFill/>
          <a:ln/>
        </p:spPr>
        <p:txBody>
          <a:bodyPr wrap="square" lIns="0" tIns="0" rIns="0" bIns="0" rtlCol="0" anchor="ctr"/>
          <a:lstStyle/>
          <a:p>
            <a:pPr indent="0" marL="0">
              <a:buNone/>
            </a:pPr>
            <a:r>
              <a:rPr lang="en-US" sz="1500" b="1" dirty="0">
                <a:solidFill>
                  <a:srgbClr val="FFFFFF"/>
                </a:solidFill>
              </a:rPr>
              <a:t>Data readiness</a:t>
            </a:r>
            <a:endParaRPr lang="en-US" sz="1500" dirty="0"/>
          </a:p>
        </p:txBody>
      </p:sp>
      <p:sp>
        <p:nvSpPr>
          <p:cNvPr id="11" name="text-228"/>
          <p:cNvSpPr txBox="1"/>
          <p:nvPr/>
        </p:nvSpPr>
        <p:spPr>
          <a:xfrm>
            <a:off x="2889504" y="2560320"/>
            <a:ext cx="1920240" cy="320040"/>
          </a:xfrm>
          <a:prstGeom prst="rect">
            <a:avLst/>
          </a:prstGeom>
          <a:noFill/>
          <a:ln/>
        </p:spPr>
        <p:txBody>
          <a:bodyPr wrap="square" lIns="0" tIns="0" rIns="0" bIns="0" rtlCol="0" anchor="t"/>
          <a:lstStyle/>
          <a:p>
            <a:pPr indent="0" marL="0">
              <a:buNone/>
            </a:pPr>
            <a:r>
              <a:rPr lang="en-US" sz="1300" b="1" dirty="0">
                <a:solidFill>
                  <a:srgbClr val="2E5FAE"/>
                </a:solidFill>
              </a:rPr>
              <a:t>T+10 to T+70</a:t>
            </a:r>
            <a:endParaRPr lang="en-US" sz="1300" dirty="0"/>
          </a:p>
        </p:txBody>
      </p:sp>
      <p:sp>
        <p:nvSpPr>
          <p:cNvPr id="12" name="text-229"/>
          <p:cNvSpPr txBox="1"/>
          <p:nvPr/>
        </p:nvSpPr>
        <p:spPr>
          <a:xfrm>
            <a:off x="2889504" y="2971800"/>
            <a:ext cx="1920240" cy="20116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A1F2B"/>
                </a:solidFill>
              </a:rPr>
              <a:t>Digitise lease boundaries</a:t>
            </a:r>
            <a:endParaRPr lang="en-US" sz="1400" dirty="0"/>
          </a:p>
          <a:p>
            <a:pPr marL="177800" indent="-177800">
              <a:spcAft>
                <a:spcPts val="500"/>
              </a:spcAft>
              <a:buSzPct val="100000"/>
              <a:buChar char="•"/>
            </a:pPr>
            <a:r>
              <a:rPr lang="en-US" sz="1400" dirty="0">
                <a:solidFill>
                  <a:srgbClr val="1A1F2B"/>
                </a:solidFill>
              </a:rPr>
              <a:t>Validate DGPS and ETS data</a:t>
            </a:r>
            <a:endParaRPr lang="en-US" sz="1400" dirty="0"/>
          </a:p>
          <a:p>
            <a:pPr marL="177800" indent="-177800">
              <a:spcAft>
                <a:spcPts val="500"/>
              </a:spcAft>
              <a:buSzPct val="100000"/>
              <a:buChar char="•"/>
            </a:pPr>
            <a:r>
              <a:rPr lang="en-US" sz="1400" dirty="0">
                <a:solidFill>
                  <a:srgbClr val="1A1F2B"/>
                </a:solidFill>
              </a:rPr>
              <a:t>Load reference layers</a:t>
            </a:r>
            <a:endParaRPr lang="en-US" sz="1400" dirty="0"/>
          </a:p>
        </p:txBody>
      </p:sp>
      <p:sp>
        <p:nvSpPr>
          <p:cNvPr id="13" name="phase-230"/>
          <p:cNvSpPr/>
          <p:nvPr/>
        </p:nvSpPr>
        <p:spPr>
          <a:xfrm>
            <a:off x="5047488" y="1554480"/>
            <a:ext cx="2103120" cy="822960"/>
          </a:xfrm>
          <a:prstGeom prst="chevron">
            <a:avLst/>
          </a:prstGeom>
          <a:solidFill>
            <a:srgbClr val="2E5FAE"/>
          </a:solidFill>
          <a:ln/>
        </p:spPr>
      </p:sp>
      <p:sp>
        <p:nvSpPr>
          <p:cNvPr id="14" name="text-231"/>
          <p:cNvSpPr txBox="1"/>
          <p:nvPr/>
        </p:nvSpPr>
        <p:spPr>
          <a:xfrm>
            <a:off x="5504688" y="1554480"/>
            <a:ext cx="1371600" cy="822960"/>
          </a:xfrm>
          <a:prstGeom prst="rect">
            <a:avLst/>
          </a:prstGeom>
          <a:noFill/>
          <a:ln/>
        </p:spPr>
        <p:txBody>
          <a:bodyPr wrap="square" lIns="0" tIns="0" rIns="0" bIns="0" rtlCol="0" anchor="ctr"/>
          <a:lstStyle/>
          <a:p>
            <a:pPr indent="0" marL="0">
              <a:buNone/>
            </a:pPr>
            <a:r>
              <a:rPr lang="en-US" sz="1500" b="1" dirty="0">
                <a:solidFill>
                  <a:srgbClr val="FFFFFF"/>
                </a:solidFill>
              </a:rPr>
              <a:t>Build &amp; integrate</a:t>
            </a:r>
            <a:endParaRPr lang="en-US" sz="1500" dirty="0"/>
          </a:p>
        </p:txBody>
      </p:sp>
      <p:sp>
        <p:nvSpPr>
          <p:cNvPr id="15" name="text-232"/>
          <p:cNvSpPr txBox="1"/>
          <p:nvPr/>
        </p:nvSpPr>
        <p:spPr>
          <a:xfrm>
            <a:off x="5138928" y="2560320"/>
            <a:ext cx="1920240" cy="320040"/>
          </a:xfrm>
          <a:prstGeom prst="rect">
            <a:avLst/>
          </a:prstGeom>
          <a:noFill/>
          <a:ln/>
        </p:spPr>
        <p:txBody>
          <a:bodyPr wrap="square" lIns="0" tIns="0" rIns="0" bIns="0" rtlCol="0" anchor="t"/>
          <a:lstStyle/>
          <a:p>
            <a:pPr indent="0" marL="0">
              <a:buNone/>
            </a:pPr>
            <a:r>
              <a:rPr lang="en-US" sz="1300" b="1" dirty="0">
                <a:solidFill>
                  <a:srgbClr val="2E5FAE"/>
                </a:solidFill>
              </a:rPr>
              <a:t>T+15 to T+80</a:t>
            </a:r>
            <a:endParaRPr lang="en-US" sz="1300" dirty="0"/>
          </a:p>
        </p:txBody>
      </p:sp>
      <p:sp>
        <p:nvSpPr>
          <p:cNvPr id="16" name="text-233"/>
          <p:cNvSpPr txBox="1"/>
          <p:nvPr/>
        </p:nvSpPr>
        <p:spPr>
          <a:xfrm>
            <a:off x="5138928" y="2971800"/>
            <a:ext cx="1920240" cy="20116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A1F2B"/>
                </a:solidFill>
              </a:rPr>
              <a:t>Five two-week sprints</a:t>
            </a:r>
            <a:endParaRPr lang="en-US" sz="1400" dirty="0"/>
          </a:p>
          <a:p>
            <a:pPr marL="177800" indent="-177800">
              <a:spcAft>
                <a:spcPts val="500"/>
              </a:spcAft>
              <a:buSzPct val="100000"/>
              <a:buChar char="•"/>
            </a:pPr>
            <a:r>
              <a:rPr lang="en-US" sz="1400" dirty="0">
                <a:solidFill>
                  <a:srgbClr val="1A1F2B"/>
                </a:solidFill>
              </a:rPr>
              <a:t>OGC services from GeoServer</a:t>
            </a:r>
            <a:endParaRPr lang="en-US" sz="1400" dirty="0"/>
          </a:p>
          <a:p>
            <a:pPr marL="177800" indent="-177800">
              <a:spcAft>
                <a:spcPts val="500"/>
              </a:spcAft>
              <a:buSzPct val="100000"/>
              <a:buChar char="•"/>
            </a:pPr>
            <a:r>
              <a:rPr lang="en-US" sz="1400" dirty="0">
                <a:solidFill>
                  <a:srgbClr val="1A1F2B"/>
                </a:solidFill>
              </a:rPr>
              <a:t>Payment, SMS, imagery APIs</a:t>
            </a:r>
            <a:endParaRPr lang="en-US" sz="1400" dirty="0"/>
          </a:p>
        </p:txBody>
      </p:sp>
      <p:sp>
        <p:nvSpPr>
          <p:cNvPr id="17" name="phase-234"/>
          <p:cNvSpPr/>
          <p:nvPr/>
        </p:nvSpPr>
        <p:spPr>
          <a:xfrm>
            <a:off x="7296912" y="1554480"/>
            <a:ext cx="2103120" cy="822960"/>
          </a:xfrm>
          <a:prstGeom prst="chevron">
            <a:avLst/>
          </a:prstGeom>
          <a:solidFill>
            <a:srgbClr val="2E5FAE"/>
          </a:solidFill>
          <a:ln/>
        </p:spPr>
      </p:sp>
      <p:sp>
        <p:nvSpPr>
          <p:cNvPr id="18" name="text-235"/>
          <p:cNvSpPr txBox="1"/>
          <p:nvPr/>
        </p:nvSpPr>
        <p:spPr>
          <a:xfrm>
            <a:off x="7754112" y="1554480"/>
            <a:ext cx="1371600" cy="822960"/>
          </a:xfrm>
          <a:prstGeom prst="rect">
            <a:avLst/>
          </a:prstGeom>
          <a:noFill/>
          <a:ln/>
        </p:spPr>
        <p:txBody>
          <a:bodyPr wrap="square" lIns="0" tIns="0" rIns="0" bIns="0" rtlCol="0" anchor="ctr"/>
          <a:lstStyle/>
          <a:p>
            <a:pPr indent="0" marL="0">
              <a:buNone/>
            </a:pPr>
            <a:r>
              <a:rPr lang="en-US" sz="1500" b="1" dirty="0">
                <a:solidFill>
                  <a:srgbClr val="FFFFFF"/>
                </a:solidFill>
              </a:rPr>
              <a:t>Assure</a:t>
            </a:r>
            <a:endParaRPr lang="en-US" sz="1500" dirty="0"/>
          </a:p>
        </p:txBody>
      </p:sp>
      <p:sp>
        <p:nvSpPr>
          <p:cNvPr id="19" name="text-236"/>
          <p:cNvSpPr txBox="1"/>
          <p:nvPr/>
        </p:nvSpPr>
        <p:spPr>
          <a:xfrm>
            <a:off x="7388352" y="2560320"/>
            <a:ext cx="1920240" cy="320040"/>
          </a:xfrm>
          <a:prstGeom prst="rect">
            <a:avLst/>
          </a:prstGeom>
          <a:noFill/>
          <a:ln/>
        </p:spPr>
        <p:txBody>
          <a:bodyPr wrap="square" lIns="0" tIns="0" rIns="0" bIns="0" rtlCol="0" anchor="t"/>
          <a:lstStyle/>
          <a:p>
            <a:pPr indent="0" marL="0">
              <a:buNone/>
            </a:pPr>
            <a:r>
              <a:rPr lang="en-US" sz="1300" b="1" dirty="0">
                <a:solidFill>
                  <a:srgbClr val="2E5FAE"/>
                </a:solidFill>
              </a:rPr>
              <a:t>T+60 to T+90</a:t>
            </a:r>
            <a:endParaRPr lang="en-US" sz="1300" dirty="0"/>
          </a:p>
        </p:txBody>
      </p:sp>
      <p:sp>
        <p:nvSpPr>
          <p:cNvPr id="20" name="text-237"/>
          <p:cNvSpPr txBox="1"/>
          <p:nvPr/>
        </p:nvSpPr>
        <p:spPr>
          <a:xfrm>
            <a:off x="7388352" y="2971800"/>
            <a:ext cx="1920240" cy="20116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A1F2B"/>
                </a:solidFill>
              </a:rPr>
              <a:t>SIT, load and security tests</a:t>
            </a:r>
            <a:endParaRPr lang="en-US" sz="1400" dirty="0"/>
          </a:p>
          <a:p>
            <a:pPr marL="177800" indent="-177800">
              <a:spcAft>
                <a:spcPts val="500"/>
              </a:spcAft>
              <a:buSzPct val="100000"/>
              <a:buChar char="•"/>
            </a:pPr>
            <a:r>
              <a:rPr lang="en-US" sz="1400" dirty="0">
                <a:solidFill>
                  <a:srgbClr val="1A1F2B"/>
                </a:solidFill>
              </a:rPr>
              <a:t>UAT with district officers</a:t>
            </a:r>
            <a:endParaRPr lang="en-US" sz="1400" dirty="0"/>
          </a:p>
          <a:p>
            <a:pPr marL="177800" indent="-177800">
              <a:spcAft>
                <a:spcPts val="500"/>
              </a:spcAft>
              <a:buSzPct val="100000"/>
              <a:buChar char="•"/>
            </a:pPr>
            <a:r>
              <a:rPr lang="en-US" sz="1400" dirty="0">
                <a:solidFill>
                  <a:srgbClr val="1A1F2B"/>
                </a:solidFill>
              </a:rPr>
              <a:t>Training and sign-off</a:t>
            </a:r>
            <a:endParaRPr lang="en-US" sz="1400" dirty="0"/>
          </a:p>
        </p:txBody>
      </p:sp>
      <p:sp>
        <p:nvSpPr>
          <p:cNvPr id="21" name="phase-238"/>
          <p:cNvSpPr/>
          <p:nvPr/>
        </p:nvSpPr>
        <p:spPr>
          <a:xfrm>
            <a:off x="9546336" y="1554480"/>
            <a:ext cx="2103120" cy="822960"/>
          </a:xfrm>
          <a:prstGeom prst="chevron">
            <a:avLst/>
          </a:prstGeom>
          <a:solidFill>
            <a:srgbClr val="FF6100"/>
          </a:solidFill>
          <a:ln/>
        </p:spPr>
      </p:sp>
      <p:sp>
        <p:nvSpPr>
          <p:cNvPr id="22" name="text-239"/>
          <p:cNvSpPr txBox="1"/>
          <p:nvPr/>
        </p:nvSpPr>
        <p:spPr>
          <a:xfrm>
            <a:off x="10003536" y="1554480"/>
            <a:ext cx="1371600" cy="822960"/>
          </a:xfrm>
          <a:prstGeom prst="rect">
            <a:avLst/>
          </a:prstGeom>
          <a:noFill/>
          <a:ln/>
        </p:spPr>
        <p:txBody>
          <a:bodyPr wrap="square" lIns="0" tIns="0" rIns="0" bIns="0" rtlCol="0" anchor="ctr"/>
          <a:lstStyle/>
          <a:p>
            <a:pPr indent="0" marL="0">
              <a:buNone/>
            </a:pPr>
            <a:r>
              <a:rPr lang="en-US" sz="1500" b="1" dirty="0">
                <a:solidFill>
                  <a:srgbClr val="FFFFFF"/>
                </a:solidFill>
              </a:rPr>
              <a:t>Go-Live &amp; hypercare</a:t>
            </a:r>
            <a:endParaRPr lang="en-US" sz="1500" dirty="0"/>
          </a:p>
        </p:txBody>
      </p:sp>
      <p:sp>
        <p:nvSpPr>
          <p:cNvPr id="23" name="text-240"/>
          <p:cNvSpPr txBox="1"/>
          <p:nvPr/>
        </p:nvSpPr>
        <p:spPr>
          <a:xfrm>
            <a:off x="9637776" y="2560320"/>
            <a:ext cx="1920240" cy="320040"/>
          </a:xfrm>
          <a:prstGeom prst="rect">
            <a:avLst/>
          </a:prstGeom>
          <a:noFill/>
          <a:ln/>
        </p:spPr>
        <p:txBody>
          <a:bodyPr wrap="square" lIns="0" tIns="0" rIns="0" bIns="0" rtlCol="0" anchor="t"/>
          <a:lstStyle/>
          <a:p>
            <a:pPr indent="0" marL="0">
              <a:buNone/>
            </a:pPr>
            <a:r>
              <a:rPr lang="en-US" sz="1300" b="1" dirty="0">
                <a:solidFill>
                  <a:srgbClr val="2E5FAE"/>
                </a:solidFill>
              </a:rPr>
              <a:t>T+90 onward</a:t>
            </a:r>
            <a:endParaRPr lang="en-US" sz="1300" dirty="0"/>
          </a:p>
        </p:txBody>
      </p:sp>
      <p:sp>
        <p:nvSpPr>
          <p:cNvPr id="24" name="text-241"/>
          <p:cNvSpPr txBox="1"/>
          <p:nvPr/>
        </p:nvSpPr>
        <p:spPr>
          <a:xfrm>
            <a:off x="9637776" y="2971800"/>
            <a:ext cx="1920240" cy="20116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A1F2B"/>
                </a:solidFill>
              </a:rPr>
              <a:t>Production cut-over</a:t>
            </a:r>
            <a:endParaRPr lang="en-US" sz="1400" dirty="0"/>
          </a:p>
          <a:p>
            <a:pPr marL="177800" indent="-177800">
              <a:spcAft>
                <a:spcPts val="500"/>
              </a:spcAft>
              <a:buSzPct val="100000"/>
              <a:buChar char="•"/>
            </a:pPr>
            <a:r>
              <a:rPr lang="en-US" sz="1400" dirty="0">
                <a:solidFill>
                  <a:srgbClr val="1A1F2B"/>
                </a:solidFill>
              </a:rPr>
              <a:t>60 days of hypercare</a:t>
            </a:r>
            <a:endParaRPr lang="en-US" sz="1400" dirty="0"/>
          </a:p>
          <a:p>
            <a:pPr marL="177800" indent="-177800">
              <a:spcAft>
                <a:spcPts val="500"/>
              </a:spcAft>
              <a:buSzPct val="100000"/>
              <a:buChar char="•"/>
            </a:pPr>
            <a:r>
              <a:rPr lang="en-US" sz="1400" dirty="0">
                <a:solidFill>
                  <a:srgbClr val="1A1F2B"/>
                </a:solidFill>
              </a:rPr>
              <a:t>Hand over to O&amp;M</a:t>
            </a:r>
            <a:endParaRPr lang="en-US" sz="1400" dirty="0"/>
          </a:p>
        </p:txBody>
      </p:sp>
      <p:sp>
        <p:nvSpPr>
          <p:cNvPr id="25" name="card-242"/>
          <p:cNvSpPr/>
          <p:nvPr/>
        </p:nvSpPr>
        <p:spPr>
          <a:xfrm>
            <a:off x="548640" y="5166360"/>
            <a:ext cx="11064240" cy="868680"/>
          </a:xfrm>
          <a:prstGeom prst="roundRect">
            <a:avLst>
              <a:gd name="adj" fmla="val 8421"/>
            </a:avLst>
          </a:prstGeom>
          <a:solidFill>
            <a:srgbClr val="EEF2F9"/>
          </a:solidFill>
          <a:ln/>
        </p:spPr>
      </p:sp>
      <p:sp>
        <p:nvSpPr>
          <p:cNvPr id="26" name="text-243"/>
          <p:cNvSpPr txBox="1"/>
          <p:nvPr/>
        </p:nvSpPr>
        <p:spPr>
          <a:xfrm>
            <a:off x="822960" y="5257800"/>
            <a:ext cx="10515600" cy="685800"/>
          </a:xfrm>
          <a:prstGeom prst="rect">
            <a:avLst/>
          </a:prstGeom>
          <a:noFill/>
          <a:ln/>
        </p:spPr>
        <p:txBody>
          <a:bodyPr wrap="square" lIns="0" tIns="0" rIns="0" bIns="0" rtlCol="0" anchor="ctr"/>
          <a:lstStyle/>
          <a:p>
            <a:pPr indent="0" marL="0">
              <a:buNone/>
            </a:pPr>
            <a:r>
              <a:rPr lang="en-US" sz="1400" b="1" dirty="0">
                <a:solidFill>
                  <a:srgbClr val="2E5FAE"/>
                </a:solidFill>
              </a:rPr>
              <a:t>Working rhythm:  </a:t>
            </a:r>
            <a:pPr indent="0" marL="0">
              <a:buNone/>
            </a:pPr>
            <a:r>
              <a:rPr lang="en-US" sz="1400" dirty="0">
                <a:solidFill>
                  <a:srgbClr val="1A1F2B"/>
                </a:solidFill>
              </a:rPr>
              <a:t>fortnightly sprint demo to the Department  ·  weekly status report  ·  monthly steering review  ·  every change through the RFP change-request process</a:t>
            </a:r>
            <a:endParaRPr lang="en-US" sz="1400" dirty="0"/>
          </a:p>
        </p:txBody>
      </p:sp>
      <p:sp>
        <p:nvSpPr>
          <p:cNvPr id="29" name="KeyPoint band blue"/>
          <p:cNvSpPr/>
          <p:nvPr/>
        </p:nvSpPr>
        <p:spPr>
          <a:xfrm>
            <a:off x="0" y="6611000"/>
            <a:ext cx="8298000" cy="247000"/>
          </a:xfrm>
          <a:prstGeom prst="rect">
            <a:avLst/>
          </a:prstGeom>
          <a:solidFill>
            <a:srgbClr val="3767B1"/>
          </a:solidFill>
          <a:ln>
            <a:noFill/>
          </a:ln>
        </p:spPr>
      </p:sp>
      <p:sp>
        <p:nvSpPr>
          <p:cNvPr id="30" name="KeyPoint band orange"/>
          <p:cNvSpPr/>
          <p:nvPr/>
        </p:nvSpPr>
        <p:spPr>
          <a:xfrm>
            <a:off x="8298000" y="6611000"/>
            <a:ext cx="3894000" cy="247000"/>
          </a:xfrm>
          <a:prstGeom prst="rect">
            <a:avLst/>
          </a:prstGeom>
          <a:solidFill>
            <a:srgbClr val="FF6100"/>
          </a:solidFill>
          <a:ln>
            <a:noFill/>
          </a:ln>
        </p:spPr>
      </p:sp>
      <p:sp>
        <p:nvSpPr>
          <p:cNvPr id="27" name="KeyPoint logo box"/>
          <p:cNvSpPr/>
          <p:nvPr/>
        </p:nvSpPr>
        <p:spPr>
          <a:xfrm>
            <a:off x="9972675" y="142875"/>
            <a:ext cx="2162175" cy="704850"/>
          </a:xfrm>
          <a:custGeom>
            <a:avLst/>
            <a:gdLst/>
            <a:ahLst/>
            <a:cxnLst/>
            <a:rect l="l" t="t" r="r" b="b"/>
            <a:pathLst>
              <a:path w="2162175" h="704850">
                <a:moveTo>
                  <a:pt x="2044700" y="0"/>
                </a:moveTo>
                <a:lnTo>
                  <a:pt x="117475" y="0"/>
                </a:lnTo>
                <a:lnTo>
                  <a:pt x="71741" y="9229"/>
                </a:lnTo>
                <a:lnTo>
                  <a:pt x="34401" y="34401"/>
                </a:lnTo>
                <a:lnTo>
                  <a:pt x="9229" y="71741"/>
                </a:lnTo>
                <a:lnTo>
                  <a:pt x="0" y="117475"/>
                </a:lnTo>
                <a:lnTo>
                  <a:pt x="0" y="587375"/>
                </a:lnTo>
                <a:lnTo>
                  <a:pt x="9229" y="633108"/>
                </a:lnTo>
                <a:lnTo>
                  <a:pt x="34401" y="670448"/>
                </a:lnTo>
                <a:lnTo>
                  <a:pt x="71741" y="695620"/>
                </a:lnTo>
                <a:lnTo>
                  <a:pt x="117475" y="704850"/>
                </a:lnTo>
                <a:lnTo>
                  <a:pt x="2044700" y="704850"/>
                </a:lnTo>
                <a:lnTo>
                  <a:pt x="2090433" y="695620"/>
                </a:lnTo>
                <a:lnTo>
                  <a:pt x="2127773" y="670448"/>
                </a:lnTo>
                <a:lnTo>
                  <a:pt x="2152945" y="633108"/>
                </a:lnTo>
                <a:lnTo>
                  <a:pt x="2162175" y="587375"/>
                </a:lnTo>
                <a:lnTo>
                  <a:pt x="2162175" y="117475"/>
                </a:lnTo>
                <a:lnTo>
                  <a:pt x="2152945" y="71741"/>
                </a:lnTo>
                <a:lnTo>
                  <a:pt x="2127773" y="34401"/>
                </a:lnTo>
                <a:lnTo>
                  <a:pt x="2090433" y="9229"/>
                </a:lnTo>
                <a:lnTo>
                  <a:pt x="2044700" y="0"/>
                </a:lnTo>
                <a:close/>
              </a:path>
            </a:pathLst>
          </a:custGeom>
          <a:solidFill>
            <a:srgbClr val="FFFFFF"/>
          </a:solidFill>
        </p:spPr>
        <p:txBody>
          <a:bodyPr wrap="square" lIns="0" tIns="0" rIns="0" bIns="0" rtlCol="0"/>
          <a:lstStyle/>
          <a:p/>
        </p:txBody>
      </p:sp>
      <p:pic>
        <p:nvPicPr>
          <p:cNvPr id="28" name="KeyPoint logo" descr="KeyPoint Technologies logo"/>
          <p:cNvPicPr/>
          <p:nvPr/>
        </p:nvPicPr>
        <p:blipFill>
          <a:blip r:embed="rIdKpLogo" cstate="print"/>
          <a:stretch>
            <a:fillRect/>
          </a:stretch>
        </p:blipFill>
        <p:spPr>
          <a:xfrm>
            <a:off x="10134600" y="209550"/>
            <a:ext cx="1828800" cy="5524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244"/>
          <p:cNvSpPr txBox="1"/>
          <p:nvPr/>
        </p:nvSpPr>
        <p:spPr>
          <a:xfrm>
            <a:off x="548640" y="274320"/>
            <a:ext cx="10972800" cy="256032"/>
          </a:xfrm>
          <a:prstGeom prst="rect">
            <a:avLst/>
          </a:prstGeom>
          <a:noFill/>
          <a:ln/>
        </p:spPr>
        <p:txBody>
          <a:bodyPr wrap="square" lIns="0" tIns="0" rIns="0" bIns="0" rtlCol="0" anchor="ctr"/>
          <a:lstStyle/>
          <a:p>
            <a:pPr indent="0" marL="0">
              <a:buNone/>
            </a:pPr>
            <a:r>
              <a:rPr lang="en-US" sz="1100" b="1" spc="200" kern="0" dirty="0">
                <a:solidFill>
                  <a:srgbClr val="2E5FAE"/>
                </a:solidFill>
              </a:rPr>
              <a:t>03 · METHODOLOGY</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rgbClr val="0B318F"/>
                </a:solidFill>
              </a:rPr>
              <a:t>Timeline: Go-Live at T+90 days</a:t>
            </a:r>
            <a:endParaRPr lang="en-US" sz="3200" dirty="0"/>
          </a:p>
        </p:txBody>
      </p:sp>
      <p:sp>
        <p:nvSpPr>
          <p:cNvPr id="5" name="text-245"/>
          <p:cNvSpPr txBox="1"/>
          <p:nvPr/>
        </p:nvSpPr>
        <p:spPr>
          <a:xfrm>
            <a:off x="3566160" y="1417320"/>
            <a:ext cx="731520" cy="274320"/>
          </a:xfrm>
          <a:prstGeom prst="rect">
            <a:avLst/>
          </a:prstGeom>
          <a:noFill/>
          <a:ln/>
        </p:spPr>
        <p:txBody>
          <a:bodyPr wrap="square" lIns="0" tIns="0" rIns="0" bIns="0" rtlCol="0" anchor="t"/>
          <a:lstStyle/>
          <a:p>
            <a:pPr algn="ctr" indent="0" marL="0">
              <a:buNone/>
            </a:pPr>
            <a:r>
              <a:rPr lang="en-US" sz="1100" dirty="0">
                <a:solidFill>
                  <a:srgbClr val="6B7280"/>
                </a:solidFill>
              </a:rPr>
              <a:t>T</a:t>
            </a:r>
            <a:endParaRPr lang="en-US" sz="1100" dirty="0"/>
          </a:p>
        </p:txBody>
      </p:sp>
      <p:sp>
        <p:nvSpPr>
          <p:cNvPr id="6" name="grid-246"/>
          <p:cNvSpPr/>
          <p:nvPr/>
        </p:nvSpPr>
        <p:spPr>
          <a:xfrm>
            <a:off x="3931920" y="1737360"/>
            <a:ext cx="0" cy="3611880"/>
          </a:xfrm>
          <a:prstGeom prst="line">
            <a:avLst/>
          </a:prstGeom>
          <a:noFill/>
          <a:ln w="9525">
            <a:solidFill>
              <a:srgbClr val="E6EBF4"/>
            </a:solidFill>
            <a:prstDash val="solid"/>
          </a:ln>
        </p:spPr>
      </p:sp>
      <p:sp>
        <p:nvSpPr>
          <p:cNvPr id="7" name="text-247"/>
          <p:cNvSpPr txBox="1"/>
          <p:nvPr/>
        </p:nvSpPr>
        <p:spPr>
          <a:xfrm>
            <a:off x="4334256" y="1417320"/>
            <a:ext cx="731520" cy="274320"/>
          </a:xfrm>
          <a:prstGeom prst="rect">
            <a:avLst/>
          </a:prstGeom>
          <a:noFill/>
          <a:ln/>
        </p:spPr>
        <p:txBody>
          <a:bodyPr wrap="square" lIns="0" tIns="0" rIns="0" bIns="0" rtlCol="0" anchor="t"/>
          <a:lstStyle/>
          <a:p>
            <a:pPr algn="ctr" indent="0" marL="0">
              <a:buNone/>
            </a:pPr>
            <a:r>
              <a:rPr lang="en-US" sz="1100" dirty="0">
                <a:solidFill>
                  <a:srgbClr val="6B7280"/>
                </a:solidFill>
              </a:rPr>
              <a:t>T+15</a:t>
            </a:r>
            <a:endParaRPr lang="en-US" sz="1100" dirty="0"/>
          </a:p>
        </p:txBody>
      </p:sp>
      <p:sp>
        <p:nvSpPr>
          <p:cNvPr id="8" name="grid-248"/>
          <p:cNvSpPr/>
          <p:nvPr/>
        </p:nvSpPr>
        <p:spPr>
          <a:xfrm>
            <a:off x="4700016" y="1737360"/>
            <a:ext cx="0" cy="3611880"/>
          </a:xfrm>
          <a:prstGeom prst="line">
            <a:avLst/>
          </a:prstGeom>
          <a:noFill/>
          <a:ln w="9525">
            <a:solidFill>
              <a:srgbClr val="E6EBF4"/>
            </a:solidFill>
            <a:prstDash val="solid"/>
          </a:ln>
        </p:spPr>
      </p:sp>
      <p:sp>
        <p:nvSpPr>
          <p:cNvPr id="9" name="text-249"/>
          <p:cNvSpPr txBox="1"/>
          <p:nvPr/>
        </p:nvSpPr>
        <p:spPr>
          <a:xfrm>
            <a:off x="5102352" y="1417320"/>
            <a:ext cx="731520" cy="274320"/>
          </a:xfrm>
          <a:prstGeom prst="rect">
            <a:avLst/>
          </a:prstGeom>
          <a:noFill/>
          <a:ln/>
        </p:spPr>
        <p:txBody>
          <a:bodyPr wrap="square" lIns="0" tIns="0" rIns="0" bIns="0" rtlCol="0" anchor="t"/>
          <a:lstStyle/>
          <a:p>
            <a:pPr algn="ctr" indent="0" marL="0">
              <a:buNone/>
            </a:pPr>
            <a:r>
              <a:rPr lang="en-US" sz="1100" dirty="0">
                <a:solidFill>
                  <a:srgbClr val="6B7280"/>
                </a:solidFill>
              </a:rPr>
              <a:t>T+30</a:t>
            </a:r>
            <a:endParaRPr lang="en-US" sz="1100" dirty="0"/>
          </a:p>
        </p:txBody>
      </p:sp>
      <p:sp>
        <p:nvSpPr>
          <p:cNvPr id="10" name="grid-250"/>
          <p:cNvSpPr/>
          <p:nvPr/>
        </p:nvSpPr>
        <p:spPr>
          <a:xfrm>
            <a:off x="5468112" y="1737360"/>
            <a:ext cx="0" cy="3611880"/>
          </a:xfrm>
          <a:prstGeom prst="line">
            <a:avLst/>
          </a:prstGeom>
          <a:noFill/>
          <a:ln w="9525">
            <a:solidFill>
              <a:srgbClr val="E6EBF4"/>
            </a:solidFill>
            <a:prstDash val="solid"/>
          </a:ln>
        </p:spPr>
      </p:sp>
      <p:sp>
        <p:nvSpPr>
          <p:cNvPr id="11" name="text-251"/>
          <p:cNvSpPr txBox="1"/>
          <p:nvPr/>
        </p:nvSpPr>
        <p:spPr>
          <a:xfrm>
            <a:off x="5870448" y="1417320"/>
            <a:ext cx="731520" cy="274320"/>
          </a:xfrm>
          <a:prstGeom prst="rect">
            <a:avLst/>
          </a:prstGeom>
          <a:noFill/>
          <a:ln/>
        </p:spPr>
        <p:txBody>
          <a:bodyPr wrap="square" lIns="0" tIns="0" rIns="0" bIns="0" rtlCol="0" anchor="t"/>
          <a:lstStyle/>
          <a:p>
            <a:pPr algn="ctr" indent="0" marL="0">
              <a:buNone/>
            </a:pPr>
            <a:r>
              <a:rPr lang="en-US" sz="1100" dirty="0">
                <a:solidFill>
                  <a:srgbClr val="6B7280"/>
                </a:solidFill>
              </a:rPr>
              <a:t>T+45</a:t>
            </a:r>
            <a:endParaRPr lang="en-US" sz="1100" dirty="0"/>
          </a:p>
        </p:txBody>
      </p:sp>
      <p:sp>
        <p:nvSpPr>
          <p:cNvPr id="12" name="grid-252"/>
          <p:cNvSpPr/>
          <p:nvPr/>
        </p:nvSpPr>
        <p:spPr>
          <a:xfrm>
            <a:off x="6236208" y="1737360"/>
            <a:ext cx="0" cy="3611880"/>
          </a:xfrm>
          <a:prstGeom prst="line">
            <a:avLst/>
          </a:prstGeom>
          <a:noFill/>
          <a:ln w="9525">
            <a:solidFill>
              <a:srgbClr val="E6EBF4"/>
            </a:solidFill>
            <a:prstDash val="solid"/>
          </a:ln>
        </p:spPr>
      </p:sp>
      <p:sp>
        <p:nvSpPr>
          <p:cNvPr id="13" name="text-253"/>
          <p:cNvSpPr txBox="1"/>
          <p:nvPr/>
        </p:nvSpPr>
        <p:spPr>
          <a:xfrm>
            <a:off x="6638544" y="1417320"/>
            <a:ext cx="731520" cy="274320"/>
          </a:xfrm>
          <a:prstGeom prst="rect">
            <a:avLst/>
          </a:prstGeom>
          <a:noFill/>
          <a:ln/>
        </p:spPr>
        <p:txBody>
          <a:bodyPr wrap="square" lIns="0" tIns="0" rIns="0" bIns="0" rtlCol="0" anchor="t"/>
          <a:lstStyle/>
          <a:p>
            <a:pPr algn="ctr" indent="0" marL="0">
              <a:buNone/>
            </a:pPr>
            <a:r>
              <a:rPr lang="en-US" sz="1100" dirty="0">
                <a:solidFill>
                  <a:srgbClr val="6B7280"/>
                </a:solidFill>
              </a:rPr>
              <a:t>T+60</a:t>
            </a:r>
            <a:endParaRPr lang="en-US" sz="1100" dirty="0"/>
          </a:p>
        </p:txBody>
      </p:sp>
      <p:sp>
        <p:nvSpPr>
          <p:cNvPr id="14" name="grid-254"/>
          <p:cNvSpPr/>
          <p:nvPr/>
        </p:nvSpPr>
        <p:spPr>
          <a:xfrm>
            <a:off x="7004304" y="1737360"/>
            <a:ext cx="0" cy="3611880"/>
          </a:xfrm>
          <a:prstGeom prst="line">
            <a:avLst/>
          </a:prstGeom>
          <a:noFill/>
          <a:ln w="9525">
            <a:solidFill>
              <a:srgbClr val="E6EBF4"/>
            </a:solidFill>
            <a:prstDash val="solid"/>
          </a:ln>
        </p:spPr>
      </p:sp>
      <p:sp>
        <p:nvSpPr>
          <p:cNvPr id="15" name="text-255"/>
          <p:cNvSpPr txBox="1"/>
          <p:nvPr/>
        </p:nvSpPr>
        <p:spPr>
          <a:xfrm>
            <a:off x="7406640" y="1417320"/>
            <a:ext cx="731520" cy="274320"/>
          </a:xfrm>
          <a:prstGeom prst="rect">
            <a:avLst/>
          </a:prstGeom>
          <a:noFill/>
          <a:ln/>
        </p:spPr>
        <p:txBody>
          <a:bodyPr wrap="square" lIns="0" tIns="0" rIns="0" bIns="0" rtlCol="0" anchor="t"/>
          <a:lstStyle/>
          <a:p>
            <a:pPr algn="ctr" indent="0" marL="0">
              <a:buNone/>
            </a:pPr>
            <a:r>
              <a:rPr lang="en-US" sz="1100" dirty="0">
                <a:solidFill>
                  <a:srgbClr val="6B7280"/>
                </a:solidFill>
              </a:rPr>
              <a:t>T+75</a:t>
            </a:r>
            <a:endParaRPr lang="en-US" sz="1100" dirty="0"/>
          </a:p>
        </p:txBody>
      </p:sp>
      <p:sp>
        <p:nvSpPr>
          <p:cNvPr id="16" name="grid-256"/>
          <p:cNvSpPr/>
          <p:nvPr/>
        </p:nvSpPr>
        <p:spPr>
          <a:xfrm>
            <a:off x="7772400" y="1737360"/>
            <a:ext cx="0" cy="3611880"/>
          </a:xfrm>
          <a:prstGeom prst="line">
            <a:avLst/>
          </a:prstGeom>
          <a:noFill/>
          <a:ln w="9525">
            <a:solidFill>
              <a:srgbClr val="E6EBF4"/>
            </a:solidFill>
            <a:prstDash val="solid"/>
          </a:ln>
        </p:spPr>
      </p:sp>
      <p:sp>
        <p:nvSpPr>
          <p:cNvPr id="17" name="text-257"/>
          <p:cNvSpPr txBox="1"/>
          <p:nvPr/>
        </p:nvSpPr>
        <p:spPr>
          <a:xfrm>
            <a:off x="8174736" y="1417320"/>
            <a:ext cx="731520" cy="274320"/>
          </a:xfrm>
          <a:prstGeom prst="rect">
            <a:avLst/>
          </a:prstGeom>
          <a:noFill/>
          <a:ln/>
        </p:spPr>
        <p:txBody>
          <a:bodyPr wrap="square" lIns="0" tIns="0" rIns="0" bIns="0" rtlCol="0" anchor="t"/>
          <a:lstStyle/>
          <a:p>
            <a:pPr algn="ctr" indent="0" marL="0">
              <a:buNone/>
            </a:pPr>
            <a:r>
              <a:rPr lang="en-US" sz="1100" dirty="0">
                <a:solidFill>
                  <a:srgbClr val="6B7280"/>
                </a:solidFill>
              </a:rPr>
              <a:t>T+90</a:t>
            </a:r>
            <a:endParaRPr lang="en-US" sz="1100" dirty="0"/>
          </a:p>
        </p:txBody>
      </p:sp>
      <p:sp>
        <p:nvSpPr>
          <p:cNvPr id="18" name="grid-258"/>
          <p:cNvSpPr/>
          <p:nvPr/>
        </p:nvSpPr>
        <p:spPr>
          <a:xfrm>
            <a:off x="8540496" y="1737360"/>
            <a:ext cx="0" cy="3611880"/>
          </a:xfrm>
          <a:prstGeom prst="line">
            <a:avLst/>
          </a:prstGeom>
          <a:noFill/>
          <a:ln w="9525">
            <a:solidFill>
              <a:srgbClr val="E6EBF4"/>
            </a:solidFill>
            <a:prstDash val="solid"/>
          </a:ln>
        </p:spPr>
      </p:sp>
      <p:sp>
        <p:nvSpPr>
          <p:cNvPr id="19" name="text-259"/>
          <p:cNvSpPr txBox="1"/>
          <p:nvPr/>
        </p:nvSpPr>
        <p:spPr>
          <a:xfrm>
            <a:off x="9710928" y="1417320"/>
            <a:ext cx="731520" cy="274320"/>
          </a:xfrm>
          <a:prstGeom prst="rect">
            <a:avLst/>
          </a:prstGeom>
          <a:noFill/>
          <a:ln/>
        </p:spPr>
        <p:txBody>
          <a:bodyPr wrap="square" lIns="0" tIns="0" rIns="0" bIns="0" rtlCol="0" anchor="t"/>
          <a:lstStyle/>
          <a:p>
            <a:pPr algn="ctr" indent="0" marL="0">
              <a:buNone/>
            </a:pPr>
            <a:r>
              <a:rPr lang="en-US" sz="1100" dirty="0">
                <a:solidFill>
                  <a:srgbClr val="6B7280"/>
                </a:solidFill>
              </a:rPr>
              <a:t>T1+30</a:t>
            </a:r>
            <a:endParaRPr lang="en-US" sz="1100" dirty="0"/>
          </a:p>
        </p:txBody>
      </p:sp>
      <p:sp>
        <p:nvSpPr>
          <p:cNvPr id="20" name="grid-260"/>
          <p:cNvSpPr/>
          <p:nvPr/>
        </p:nvSpPr>
        <p:spPr>
          <a:xfrm>
            <a:off x="10076688" y="1737360"/>
            <a:ext cx="0" cy="3611880"/>
          </a:xfrm>
          <a:prstGeom prst="line">
            <a:avLst/>
          </a:prstGeom>
          <a:noFill/>
          <a:ln w="9525">
            <a:solidFill>
              <a:srgbClr val="E6EBF4"/>
            </a:solidFill>
            <a:prstDash val="solid"/>
          </a:ln>
        </p:spPr>
      </p:sp>
      <p:sp>
        <p:nvSpPr>
          <p:cNvPr id="21" name="text-261"/>
          <p:cNvSpPr txBox="1"/>
          <p:nvPr/>
        </p:nvSpPr>
        <p:spPr>
          <a:xfrm>
            <a:off x="11247120" y="1417320"/>
            <a:ext cx="731520" cy="274320"/>
          </a:xfrm>
          <a:prstGeom prst="rect">
            <a:avLst/>
          </a:prstGeom>
          <a:noFill/>
          <a:ln/>
        </p:spPr>
        <p:txBody>
          <a:bodyPr wrap="square" lIns="0" tIns="0" rIns="0" bIns="0" rtlCol="0" anchor="t"/>
          <a:lstStyle/>
          <a:p>
            <a:pPr algn="ctr" indent="0" marL="0">
              <a:buNone/>
            </a:pPr>
            <a:r>
              <a:rPr lang="en-US" sz="1100" dirty="0">
                <a:solidFill>
                  <a:srgbClr val="6B7280"/>
                </a:solidFill>
              </a:rPr>
              <a:t>T1+60</a:t>
            </a:r>
            <a:endParaRPr lang="en-US" sz="1100" dirty="0"/>
          </a:p>
        </p:txBody>
      </p:sp>
      <p:sp>
        <p:nvSpPr>
          <p:cNvPr id="22" name="grid-262"/>
          <p:cNvSpPr/>
          <p:nvPr/>
        </p:nvSpPr>
        <p:spPr>
          <a:xfrm>
            <a:off x="11612880" y="1737360"/>
            <a:ext cx="0" cy="3611880"/>
          </a:xfrm>
          <a:prstGeom prst="line">
            <a:avLst/>
          </a:prstGeom>
          <a:noFill/>
          <a:ln w="9525">
            <a:solidFill>
              <a:srgbClr val="E6EBF4"/>
            </a:solidFill>
            <a:prstDash val="solid"/>
          </a:ln>
        </p:spPr>
      </p:sp>
      <p:sp>
        <p:nvSpPr>
          <p:cNvPr id="23" name="text-263"/>
          <p:cNvSpPr txBox="1"/>
          <p:nvPr/>
        </p:nvSpPr>
        <p:spPr>
          <a:xfrm>
            <a:off x="548640" y="1828800"/>
            <a:ext cx="3291840" cy="329184"/>
          </a:xfrm>
          <a:prstGeom prst="rect">
            <a:avLst/>
          </a:prstGeom>
          <a:noFill/>
          <a:ln/>
        </p:spPr>
        <p:txBody>
          <a:bodyPr wrap="square" lIns="0" tIns="0" rIns="0" bIns="0" rtlCol="0" anchor="ctr"/>
          <a:lstStyle/>
          <a:p>
            <a:pPr indent="0" marL="0">
              <a:buNone/>
            </a:pPr>
            <a:r>
              <a:rPr lang="en-US" sz="1400" dirty="0">
                <a:solidFill>
                  <a:srgbClr val="1A1F2B"/>
                </a:solidFill>
              </a:rPr>
              <a:t>Cloud infrastructure set-up</a:t>
            </a:r>
            <a:endParaRPr lang="en-US" sz="1400" dirty="0"/>
          </a:p>
        </p:txBody>
      </p:sp>
      <p:sp>
        <p:nvSpPr>
          <p:cNvPr id="24" name="bar-264"/>
          <p:cNvSpPr/>
          <p:nvPr/>
        </p:nvSpPr>
        <p:spPr>
          <a:xfrm>
            <a:off x="3931920" y="1874520"/>
            <a:ext cx="256032" cy="237744"/>
          </a:xfrm>
          <a:prstGeom prst="roundRect">
            <a:avLst>
              <a:gd name="adj" fmla="val 19231"/>
            </a:avLst>
          </a:prstGeom>
          <a:solidFill>
            <a:srgbClr val="2E5FAE"/>
          </a:solidFill>
          <a:ln/>
        </p:spPr>
      </p:sp>
      <p:sp>
        <p:nvSpPr>
          <p:cNvPr id="25" name="text-265"/>
          <p:cNvSpPr txBox="1"/>
          <p:nvPr/>
        </p:nvSpPr>
        <p:spPr>
          <a:xfrm>
            <a:off x="548640" y="2258568"/>
            <a:ext cx="3291840" cy="329184"/>
          </a:xfrm>
          <a:prstGeom prst="rect">
            <a:avLst/>
          </a:prstGeom>
          <a:noFill/>
          <a:ln/>
        </p:spPr>
        <p:txBody>
          <a:bodyPr wrap="square" lIns="0" tIns="0" rIns="0" bIns="0" rtlCol="0" anchor="ctr"/>
          <a:lstStyle/>
          <a:p>
            <a:pPr indent="0" marL="0">
              <a:buNone/>
            </a:pPr>
            <a:r>
              <a:rPr lang="en-US" sz="1400" dirty="0">
                <a:solidFill>
                  <a:srgbClr val="1A1F2B"/>
                </a:solidFill>
              </a:rPr>
              <a:t>Requirement study and SRS</a:t>
            </a:r>
            <a:endParaRPr lang="en-US" sz="1400" dirty="0"/>
          </a:p>
        </p:txBody>
      </p:sp>
      <p:sp>
        <p:nvSpPr>
          <p:cNvPr id="26" name="bar-266"/>
          <p:cNvSpPr/>
          <p:nvPr/>
        </p:nvSpPr>
        <p:spPr>
          <a:xfrm>
            <a:off x="3931920" y="2304288"/>
            <a:ext cx="768096" cy="237744"/>
          </a:xfrm>
          <a:prstGeom prst="roundRect">
            <a:avLst>
              <a:gd name="adj" fmla="val 19231"/>
            </a:avLst>
          </a:prstGeom>
          <a:solidFill>
            <a:srgbClr val="2E5FAE"/>
          </a:solidFill>
          <a:ln/>
        </p:spPr>
      </p:sp>
      <p:sp>
        <p:nvSpPr>
          <p:cNvPr id="27" name="text-267"/>
          <p:cNvSpPr txBox="1"/>
          <p:nvPr/>
        </p:nvSpPr>
        <p:spPr>
          <a:xfrm>
            <a:off x="548640" y="2688336"/>
            <a:ext cx="3291840" cy="329184"/>
          </a:xfrm>
          <a:prstGeom prst="rect">
            <a:avLst/>
          </a:prstGeom>
          <a:noFill/>
          <a:ln/>
        </p:spPr>
        <p:txBody>
          <a:bodyPr wrap="square" lIns="0" tIns="0" rIns="0" bIns="0" rtlCol="0" anchor="ctr"/>
          <a:lstStyle/>
          <a:p>
            <a:pPr indent="0" marL="0">
              <a:buNone/>
            </a:pPr>
            <a:r>
              <a:rPr lang="en-US" sz="1400" dirty="0">
                <a:solidFill>
                  <a:srgbClr val="1A1F2B"/>
                </a:solidFill>
              </a:rPr>
              <a:t>GIS data preparation</a:t>
            </a:r>
            <a:endParaRPr lang="en-US" sz="1400" dirty="0"/>
          </a:p>
        </p:txBody>
      </p:sp>
      <p:sp>
        <p:nvSpPr>
          <p:cNvPr id="28" name="bar-268"/>
          <p:cNvSpPr/>
          <p:nvPr/>
        </p:nvSpPr>
        <p:spPr>
          <a:xfrm>
            <a:off x="4443984" y="2734056"/>
            <a:ext cx="3072384" cy="237744"/>
          </a:xfrm>
          <a:prstGeom prst="roundRect">
            <a:avLst>
              <a:gd name="adj" fmla="val 19231"/>
            </a:avLst>
          </a:prstGeom>
          <a:solidFill>
            <a:srgbClr val="3767B1"/>
          </a:solidFill>
          <a:ln/>
        </p:spPr>
      </p:sp>
      <p:sp>
        <p:nvSpPr>
          <p:cNvPr id="29" name="text-269"/>
          <p:cNvSpPr txBox="1"/>
          <p:nvPr/>
        </p:nvSpPr>
        <p:spPr>
          <a:xfrm>
            <a:off x="548640" y="3118104"/>
            <a:ext cx="3291840" cy="329184"/>
          </a:xfrm>
          <a:prstGeom prst="rect">
            <a:avLst/>
          </a:prstGeom>
          <a:noFill/>
          <a:ln/>
        </p:spPr>
        <p:txBody>
          <a:bodyPr wrap="square" lIns="0" tIns="0" rIns="0" bIns="0" rtlCol="0" anchor="ctr"/>
          <a:lstStyle/>
          <a:p>
            <a:pPr indent="0" marL="0">
              <a:buNone/>
            </a:pPr>
            <a:r>
              <a:rPr lang="en-US" sz="1400" dirty="0">
                <a:solidFill>
                  <a:srgbClr val="1A1F2B"/>
                </a:solidFill>
              </a:rPr>
              <a:t>Design and build: 5 sprints</a:t>
            </a:r>
            <a:endParaRPr lang="en-US" sz="1400" dirty="0"/>
          </a:p>
        </p:txBody>
      </p:sp>
      <p:sp>
        <p:nvSpPr>
          <p:cNvPr id="30" name="bar-270"/>
          <p:cNvSpPr/>
          <p:nvPr/>
        </p:nvSpPr>
        <p:spPr>
          <a:xfrm>
            <a:off x="4700016" y="3163824"/>
            <a:ext cx="3072384" cy="237744"/>
          </a:xfrm>
          <a:prstGeom prst="roundRect">
            <a:avLst>
              <a:gd name="adj" fmla="val 19231"/>
            </a:avLst>
          </a:prstGeom>
          <a:solidFill>
            <a:srgbClr val="2E5FAE"/>
          </a:solidFill>
          <a:ln/>
        </p:spPr>
      </p:sp>
      <p:sp>
        <p:nvSpPr>
          <p:cNvPr id="31" name="text-271"/>
          <p:cNvSpPr txBox="1"/>
          <p:nvPr/>
        </p:nvSpPr>
        <p:spPr>
          <a:xfrm>
            <a:off x="548640" y="3547872"/>
            <a:ext cx="3291840" cy="329184"/>
          </a:xfrm>
          <a:prstGeom prst="rect">
            <a:avLst/>
          </a:prstGeom>
          <a:noFill/>
          <a:ln/>
        </p:spPr>
        <p:txBody>
          <a:bodyPr wrap="square" lIns="0" tIns="0" rIns="0" bIns="0" rtlCol="0" anchor="ctr"/>
          <a:lstStyle/>
          <a:p>
            <a:pPr indent="0" marL="0">
              <a:buNone/>
            </a:pPr>
            <a:r>
              <a:rPr lang="en-US" sz="1400" dirty="0">
                <a:solidFill>
                  <a:srgbClr val="1A1F2B"/>
                </a:solidFill>
              </a:rPr>
              <a:t>Integrations</a:t>
            </a:r>
            <a:endParaRPr lang="en-US" sz="1400" dirty="0"/>
          </a:p>
        </p:txBody>
      </p:sp>
      <p:sp>
        <p:nvSpPr>
          <p:cNvPr id="32" name="bar-272"/>
          <p:cNvSpPr/>
          <p:nvPr/>
        </p:nvSpPr>
        <p:spPr>
          <a:xfrm>
            <a:off x="5980176" y="3593592"/>
            <a:ext cx="2048256" cy="237744"/>
          </a:xfrm>
          <a:prstGeom prst="roundRect">
            <a:avLst>
              <a:gd name="adj" fmla="val 19231"/>
            </a:avLst>
          </a:prstGeom>
          <a:solidFill>
            <a:srgbClr val="3767B1"/>
          </a:solidFill>
          <a:ln/>
        </p:spPr>
      </p:sp>
      <p:sp>
        <p:nvSpPr>
          <p:cNvPr id="33" name="text-273"/>
          <p:cNvSpPr txBox="1"/>
          <p:nvPr/>
        </p:nvSpPr>
        <p:spPr>
          <a:xfrm>
            <a:off x="548640" y="3977640"/>
            <a:ext cx="3291840" cy="329184"/>
          </a:xfrm>
          <a:prstGeom prst="rect">
            <a:avLst/>
          </a:prstGeom>
          <a:noFill/>
          <a:ln/>
        </p:spPr>
        <p:txBody>
          <a:bodyPr wrap="square" lIns="0" tIns="0" rIns="0" bIns="0" rtlCol="0" anchor="ctr"/>
          <a:lstStyle/>
          <a:p>
            <a:pPr indent="0" marL="0">
              <a:buNone/>
            </a:pPr>
            <a:r>
              <a:rPr lang="en-US" sz="1400" dirty="0">
                <a:solidFill>
                  <a:srgbClr val="1A1F2B"/>
                </a:solidFill>
              </a:rPr>
              <a:t>SIT, load and security testing</a:t>
            </a:r>
            <a:endParaRPr lang="en-US" sz="1400" dirty="0"/>
          </a:p>
        </p:txBody>
      </p:sp>
      <p:sp>
        <p:nvSpPr>
          <p:cNvPr id="34" name="bar-274"/>
          <p:cNvSpPr/>
          <p:nvPr/>
        </p:nvSpPr>
        <p:spPr>
          <a:xfrm>
            <a:off x="7004304" y="4023360"/>
            <a:ext cx="1433779" cy="237744"/>
          </a:xfrm>
          <a:prstGeom prst="roundRect">
            <a:avLst>
              <a:gd name="adj" fmla="val 19231"/>
            </a:avLst>
          </a:prstGeom>
          <a:solidFill>
            <a:srgbClr val="FF6100"/>
          </a:solidFill>
          <a:ln/>
        </p:spPr>
      </p:sp>
      <p:sp>
        <p:nvSpPr>
          <p:cNvPr id="35" name="text-275"/>
          <p:cNvSpPr txBox="1"/>
          <p:nvPr/>
        </p:nvSpPr>
        <p:spPr>
          <a:xfrm>
            <a:off x="548640" y="4407408"/>
            <a:ext cx="3291840" cy="329184"/>
          </a:xfrm>
          <a:prstGeom prst="rect">
            <a:avLst/>
          </a:prstGeom>
          <a:noFill/>
          <a:ln/>
        </p:spPr>
        <p:txBody>
          <a:bodyPr wrap="square" lIns="0" tIns="0" rIns="0" bIns="0" rtlCol="0" anchor="ctr"/>
          <a:lstStyle/>
          <a:p>
            <a:pPr indent="0" marL="0">
              <a:buNone/>
            </a:pPr>
            <a:r>
              <a:rPr lang="en-US" sz="1400" dirty="0">
                <a:solidFill>
                  <a:srgbClr val="1A1F2B"/>
                </a:solidFill>
              </a:rPr>
              <a:t>UAT, training and sign-off</a:t>
            </a:r>
            <a:endParaRPr lang="en-US" sz="1400" dirty="0"/>
          </a:p>
        </p:txBody>
      </p:sp>
      <p:sp>
        <p:nvSpPr>
          <p:cNvPr id="36" name="bar-276"/>
          <p:cNvSpPr/>
          <p:nvPr/>
        </p:nvSpPr>
        <p:spPr>
          <a:xfrm>
            <a:off x="7772400" y="4453128"/>
            <a:ext cx="768096" cy="237744"/>
          </a:xfrm>
          <a:prstGeom prst="roundRect">
            <a:avLst>
              <a:gd name="adj" fmla="val 19231"/>
            </a:avLst>
          </a:prstGeom>
          <a:solidFill>
            <a:srgbClr val="FF6100"/>
          </a:solidFill>
          <a:ln/>
        </p:spPr>
      </p:sp>
      <p:sp>
        <p:nvSpPr>
          <p:cNvPr id="37" name="text-277"/>
          <p:cNvSpPr txBox="1"/>
          <p:nvPr/>
        </p:nvSpPr>
        <p:spPr>
          <a:xfrm>
            <a:off x="548640" y="4837176"/>
            <a:ext cx="3291840" cy="329184"/>
          </a:xfrm>
          <a:prstGeom prst="rect">
            <a:avLst/>
          </a:prstGeom>
          <a:noFill/>
          <a:ln/>
        </p:spPr>
        <p:txBody>
          <a:bodyPr wrap="square" lIns="0" tIns="0" rIns="0" bIns="0" rtlCol="0" anchor="ctr"/>
          <a:lstStyle/>
          <a:p>
            <a:pPr indent="0" marL="0">
              <a:buNone/>
            </a:pPr>
            <a:r>
              <a:rPr lang="en-US" sz="1400" dirty="0">
                <a:solidFill>
                  <a:srgbClr val="1A1F2B"/>
                </a:solidFill>
              </a:rPr>
              <a:t>Hypercare (60 days)</a:t>
            </a:r>
            <a:endParaRPr lang="en-US" sz="1400" dirty="0"/>
          </a:p>
        </p:txBody>
      </p:sp>
      <p:sp>
        <p:nvSpPr>
          <p:cNvPr id="38" name="bar-278"/>
          <p:cNvSpPr/>
          <p:nvPr/>
        </p:nvSpPr>
        <p:spPr>
          <a:xfrm>
            <a:off x="8540496" y="4882896"/>
            <a:ext cx="3072384" cy="237744"/>
          </a:xfrm>
          <a:prstGeom prst="roundRect">
            <a:avLst>
              <a:gd name="adj" fmla="val 19231"/>
            </a:avLst>
          </a:prstGeom>
          <a:solidFill>
            <a:srgbClr val="6B7280"/>
          </a:solidFill>
          <a:ln/>
        </p:spPr>
      </p:sp>
      <p:sp>
        <p:nvSpPr>
          <p:cNvPr id="39" name="milestone-279"/>
          <p:cNvSpPr/>
          <p:nvPr/>
        </p:nvSpPr>
        <p:spPr>
          <a:xfrm>
            <a:off x="4562856" y="5349240"/>
            <a:ext cx="274320" cy="274320"/>
          </a:xfrm>
          <a:prstGeom prst="diamond">
            <a:avLst/>
          </a:prstGeom>
          <a:solidFill>
            <a:srgbClr val="FF6100"/>
          </a:solidFill>
          <a:ln w="19050">
            <a:solidFill>
              <a:srgbClr val="FFFFFF"/>
            </a:solidFill>
            <a:prstDash val="solid"/>
          </a:ln>
        </p:spPr>
      </p:sp>
      <p:sp>
        <p:nvSpPr>
          <p:cNvPr id="40" name="text-280"/>
          <p:cNvSpPr txBox="1"/>
          <p:nvPr/>
        </p:nvSpPr>
        <p:spPr>
          <a:xfrm>
            <a:off x="3831336" y="5669280"/>
            <a:ext cx="1783080" cy="548640"/>
          </a:xfrm>
          <a:prstGeom prst="rect">
            <a:avLst/>
          </a:prstGeom>
          <a:noFill/>
          <a:ln/>
        </p:spPr>
        <p:txBody>
          <a:bodyPr wrap="square" lIns="0" tIns="0" rIns="0" bIns="0" rtlCol="0" anchor="t"/>
          <a:lstStyle/>
          <a:p>
            <a:pPr algn="ctr" indent="0" marL="0">
              <a:buNone/>
            </a:pPr>
            <a:r>
              <a:rPr lang="en-US" sz="1200" dirty="0">
                <a:solidFill>
                  <a:srgbClr val="0B318F"/>
                </a:solidFill>
              </a:rPr>
              <a:t>SRS approval</a:t>
            </a:r>
            <a:endParaRPr lang="en-US" sz="1200" dirty="0"/>
          </a:p>
          <a:p>
            <a:pPr algn="ctr" indent="0" marL="0">
              <a:buNone/>
            </a:pPr>
            <a:r>
              <a:rPr lang="en-US" sz="1200" dirty="0">
                <a:solidFill>
                  <a:srgbClr val="0B318F"/>
                </a:solidFill>
              </a:rPr>
              <a:t>15% of application cost</a:t>
            </a:r>
            <a:endParaRPr lang="en-US" sz="1200" dirty="0"/>
          </a:p>
        </p:txBody>
      </p:sp>
      <p:sp>
        <p:nvSpPr>
          <p:cNvPr id="41" name="milestone-281"/>
          <p:cNvSpPr/>
          <p:nvPr/>
        </p:nvSpPr>
        <p:spPr>
          <a:xfrm>
            <a:off x="7635240" y="5349240"/>
            <a:ext cx="274320" cy="274320"/>
          </a:xfrm>
          <a:prstGeom prst="diamond">
            <a:avLst/>
          </a:prstGeom>
          <a:solidFill>
            <a:srgbClr val="FF6100"/>
          </a:solidFill>
          <a:ln w="19050">
            <a:solidFill>
              <a:srgbClr val="FFFFFF"/>
            </a:solidFill>
            <a:prstDash val="solid"/>
          </a:ln>
        </p:spPr>
      </p:sp>
      <p:sp>
        <p:nvSpPr>
          <p:cNvPr id="42" name="text-282"/>
          <p:cNvSpPr txBox="1"/>
          <p:nvPr/>
        </p:nvSpPr>
        <p:spPr>
          <a:xfrm>
            <a:off x="6126480" y="5669280"/>
            <a:ext cx="1783080" cy="548640"/>
          </a:xfrm>
          <a:prstGeom prst="rect">
            <a:avLst/>
          </a:prstGeom>
          <a:noFill/>
          <a:ln/>
        </p:spPr>
        <p:txBody>
          <a:bodyPr wrap="square" lIns="0" tIns="0" rIns="0" bIns="0" rtlCol="0" anchor="t"/>
          <a:lstStyle/>
          <a:p>
            <a:pPr algn="r" indent="0" marL="0">
              <a:buNone/>
            </a:pPr>
            <a:r>
              <a:rPr lang="en-US" sz="1200" dirty="0">
                <a:solidFill>
                  <a:srgbClr val="0B318F"/>
                </a:solidFill>
              </a:rPr>
              <a:t>Beta Go-Live</a:t>
            </a:r>
            <a:endParaRPr lang="en-US" sz="1200" dirty="0"/>
          </a:p>
          <a:p>
            <a:pPr algn="r" indent="0" marL="0">
              <a:buNone/>
            </a:pPr>
            <a:r>
              <a:rPr lang="en-US" sz="1200" dirty="0">
                <a:solidFill>
                  <a:srgbClr val="0B318F"/>
                </a:solidFill>
              </a:rPr>
              <a:t>50% of application cost</a:t>
            </a:r>
            <a:endParaRPr lang="en-US" sz="1200" dirty="0"/>
          </a:p>
        </p:txBody>
      </p:sp>
      <p:sp>
        <p:nvSpPr>
          <p:cNvPr id="43" name="milestone-283"/>
          <p:cNvSpPr/>
          <p:nvPr/>
        </p:nvSpPr>
        <p:spPr>
          <a:xfrm>
            <a:off x="8403336" y="5349240"/>
            <a:ext cx="274320" cy="274320"/>
          </a:xfrm>
          <a:prstGeom prst="diamond">
            <a:avLst/>
          </a:prstGeom>
          <a:solidFill>
            <a:srgbClr val="FF6100"/>
          </a:solidFill>
          <a:ln w="19050">
            <a:solidFill>
              <a:srgbClr val="FFFFFF"/>
            </a:solidFill>
            <a:prstDash val="solid"/>
          </a:ln>
        </p:spPr>
      </p:sp>
      <p:sp>
        <p:nvSpPr>
          <p:cNvPr id="44" name="text-284"/>
          <p:cNvSpPr txBox="1"/>
          <p:nvPr/>
        </p:nvSpPr>
        <p:spPr>
          <a:xfrm>
            <a:off x="8403336" y="5669280"/>
            <a:ext cx="1783080" cy="548640"/>
          </a:xfrm>
          <a:prstGeom prst="rect">
            <a:avLst/>
          </a:prstGeom>
          <a:noFill/>
          <a:ln/>
        </p:spPr>
        <p:txBody>
          <a:bodyPr wrap="square" lIns="0" tIns="0" rIns="0" bIns="0" rtlCol="0" anchor="t"/>
          <a:lstStyle/>
          <a:p>
            <a:pPr algn="l" indent="0" marL="0">
              <a:buNone/>
            </a:pPr>
            <a:r>
              <a:rPr lang="en-US" sz="1200" dirty="0">
                <a:solidFill>
                  <a:srgbClr val="0B318F"/>
                </a:solidFill>
              </a:rPr>
              <a:t>Go-Live (T1)</a:t>
            </a:r>
            <a:endParaRPr lang="en-US" sz="1200" dirty="0"/>
          </a:p>
          <a:p>
            <a:pPr algn="l" indent="0" marL="0">
              <a:buNone/>
            </a:pPr>
            <a:r>
              <a:rPr lang="en-US" sz="1200" dirty="0">
                <a:solidFill>
                  <a:srgbClr val="0B318F"/>
                </a:solidFill>
              </a:rPr>
              <a:t>35% of application cost</a:t>
            </a:r>
            <a:endParaRPr lang="en-US" sz="1200" dirty="0"/>
          </a:p>
        </p:txBody>
      </p:sp>
      <p:sp>
        <p:nvSpPr>
          <p:cNvPr id="45" name="text-285"/>
          <p:cNvSpPr txBox="1"/>
          <p:nvPr/>
        </p:nvSpPr>
        <p:spPr>
          <a:xfrm>
            <a:off x="548640" y="5349240"/>
            <a:ext cx="3291840" cy="292608"/>
          </a:xfrm>
          <a:prstGeom prst="rect">
            <a:avLst/>
          </a:prstGeom>
          <a:noFill/>
          <a:ln/>
        </p:spPr>
        <p:txBody>
          <a:bodyPr wrap="square" lIns="0" tIns="0" rIns="0" bIns="0" rtlCol="0" anchor="t"/>
          <a:lstStyle/>
          <a:p>
            <a:pPr indent="0" marL="0">
              <a:buNone/>
            </a:pPr>
            <a:r>
              <a:rPr lang="en-US" sz="1400" b="1" dirty="0">
                <a:solidFill>
                  <a:srgbClr val="0B318F"/>
                </a:solidFill>
              </a:rPr>
              <a:t>Payment milestones</a:t>
            </a:r>
            <a:endParaRPr lang="en-US" sz="1400" dirty="0"/>
          </a:p>
        </p:txBody>
      </p:sp>
      <p:sp>
        <p:nvSpPr>
          <p:cNvPr id="46" name="text-286"/>
          <p:cNvSpPr txBox="1"/>
          <p:nvPr/>
        </p:nvSpPr>
        <p:spPr>
          <a:xfrm>
            <a:off x="548640" y="5715000"/>
            <a:ext cx="3108960" cy="548640"/>
          </a:xfrm>
          <a:prstGeom prst="rect">
            <a:avLst/>
          </a:prstGeom>
          <a:noFill/>
          <a:ln/>
        </p:spPr>
        <p:txBody>
          <a:bodyPr wrap="square" lIns="0" tIns="0" rIns="0" bIns="0" rtlCol="0" anchor="t"/>
          <a:lstStyle/>
          <a:p>
            <a:pPr indent="0" marL="0">
              <a:buNone/>
            </a:pPr>
            <a:r>
              <a:rPr lang="en-US" sz="1200" dirty="0">
                <a:solidFill>
                  <a:srgbClr val="6B7280"/>
                </a:solidFill>
              </a:rPr>
              <a:t>Then O&amp;M for 33 months, paid in 11 equal quarterly instalments</a:t>
            </a:r>
            <a:endParaRPr lang="en-US" sz="1200" dirty="0"/>
          </a:p>
        </p:txBody>
      </p:sp>
      <p:sp>
        <p:nvSpPr>
          <p:cNvPr id="49" name="KeyPoint band blue"/>
          <p:cNvSpPr/>
          <p:nvPr/>
        </p:nvSpPr>
        <p:spPr>
          <a:xfrm>
            <a:off x="0" y="6611000"/>
            <a:ext cx="8298000" cy="247000"/>
          </a:xfrm>
          <a:prstGeom prst="rect">
            <a:avLst/>
          </a:prstGeom>
          <a:solidFill>
            <a:srgbClr val="3767B1"/>
          </a:solidFill>
          <a:ln>
            <a:noFill/>
          </a:ln>
        </p:spPr>
      </p:sp>
      <p:sp>
        <p:nvSpPr>
          <p:cNvPr id="50" name="KeyPoint band orange"/>
          <p:cNvSpPr/>
          <p:nvPr/>
        </p:nvSpPr>
        <p:spPr>
          <a:xfrm>
            <a:off x="8298000" y="6611000"/>
            <a:ext cx="3894000" cy="247000"/>
          </a:xfrm>
          <a:prstGeom prst="rect">
            <a:avLst/>
          </a:prstGeom>
          <a:solidFill>
            <a:srgbClr val="FF6100"/>
          </a:solidFill>
          <a:ln>
            <a:noFill/>
          </a:ln>
        </p:spPr>
      </p:sp>
      <p:sp>
        <p:nvSpPr>
          <p:cNvPr id="47" name="KeyPoint logo box"/>
          <p:cNvSpPr/>
          <p:nvPr/>
        </p:nvSpPr>
        <p:spPr>
          <a:xfrm>
            <a:off x="9972675" y="142875"/>
            <a:ext cx="2162175" cy="704850"/>
          </a:xfrm>
          <a:custGeom>
            <a:avLst/>
            <a:gdLst/>
            <a:ahLst/>
            <a:cxnLst/>
            <a:rect l="l" t="t" r="r" b="b"/>
            <a:pathLst>
              <a:path w="2162175" h="704850">
                <a:moveTo>
                  <a:pt x="2044700" y="0"/>
                </a:moveTo>
                <a:lnTo>
                  <a:pt x="117475" y="0"/>
                </a:lnTo>
                <a:lnTo>
                  <a:pt x="71741" y="9229"/>
                </a:lnTo>
                <a:lnTo>
                  <a:pt x="34401" y="34401"/>
                </a:lnTo>
                <a:lnTo>
                  <a:pt x="9229" y="71741"/>
                </a:lnTo>
                <a:lnTo>
                  <a:pt x="0" y="117475"/>
                </a:lnTo>
                <a:lnTo>
                  <a:pt x="0" y="587375"/>
                </a:lnTo>
                <a:lnTo>
                  <a:pt x="9229" y="633108"/>
                </a:lnTo>
                <a:lnTo>
                  <a:pt x="34401" y="670448"/>
                </a:lnTo>
                <a:lnTo>
                  <a:pt x="71741" y="695620"/>
                </a:lnTo>
                <a:lnTo>
                  <a:pt x="117475" y="704850"/>
                </a:lnTo>
                <a:lnTo>
                  <a:pt x="2044700" y="704850"/>
                </a:lnTo>
                <a:lnTo>
                  <a:pt x="2090433" y="695620"/>
                </a:lnTo>
                <a:lnTo>
                  <a:pt x="2127773" y="670448"/>
                </a:lnTo>
                <a:lnTo>
                  <a:pt x="2152945" y="633108"/>
                </a:lnTo>
                <a:lnTo>
                  <a:pt x="2162175" y="587375"/>
                </a:lnTo>
                <a:lnTo>
                  <a:pt x="2162175" y="117475"/>
                </a:lnTo>
                <a:lnTo>
                  <a:pt x="2152945" y="71741"/>
                </a:lnTo>
                <a:lnTo>
                  <a:pt x="2127773" y="34401"/>
                </a:lnTo>
                <a:lnTo>
                  <a:pt x="2090433" y="9229"/>
                </a:lnTo>
                <a:lnTo>
                  <a:pt x="2044700" y="0"/>
                </a:lnTo>
                <a:close/>
              </a:path>
            </a:pathLst>
          </a:custGeom>
          <a:solidFill>
            <a:srgbClr val="FFFFFF"/>
          </a:solidFill>
        </p:spPr>
        <p:txBody>
          <a:bodyPr wrap="square" lIns="0" tIns="0" rIns="0" bIns="0" rtlCol="0"/>
          <a:lstStyle/>
          <a:p/>
        </p:txBody>
      </p:sp>
      <p:pic>
        <p:nvPicPr>
          <p:cNvPr id="48" name="KeyPoint logo" descr="KeyPoint Technologies logo"/>
          <p:cNvPicPr/>
          <p:nvPr/>
        </p:nvPicPr>
        <p:blipFill>
          <a:blip r:embed="rIdKpLogo" cstate="print"/>
          <a:stretch>
            <a:fillRect/>
          </a:stretch>
        </p:blipFill>
        <p:spPr>
          <a:xfrm>
            <a:off x="10134600" y="209550"/>
            <a:ext cx="1828800" cy="55245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287"/>
          <p:cNvSpPr txBox="1"/>
          <p:nvPr/>
        </p:nvSpPr>
        <p:spPr>
          <a:xfrm>
            <a:off x="548640" y="274320"/>
            <a:ext cx="10972800" cy="256032"/>
          </a:xfrm>
          <a:prstGeom prst="rect">
            <a:avLst/>
          </a:prstGeom>
          <a:noFill/>
          <a:ln/>
        </p:spPr>
        <p:txBody>
          <a:bodyPr wrap="square" lIns="0" tIns="0" rIns="0" bIns="0" rtlCol="0" anchor="ctr"/>
          <a:lstStyle/>
          <a:p>
            <a:pPr indent="0" marL="0">
              <a:buNone/>
            </a:pPr>
            <a:r>
              <a:rPr lang="en-US" sz="1100" b="1" spc="200" kern="0" dirty="0">
                <a:solidFill>
                  <a:srgbClr val="2E5FAE"/>
                </a:solidFill>
              </a:rPr>
              <a:t>04 · RESOURCE DEPLOYMENT PLAN</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rgbClr val="0B318F"/>
                </a:solidFill>
              </a:rPr>
              <a:t>Resource deployment plan</a:t>
            </a:r>
            <a:endParaRPr lang="en-US" sz="3200" dirty="0"/>
          </a:p>
        </p:txBody>
      </p:sp>
      <p:sp>
        <p:nvSpPr>
          <p:cNvPr id="5" name="text-288"/>
          <p:cNvSpPr txBox="1"/>
          <p:nvPr/>
        </p:nvSpPr>
        <p:spPr>
          <a:xfrm>
            <a:off x="548640" y="1417320"/>
            <a:ext cx="6400800" cy="320040"/>
          </a:xfrm>
          <a:prstGeom prst="rect">
            <a:avLst/>
          </a:prstGeom>
          <a:noFill/>
          <a:ln/>
        </p:spPr>
        <p:txBody>
          <a:bodyPr wrap="square" lIns="0" tIns="0" rIns="0" bIns="0" rtlCol="0" anchor="t"/>
          <a:lstStyle/>
          <a:p>
            <a:pPr indent="0" marL="0">
              <a:buNone/>
            </a:pPr>
            <a:r>
              <a:rPr lang="en-US" sz="1600" b="1" dirty="0">
                <a:solidFill>
                  <a:srgbClr val="0B318F"/>
                </a:solidFill>
              </a:rPr>
              <a:t>Development and implementation phase</a:t>
            </a:r>
            <a:endParaRPr lang="en-US" sz="1600" dirty="0"/>
          </a:p>
        </p:txBody>
      </p:sp>
      <p:graphicFrame>
        <p:nvGraphicFramePr>
          <p:cNvPr id="10" name="table-289"/>
          <p:cNvGraphicFramePr>
            <a:graphicFrameLocks noGrp="1"/>
          </p:cNvGraphicFramePr>
          <p:nvPr>
            <p:extLst>
              <p:ext uri="{D42A27DB-BD31-4B8C-83A1-F6EECF244321}">
                <p14:modId xmlns:p14="http://schemas.microsoft.com/office/powerpoint/2010/main" val="1579011935"/>
              </p:ext>
            </p:extLst>
          </p:nvPr>
        </p:nvGraphicFramePr>
        <p:xfrm>
          <a:off x="548640" y="1783080"/>
          <a:ext cx="6949440" cy="914400"/>
        </p:xfrm>
        <a:graphic>
          <a:graphicData uri="http://schemas.openxmlformats.org/drawingml/2006/table">
            <a:tbl>
              <a:tblPr/>
              <a:tblGrid>
                <a:gridCol w="2377440"/>
                <a:gridCol w="548640"/>
                <a:gridCol w="1005840"/>
                <a:gridCol w="3017520"/>
              </a:tblGrid>
              <a:tr h="310896">
                <a:tc>
                  <a:txBody>
                    <a:bodyPr/>
                    <a:lstStyle/>
                    <a:p>
                      <a:pPr algn="l" indent="0" marL="0">
                        <a:buNone/>
                      </a:pPr>
                      <a:r>
                        <a:rPr lang="en-US" sz="1200" b="1" dirty="0">
                          <a:solidFill>
                            <a:srgbClr val="FFFFFF"/>
                          </a:solidFill>
                        </a:rPr>
                        <a:t>Role</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2E5FAE"/>
                    </a:solidFill>
                  </a:tcPr>
                </a:tc>
                <a:tc>
                  <a:txBody>
                    <a:bodyPr/>
                    <a:lstStyle/>
                    <a:p>
                      <a:pPr algn="r" indent="0" marL="0">
                        <a:buNone/>
                      </a:pPr>
                      <a:r>
                        <a:rPr lang="en-US" sz="1200" b="1" dirty="0">
                          <a:solidFill>
                            <a:srgbClr val="FFFFFF"/>
                          </a:solidFill>
                        </a:rPr>
                        <a:t>No.</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2E5FAE"/>
                    </a:solidFill>
                  </a:tcPr>
                </a:tc>
                <a:tc>
                  <a:txBody>
                    <a:bodyPr/>
                    <a:lstStyle/>
                    <a:p>
                      <a:pPr algn="l" indent="0" marL="0">
                        <a:buNone/>
                      </a:pPr>
                      <a:r>
                        <a:rPr lang="en-US" sz="1200" b="1" dirty="0">
                          <a:solidFill>
                            <a:srgbClr val="FFFFFF"/>
                          </a:solidFill>
                        </a:rPr>
                        <a:t>Experience</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2E5FAE"/>
                    </a:solidFill>
                  </a:tcPr>
                </a:tc>
                <a:tc>
                  <a:txBody>
                    <a:bodyPr/>
                    <a:lstStyle/>
                    <a:p>
                      <a:pPr algn="l" indent="0" marL="0">
                        <a:buNone/>
                      </a:pPr>
                      <a:r>
                        <a:rPr lang="en-US" sz="1200" b="1" dirty="0">
                          <a:solidFill>
                            <a:srgbClr val="FFFFFF"/>
                          </a:solidFill>
                        </a:rPr>
                        <a:t>Key responsibility</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2E5FAE"/>
                    </a:solidFill>
                  </a:tcPr>
                </a:tc>
              </a:tr>
              <a:tr h="310896">
                <a:tc>
                  <a:txBody>
                    <a:bodyPr/>
                    <a:lstStyle/>
                    <a:p>
                      <a:pPr algn="l" indent="0" marL="0">
                        <a:buNone/>
                      </a:pPr>
                      <a:r>
                        <a:rPr lang="en-US" sz="1200" b="1" dirty="0">
                          <a:solidFill>
                            <a:srgbClr val="1A1F2B"/>
                          </a:solidFill>
                        </a:rPr>
                        <a:t>Project Manager</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rPr>
                        <a:t>1</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10+ yrs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Delivery, single point of contact</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r>
              <a:tr h="310896">
                <a:tc>
                  <a:txBody>
                    <a:bodyPr/>
                    <a:lstStyle/>
                    <a:p>
                      <a:pPr algn="l" indent="0" marL="0">
                        <a:buNone/>
                      </a:pPr>
                      <a:r>
                        <a:rPr lang="en-US" sz="1200" b="1" dirty="0">
                          <a:solidFill>
                            <a:srgbClr val="1A1F2B"/>
                          </a:solidFill>
                        </a:rPr>
                        <a:t>GIS Solution Architect</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r" indent="0" marL="0">
                        <a:buNone/>
                      </a:pPr>
                      <a:r>
                        <a:rPr lang="en-US" sz="1200" dirty="0">
                          <a:solidFill>
                            <a:srgbClr val="1A1F2B"/>
                          </a:solidFill>
                        </a:rPr>
                        <a:t>1</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8+ yrs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Spatial data model, GeoServer, PostGIS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r>
              <a:tr h="310896">
                <a:tc>
                  <a:txBody>
                    <a:bodyPr/>
                    <a:lstStyle/>
                    <a:p>
                      <a:pPr algn="l" indent="0" marL="0">
                        <a:buNone/>
                      </a:pPr>
                      <a:r>
                        <a:rPr lang="en-US" sz="1200" b="1" dirty="0">
                          <a:solidFill>
                            <a:srgbClr val="1A1F2B"/>
                          </a:solidFill>
                        </a:rPr>
                        <a:t>GIS Developer</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rPr>
                        <a:t>2</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5+ yrs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Layers, map interface, spatial tools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r>
              <a:tr h="310896">
                <a:tc>
                  <a:txBody>
                    <a:bodyPr/>
                    <a:lstStyle/>
                    <a:p>
                      <a:pPr algn="l" indent="0" marL="0">
                        <a:buNone/>
                      </a:pPr>
                      <a:r>
                        <a:rPr lang="en-US" sz="1200" b="1" dirty="0">
                          <a:solidFill>
                            <a:srgbClr val="1A1F2B"/>
                          </a:solidFill>
                        </a:rPr>
                        <a:t>Backend Developer</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r" indent="0" marL="0">
                        <a:buNone/>
                      </a:pPr>
                      <a:r>
                        <a:rPr lang="en-US" sz="1200" dirty="0">
                          <a:solidFill>
                            <a:srgbClr val="1A1F2B"/>
                          </a:solidFill>
                        </a:rPr>
                        <a:t>2</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5+ yrs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APIs, business logic</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r>
              <a:tr h="310896">
                <a:tc>
                  <a:txBody>
                    <a:bodyPr/>
                    <a:lstStyle/>
                    <a:p>
                      <a:pPr algn="l" indent="0" marL="0">
                        <a:buNone/>
                      </a:pPr>
                      <a:r>
                        <a:rPr lang="en-US" sz="1200" b="1" dirty="0">
                          <a:solidFill>
                            <a:srgbClr val="1A1F2B"/>
                          </a:solidFill>
                        </a:rPr>
                        <a:t>Frontend Developer</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rPr>
                        <a:t>2</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4+ yrs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Web interface, dashboards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r>
              <a:tr h="310896">
                <a:tc>
                  <a:txBody>
                    <a:bodyPr/>
                    <a:lstStyle/>
                    <a:p>
                      <a:pPr algn="l" indent="0" marL="0">
                        <a:buNone/>
                      </a:pPr>
                      <a:r>
                        <a:rPr lang="en-US" sz="1200" b="1" dirty="0">
                          <a:solidFill>
                            <a:srgbClr val="1A1F2B"/>
                          </a:solidFill>
                        </a:rPr>
                        <a:t>Database Administrator</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r" indent="0" marL="0">
                        <a:buNone/>
                      </a:pPr>
                      <a:r>
                        <a:rPr lang="en-US" sz="1200" dirty="0">
                          <a:solidFill>
                            <a:srgbClr val="1A1F2B"/>
                          </a:solidFill>
                        </a:rPr>
                        <a:t>1</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6+ yrs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PostgreSQL / PostGIS, backup</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r>
              <a:tr h="310896">
                <a:tc>
                  <a:txBody>
                    <a:bodyPr/>
                    <a:lstStyle/>
                    <a:p>
                      <a:pPr algn="l" indent="0" marL="0">
                        <a:buNone/>
                      </a:pPr>
                      <a:r>
                        <a:rPr lang="en-US" sz="1200" b="1" dirty="0">
                          <a:solidFill>
                            <a:srgbClr val="1A1F2B"/>
                          </a:solidFill>
                        </a:rPr>
                        <a:t>Cloud &amp; DevOps Engineer</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rPr>
                        <a:t>1</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5+ yrs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Cloud, CI/CD, DR</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r>
              <a:tr h="310896">
                <a:tc>
                  <a:txBody>
                    <a:bodyPr/>
                    <a:lstStyle/>
                    <a:p>
                      <a:pPr algn="l" indent="0" marL="0">
                        <a:buNone/>
                      </a:pPr>
                      <a:r>
                        <a:rPr lang="en-US" sz="1200" b="1" dirty="0">
                          <a:solidFill>
                            <a:srgbClr val="1A1F2B"/>
                          </a:solidFill>
                        </a:rPr>
                        <a:t>AI/ML Engineer</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r" indent="0" marL="0">
                        <a:buNone/>
                      </a:pPr>
                      <a:r>
                        <a:rPr lang="en-US" sz="1200" dirty="0">
                          <a:solidFill>
                            <a:srgbClr val="1A1F2B"/>
                          </a:solidFill>
                        </a:rPr>
                        <a:t>1</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5+ yrs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Anomaly detection, forecasting</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r>
              <a:tr h="310896">
                <a:tc>
                  <a:txBody>
                    <a:bodyPr/>
                    <a:lstStyle/>
                    <a:p>
                      <a:pPr algn="l" indent="0" marL="0">
                        <a:buNone/>
                      </a:pPr>
                      <a:r>
                        <a:rPr lang="en-US" sz="1200" b="1" dirty="0">
                          <a:solidFill>
                            <a:srgbClr val="1A1F2B"/>
                          </a:solidFill>
                        </a:rPr>
                        <a:t>Integration Specialist</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rPr>
                        <a:t>1</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5+ yrs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Payment, SMS, WhatsApp, imagery</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r>
              <a:tr h="310896">
                <a:tc>
                  <a:txBody>
                    <a:bodyPr/>
                    <a:lstStyle/>
                    <a:p>
                      <a:pPr algn="l" indent="0" marL="0">
                        <a:buNone/>
                      </a:pPr>
                      <a:r>
                        <a:rPr lang="en-US" sz="1200" b="1" dirty="0">
                          <a:solidFill>
                            <a:srgbClr val="1A1F2B"/>
                          </a:solidFill>
                        </a:rPr>
                        <a:t>QA &amp; Testing Engineer</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r" indent="0" marL="0">
                        <a:buNone/>
                      </a:pPr>
                      <a:r>
                        <a:rPr lang="en-US" sz="1200" dirty="0">
                          <a:solidFill>
                            <a:srgbClr val="1A1F2B"/>
                          </a:solidFill>
                        </a:rPr>
                        <a:t>2</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4+ yrs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Functional, load, security testing</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r>
              <a:tr h="310896">
                <a:tc>
                  <a:txBody>
                    <a:bodyPr/>
                    <a:lstStyle/>
                    <a:p>
                      <a:pPr algn="l" indent="0" marL="0">
                        <a:buNone/>
                      </a:pPr>
                      <a:r>
                        <a:rPr lang="en-US" sz="1200" b="1" dirty="0">
                          <a:solidFill>
                            <a:srgbClr val="1A1F2B"/>
                          </a:solidFill>
                        </a:rPr>
                        <a:t>GIS Data Specialist</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rPr>
                        <a:t>1</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5+ yrs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Digitisation, DGPS / ETS validation</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r>
              <a:tr h="310896">
                <a:tc>
                  <a:txBody>
                    <a:bodyPr/>
                    <a:lstStyle/>
                    <a:p>
                      <a:pPr algn="l" indent="0" marL="0">
                        <a:buNone/>
                      </a:pPr>
                      <a:r>
                        <a:rPr lang="en-US" sz="1200" b="1" dirty="0">
                          <a:solidFill>
                            <a:srgbClr val="1A1F2B"/>
                          </a:solidFill>
                        </a:rPr>
                        <a:t>Technical Documentation</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r" indent="0" marL="0">
                        <a:buNone/>
                      </a:pPr>
                      <a:r>
                        <a:rPr lang="en-US" sz="1200" dirty="0">
                          <a:solidFill>
                            <a:srgbClr val="1A1F2B"/>
                          </a:solidFill>
                        </a:rPr>
                        <a:t>1</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4+ yrs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Manuals, SOPs (English, Telugu)</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r>
              <a:tr h="310896">
                <a:tc>
                  <a:txBody>
                    <a:bodyPr/>
                    <a:lstStyle/>
                    <a:p>
                      <a:pPr algn="l" indent="0" marL="0">
                        <a:buNone/>
                      </a:pPr>
                      <a:r>
                        <a:rPr lang="en-US" sz="1200" b="1" dirty="0">
                          <a:solidFill>
                            <a:srgbClr val="1A1F2B"/>
                          </a:solidFill>
                        </a:rPr>
                        <a:t>Total</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2B"/>
                          </a:solidFill>
                        </a:rPr>
                        <a:t>16</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r>
            </a:tbl>
          </a:graphicData>
        </a:graphic>
      </p:graphicFrame>
      <p:sp>
        <p:nvSpPr>
          <p:cNvPr id="7" name="card-290"/>
          <p:cNvSpPr/>
          <p:nvPr/>
        </p:nvSpPr>
        <p:spPr>
          <a:xfrm>
            <a:off x="7772400" y="1417320"/>
            <a:ext cx="3840480" cy="4617720"/>
          </a:xfrm>
          <a:prstGeom prst="roundRect">
            <a:avLst>
              <a:gd name="adj" fmla="val 1905"/>
            </a:avLst>
          </a:prstGeom>
          <a:solidFill>
            <a:srgbClr val="0B318F"/>
          </a:solidFill>
          <a:ln/>
        </p:spPr>
      </p:sp>
      <p:sp>
        <p:nvSpPr>
          <p:cNvPr id="8" name="text-291"/>
          <p:cNvSpPr txBox="1"/>
          <p:nvPr/>
        </p:nvSpPr>
        <p:spPr>
          <a:xfrm>
            <a:off x="8046720" y="1645920"/>
            <a:ext cx="3383280" cy="320040"/>
          </a:xfrm>
          <a:prstGeom prst="rect">
            <a:avLst/>
          </a:prstGeom>
          <a:noFill/>
          <a:ln/>
        </p:spPr>
        <p:txBody>
          <a:bodyPr wrap="square" lIns="0" tIns="0" rIns="0" bIns="0" rtlCol="0" anchor="t"/>
          <a:lstStyle/>
          <a:p>
            <a:pPr indent="0" marL="0">
              <a:buNone/>
            </a:pPr>
            <a:r>
              <a:rPr lang="en-US" sz="1600" b="1" dirty="0">
                <a:solidFill>
                  <a:srgbClr val="FF6100"/>
                </a:solidFill>
              </a:rPr>
              <a:t>O&amp;M phase · 33 months</a:t>
            </a:r>
            <a:endParaRPr lang="en-US" sz="1600" dirty="0"/>
          </a:p>
        </p:txBody>
      </p:sp>
      <p:sp>
        <p:nvSpPr>
          <p:cNvPr id="9" name="text-292"/>
          <p:cNvSpPr txBox="1"/>
          <p:nvPr/>
        </p:nvSpPr>
        <p:spPr>
          <a:xfrm>
            <a:off x="8046720" y="2103120"/>
            <a:ext cx="2651760" cy="347472"/>
          </a:xfrm>
          <a:prstGeom prst="rect">
            <a:avLst/>
          </a:prstGeom>
          <a:noFill/>
          <a:ln/>
        </p:spPr>
        <p:txBody>
          <a:bodyPr wrap="square" lIns="0" tIns="0" rIns="0" bIns="0" rtlCol="0" anchor="ctr"/>
          <a:lstStyle/>
          <a:p>
            <a:pPr indent="0" marL="0">
              <a:buNone/>
            </a:pPr>
            <a:r>
              <a:rPr lang="en-US" sz="1400" dirty="0">
                <a:solidFill>
                  <a:srgbClr val="FFFFFF"/>
                </a:solidFill>
              </a:rPr>
              <a:t>1 × Technical Support Lead</a:t>
            </a:r>
            <a:endParaRPr lang="en-US" sz="1400" dirty="0"/>
          </a:p>
        </p:txBody>
      </p:sp>
      <p:sp>
        <p:nvSpPr>
          <p:cNvPr id="10" name="text-293"/>
          <p:cNvSpPr txBox="1"/>
          <p:nvPr/>
        </p:nvSpPr>
        <p:spPr>
          <a:xfrm>
            <a:off x="10607040" y="2103120"/>
            <a:ext cx="777240" cy="347472"/>
          </a:xfrm>
          <a:prstGeom prst="rect">
            <a:avLst/>
          </a:prstGeom>
          <a:noFill/>
          <a:ln/>
        </p:spPr>
        <p:txBody>
          <a:bodyPr wrap="square" lIns="0" tIns="0" rIns="0" bIns="0" rtlCol="0" anchor="ctr"/>
          <a:lstStyle/>
          <a:p>
            <a:pPr algn="r" indent="0" marL="0">
              <a:buNone/>
            </a:pPr>
            <a:r>
              <a:rPr lang="en-US" sz="1300" dirty="0">
                <a:solidFill>
                  <a:srgbClr val="EEF2F9"/>
                </a:solidFill>
              </a:rPr>
              <a:t>7+ yrs</a:t>
            </a:r>
            <a:endParaRPr lang="en-US" sz="1300" dirty="0"/>
          </a:p>
        </p:txBody>
      </p:sp>
      <p:sp>
        <p:nvSpPr>
          <p:cNvPr id="11" name="text-294"/>
          <p:cNvSpPr txBox="1"/>
          <p:nvPr/>
        </p:nvSpPr>
        <p:spPr>
          <a:xfrm>
            <a:off x="8046720" y="2487168"/>
            <a:ext cx="2651760" cy="347472"/>
          </a:xfrm>
          <a:prstGeom prst="rect">
            <a:avLst/>
          </a:prstGeom>
          <a:noFill/>
          <a:ln/>
        </p:spPr>
        <p:txBody>
          <a:bodyPr wrap="square" lIns="0" tIns="0" rIns="0" bIns="0" rtlCol="0" anchor="ctr"/>
          <a:lstStyle/>
          <a:p>
            <a:pPr indent="0" marL="0">
              <a:buNone/>
            </a:pPr>
            <a:r>
              <a:rPr lang="en-US" sz="1400" dirty="0">
                <a:solidFill>
                  <a:srgbClr val="FFFFFF"/>
                </a:solidFill>
              </a:rPr>
              <a:t>1 × GIS Support Engineer</a:t>
            </a:r>
            <a:endParaRPr lang="en-US" sz="1400" dirty="0"/>
          </a:p>
        </p:txBody>
      </p:sp>
      <p:sp>
        <p:nvSpPr>
          <p:cNvPr id="12" name="text-295"/>
          <p:cNvSpPr txBox="1"/>
          <p:nvPr/>
        </p:nvSpPr>
        <p:spPr>
          <a:xfrm>
            <a:off x="10607040" y="2487168"/>
            <a:ext cx="777240" cy="347472"/>
          </a:xfrm>
          <a:prstGeom prst="rect">
            <a:avLst/>
          </a:prstGeom>
          <a:noFill/>
          <a:ln/>
        </p:spPr>
        <p:txBody>
          <a:bodyPr wrap="square" lIns="0" tIns="0" rIns="0" bIns="0" rtlCol="0" anchor="ctr"/>
          <a:lstStyle/>
          <a:p>
            <a:pPr algn="r" indent="0" marL="0">
              <a:buNone/>
            </a:pPr>
            <a:r>
              <a:rPr lang="en-US" sz="1300" dirty="0">
                <a:solidFill>
                  <a:srgbClr val="EEF2F9"/>
                </a:solidFill>
              </a:rPr>
              <a:t>4+ yrs</a:t>
            </a:r>
            <a:endParaRPr lang="en-US" sz="1300" dirty="0"/>
          </a:p>
        </p:txBody>
      </p:sp>
      <p:sp>
        <p:nvSpPr>
          <p:cNvPr id="13" name="text-296"/>
          <p:cNvSpPr txBox="1"/>
          <p:nvPr/>
        </p:nvSpPr>
        <p:spPr>
          <a:xfrm>
            <a:off x="8046720" y="2871216"/>
            <a:ext cx="2651760" cy="347472"/>
          </a:xfrm>
          <a:prstGeom prst="rect">
            <a:avLst/>
          </a:prstGeom>
          <a:noFill/>
          <a:ln/>
        </p:spPr>
        <p:txBody>
          <a:bodyPr wrap="square" lIns="0" tIns="0" rIns="0" bIns="0" rtlCol="0" anchor="ctr"/>
          <a:lstStyle/>
          <a:p>
            <a:pPr indent="0" marL="0">
              <a:buNone/>
            </a:pPr>
            <a:r>
              <a:rPr lang="en-US" sz="1400" dirty="0">
                <a:solidFill>
                  <a:srgbClr val="FFFFFF"/>
                </a:solidFill>
              </a:rPr>
              <a:t>1 × Application Support Engineer</a:t>
            </a:r>
            <a:endParaRPr lang="en-US" sz="1400" dirty="0"/>
          </a:p>
        </p:txBody>
      </p:sp>
      <p:sp>
        <p:nvSpPr>
          <p:cNvPr id="14" name="text-297"/>
          <p:cNvSpPr txBox="1"/>
          <p:nvPr/>
        </p:nvSpPr>
        <p:spPr>
          <a:xfrm>
            <a:off x="10607040" y="2871216"/>
            <a:ext cx="777240" cy="347472"/>
          </a:xfrm>
          <a:prstGeom prst="rect">
            <a:avLst/>
          </a:prstGeom>
          <a:noFill/>
          <a:ln/>
        </p:spPr>
        <p:txBody>
          <a:bodyPr wrap="square" lIns="0" tIns="0" rIns="0" bIns="0" rtlCol="0" anchor="ctr"/>
          <a:lstStyle/>
          <a:p>
            <a:pPr algn="r" indent="0" marL="0">
              <a:buNone/>
            </a:pPr>
            <a:r>
              <a:rPr lang="en-US" sz="1300" dirty="0">
                <a:solidFill>
                  <a:srgbClr val="EEF2F9"/>
                </a:solidFill>
              </a:rPr>
              <a:t>4+ yrs</a:t>
            </a:r>
            <a:endParaRPr lang="en-US" sz="1300" dirty="0"/>
          </a:p>
        </p:txBody>
      </p:sp>
      <p:sp>
        <p:nvSpPr>
          <p:cNvPr id="15" name="text-298"/>
          <p:cNvSpPr txBox="1"/>
          <p:nvPr/>
        </p:nvSpPr>
        <p:spPr>
          <a:xfrm>
            <a:off x="8046720" y="3255264"/>
            <a:ext cx="2651760" cy="347472"/>
          </a:xfrm>
          <a:prstGeom prst="rect">
            <a:avLst/>
          </a:prstGeom>
          <a:noFill/>
          <a:ln/>
        </p:spPr>
        <p:txBody>
          <a:bodyPr wrap="square" lIns="0" tIns="0" rIns="0" bIns="0" rtlCol="0" anchor="ctr"/>
          <a:lstStyle/>
          <a:p>
            <a:pPr indent="0" marL="0">
              <a:buNone/>
            </a:pPr>
            <a:r>
              <a:rPr lang="en-US" sz="1400" dirty="0">
                <a:solidFill>
                  <a:srgbClr val="FFFFFF"/>
                </a:solidFill>
              </a:rPr>
              <a:t>1 × Database Administrator</a:t>
            </a:r>
            <a:endParaRPr lang="en-US" sz="1400" dirty="0"/>
          </a:p>
        </p:txBody>
      </p:sp>
      <p:sp>
        <p:nvSpPr>
          <p:cNvPr id="16" name="text-299"/>
          <p:cNvSpPr txBox="1"/>
          <p:nvPr/>
        </p:nvSpPr>
        <p:spPr>
          <a:xfrm>
            <a:off x="10607040" y="3255264"/>
            <a:ext cx="777240" cy="347472"/>
          </a:xfrm>
          <a:prstGeom prst="rect">
            <a:avLst/>
          </a:prstGeom>
          <a:noFill/>
          <a:ln/>
        </p:spPr>
        <p:txBody>
          <a:bodyPr wrap="square" lIns="0" tIns="0" rIns="0" bIns="0" rtlCol="0" anchor="ctr"/>
          <a:lstStyle/>
          <a:p>
            <a:pPr algn="r" indent="0" marL="0">
              <a:buNone/>
            </a:pPr>
            <a:r>
              <a:rPr lang="en-US" sz="1300" dirty="0">
                <a:solidFill>
                  <a:srgbClr val="EEF2F9"/>
                </a:solidFill>
              </a:rPr>
              <a:t>5+ yrs</a:t>
            </a:r>
            <a:endParaRPr lang="en-US" sz="1300" dirty="0"/>
          </a:p>
        </p:txBody>
      </p:sp>
      <p:sp>
        <p:nvSpPr>
          <p:cNvPr id="17" name="text-300"/>
          <p:cNvSpPr txBox="1"/>
          <p:nvPr/>
        </p:nvSpPr>
        <p:spPr>
          <a:xfrm>
            <a:off x="8046720" y="3639312"/>
            <a:ext cx="2651760" cy="347472"/>
          </a:xfrm>
          <a:prstGeom prst="rect">
            <a:avLst/>
          </a:prstGeom>
          <a:noFill/>
          <a:ln/>
        </p:spPr>
        <p:txBody>
          <a:bodyPr wrap="square" lIns="0" tIns="0" rIns="0" bIns="0" rtlCol="0" anchor="ctr"/>
          <a:lstStyle/>
          <a:p>
            <a:pPr indent="0" marL="0">
              <a:buNone/>
            </a:pPr>
            <a:r>
              <a:rPr lang="en-US" sz="1400" dirty="0">
                <a:solidFill>
                  <a:srgbClr val="FFFFFF"/>
                </a:solidFill>
              </a:rPr>
              <a:t>1 × Cloud Support Engineer</a:t>
            </a:r>
            <a:endParaRPr lang="en-US" sz="1400" dirty="0"/>
          </a:p>
        </p:txBody>
      </p:sp>
      <p:sp>
        <p:nvSpPr>
          <p:cNvPr id="18" name="text-301"/>
          <p:cNvSpPr txBox="1"/>
          <p:nvPr/>
        </p:nvSpPr>
        <p:spPr>
          <a:xfrm>
            <a:off x="10607040" y="3639312"/>
            <a:ext cx="777240" cy="347472"/>
          </a:xfrm>
          <a:prstGeom prst="rect">
            <a:avLst/>
          </a:prstGeom>
          <a:noFill/>
          <a:ln/>
        </p:spPr>
        <p:txBody>
          <a:bodyPr wrap="square" lIns="0" tIns="0" rIns="0" bIns="0" rtlCol="0" anchor="ctr"/>
          <a:lstStyle/>
          <a:p>
            <a:pPr algn="r" indent="0" marL="0">
              <a:buNone/>
            </a:pPr>
            <a:r>
              <a:rPr lang="en-US" sz="1300" dirty="0">
                <a:solidFill>
                  <a:srgbClr val="EEF2F9"/>
                </a:solidFill>
              </a:rPr>
              <a:t>5+ yrs</a:t>
            </a:r>
            <a:endParaRPr lang="en-US" sz="1300" dirty="0"/>
          </a:p>
        </p:txBody>
      </p:sp>
      <p:sp>
        <p:nvSpPr>
          <p:cNvPr id="19" name="text-302"/>
          <p:cNvSpPr txBox="1"/>
          <p:nvPr/>
        </p:nvSpPr>
        <p:spPr>
          <a:xfrm>
            <a:off x="8046720" y="4023360"/>
            <a:ext cx="2651760" cy="347472"/>
          </a:xfrm>
          <a:prstGeom prst="rect">
            <a:avLst/>
          </a:prstGeom>
          <a:noFill/>
          <a:ln/>
        </p:spPr>
        <p:txBody>
          <a:bodyPr wrap="square" lIns="0" tIns="0" rIns="0" bIns="0" rtlCol="0" anchor="ctr"/>
          <a:lstStyle/>
          <a:p>
            <a:pPr indent="0" marL="0">
              <a:buNone/>
            </a:pPr>
            <a:r>
              <a:rPr lang="en-US" sz="1400" dirty="0">
                <a:solidFill>
                  <a:srgbClr val="FFFFFF"/>
                </a:solidFill>
              </a:rPr>
              <a:t>1 × Helpdesk Support Executive</a:t>
            </a:r>
            <a:endParaRPr lang="en-US" sz="1400" dirty="0"/>
          </a:p>
        </p:txBody>
      </p:sp>
      <p:sp>
        <p:nvSpPr>
          <p:cNvPr id="20" name="text-303"/>
          <p:cNvSpPr txBox="1"/>
          <p:nvPr/>
        </p:nvSpPr>
        <p:spPr>
          <a:xfrm>
            <a:off x="10607040" y="4023360"/>
            <a:ext cx="777240" cy="347472"/>
          </a:xfrm>
          <a:prstGeom prst="rect">
            <a:avLst/>
          </a:prstGeom>
          <a:noFill/>
          <a:ln/>
        </p:spPr>
        <p:txBody>
          <a:bodyPr wrap="square" lIns="0" tIns="0" rIns="0" bIns="0" rtlCol="0" anchor="ctr"/>
          <a:lstStyle/>
          <a:p>
            <a:pPr algn="r" indent="0" marL="0">
              <a:buNone/>
            </a:pPr>
            <a:r>
              <a:rPr lang="en-US" sz="1300" dirty="0">
                <a:solidFill>
                  <a:srgbClr val="EEF2F9"/>
                </a:solidFill>
              </a:rPr>
              <a:t>3+ yrs</a:t>
            </a:r>
            <a:endParaRPr lang="en-US" sz="1300" dirty="0"/>
          </a:p>
        </p:txBody>
      </p:sp>
      <p:sp>
        <p:nvSpPr>
          <p:cNvPr id="21" name="text-304"/>
          <p:cNvSpPr txBox="1"/>
          <p:nvPr/>
        </p:nvSpPr>
        <p:spPr>
          <a:xfrm>
            <a:off x="8046720" y="4572000"/>
            <a:ext cx="3383280" cy="13716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EEF2F9"/>
                </a:solidFill>
              </a:rPr>
              <a:t>Helpdesk staffed 24x7 on shifts</a:t>
            </a:r>
            <a:endParaRPr lang="en-US" sz="1400" dirty="0"/>
          </a:p>
          <a:p>
            <a:pPr marL="177800" indent="-177800">
              <a:spcAft>
                <a:spcPts val="500"/>
              </a:spcAft>
              <a:buSzPct val="100000"/>
              <a:buChar char="•"/>
            </a:pPr>
            <a:r>
              <a:rPr lang="en-US" sz="1300" dirty="0">
                <a:solidFill>
                  <a:srgbClr val="EEF2F9"/>
                </a:solidFill>
              </a:rPr>
              <a:t>Support team on site at the Department</a:t>
            </a:r>
            <a:endParaRPr lang="en-US" sz="1400" dirty="0"/>
          </a:p>
          <a:p>
            <a:pPr marL="177800" indent="-177800">
              <a:spcAft>
                <a:spcPts val="500"/>
              </a:spcAft>
              <a:buSzPct val="100000"/>
              <a:buChar char="•"/>
            </a:pPr>
            <a:r>
              <a:rPr lang="en-US" sz="1300" dirty="0">
                <a:solidFill>
                  <a:srgbClr val="EEF2F9"/>
                </a:solidFill>
              </a:rPr>
              <a:t>Development bench on call for L3 fixes</a:t>
            </a:r>
            <a:endParaRPr lang="en-US" sz="1400" dirty="0"/>
          </a:p>
        </p:txBody>
      </p:sp>
      <p:sp>
        <p:nvSpPr>
          <p:cNvPr id="24" name="KeyPoint band blue"/>
          <p:cNvSpPr/>
          <p:nvPr/>
        </p:nvSpPr>
        <p:spPr>
          <a:xfrm>
            <a:off x="0" y="6611000"/>
            <a:ext cx="8298000" cy="247000"/>
          </a:xfrm>
          <a:prstGeom prst="rect">
            <a:avLst/>
          </a:prstGeom>
          <a:solidFill>
            <a:srgbClr val="3767B1"/>
          </a:solidFill>
          <a:ln>
            <a:noFill/>
          </a:ln>
        </p:spPr>
      </p:sp>
      <p:sp>
        <p:nvSpPr>
          <p:cNvPr id="25" name="KeyPoint band orange"/>
          <p:cNvSpPr/>
          <p:nvPr/>
        </p:nvSpPr>
        <p:spPr>
          <a:xfrm>
            <a:off x="8298000" y="6611000"/>
            <a:ext cx="3894000" cy="247000"/>
          </a:xfrm>
          <a:prstGeom prst="rect">
            <a:avLst/>
          </a:prstGeom>
          <a:solidFill>
            <a:srgbClr val="FF6100"/>
          </a:solidFill>
          <a:ln>
            <a:noFill/>
          </a:ln>
        </p:spPr>
      </p:sp>
      <p:sp>
        <p:nvSpPr>
          <p:cNvPr id="22" name="KeyPoint logo box"/>
          <p:cNvSpPr/>
          <p:nvPr/>
        </p:nvSpPr>
        <p:spPr>
          <a:xfrm>
            <a:off x="9972675" y="142875"/>
            <a:ext cx="2162175" cy="704850"/>
          </a:xfrm>
          <a:custGeom>
            <a:avLst/>
            <a:gdLst/>
            <a:ahLst/>
            <a:cxnLst/>
            <a:rect l="l" t="t" r="r" b="b"/>
            <a:pathLst>
              <a:path w="2162175" h="704850">
                <a:moveTo>
                  <a:pt x="2044700" y="0"/>
                </a:moveTo>
                <a:lnTo>
                  <a:pt x="117475" y="0"/>
                </a:lnTo>
                <a:lnTo>
                  <a:pt x="71741" y="9229"/>
                </a:lnTo>
                <a:lnTo>
                  <a:pt x="34401" y="34401"/>
                </a:lnTo>
                <a:lnTo>
                  <a:pt x="9229" y="71741"/>
                </a:lnTo>
                <a:lnTo>
                  <a:pt x="0" y="117475"/>
                </a:lnTo>
                <a:lnTo>
                  <a:pt x="0" y="587375"/>
                </a:lnTo>
                <a:lnTo>
                  <a:pt x="9229" y="633108"/>
                </a:lnTo>
                <a:lnTo>
                  <a:pt x="34401" y="670448"/>
                </a:lnTo>
                <a:lnTo>
                  <a:pt x="71741" y="695620"/>
                </a:lnTo>
                <a:lnTo>
                  <a:pt x="117475" y="704850"/>
                </a:lnTo>
                <a:lnTo>
                  <a:pt x="2044700" y="704850"/>
                </a:lnTo>
                <a:lnTo>
                  <a:pt x="2090433" y="695620"/>
                </a:lnTo>
                <a:lnTo>
                  <a:pt x="2127773" y="670448"/>
                </a:lnTo>
                <a:lnTo>
                  <a:pt x="2152945" y="633108"/>
                </a:lnTo>
                <a:lnTo>
                  <a:pt x="2162175" y="587375"/>
                </a:lnTo>
                <a:lnTo>
                  <a:pt x="2162175" y="117475"/>
                </a:lnTo>
                <a:lnTo>
                  <a:pt x="2152945" y="71741"/>
                </a:lnTo>
                <a:lnTo>
                  <a:pt x="2127773" y="34401"/>
                </a:lnTo>
                <a:lnTo>
                  <a:pt x="2090433" y="9229"/>
                </a:lnTo>
                <a:lnTo>
                  <a:pt x="2044700" y="0"/>
                </a:lnTo>
                <a:close/>
              </a:path>
            </a:pathLst>
          </a:custGeom>
          <a:solidFill>
            <a:srgbClr val="FFFFFF"/>
          </a:solidFill>
        </p:spPr>
        <p:txBody>
          <a:bodyPr wrap="square" lIns="0" tIns="0" rIns="0" bIns="0" rtlCol="0"/>
          <a:lstStyle/>
          <a:p/>
        </p:txBody>
      </p:sp>
      <p:pic>
        <p:nvPicPr>
          <p:cNvPr id="23" name="KeyPoint logo" descr="KeyPoint Technologies logo"/>
          <p:cNvPicPr/>
          <p:nvPr/>
        </p:nvPicPr>
        <p:blipFill>
          <a:blip r:embed="rIdKpLogo" cstate="print"/>
          <a:stretch>
            <a:fillRect/>
          </a:stretch>
        </p:blipFill>
        <p:spPr>
          <a:xfrm>
            <a:off x="10134600" y="209550"/>
            <a:ext cx="1828800" cy="55245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305"/>
          <p:cNvSpPr txBox="1"/>
          <p:nvPr/>
        </p:nvSpPr>
        <p:spPr>
          <a:xfrm>
            <a:off x="548640" y="274320"/>
            <a:ext cx="10972800" cy="256032"/>
          </a:xfrm>
          <a:prstGeom prst="rect">
            <a:avLst/>
          </a:prstGeom>
          <a:noFill/>
          <a:ln/>
        </p:spPr>
        <p:txBody>
          <a:bodyPr wrap="square" lIns="0" tIns="0" rIns="0" bIns="0" rtlCol="0" anchor="ctr"/>
          <a:lstStyle/>
          <a:p>
            <a:pPr indent="0" marL="0">
              <a:buNone/>
            </a:pPr>
            <a:r>
              <a:rPr lang="en-US" sz="1100" b="1" spc="200" kern="0" dirty="0">
                <a:solidFill>
                  <a:srgbClr val="2E5FAE"/>
                </a:solidFill>
              </a:rPr>
              <a:t>05 · TRAINING PLAN</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rgbClr val="0B318F"/>
                </a:solidFill>
              </a:rPr>
              <a:t>Training plan</a:t>
            </a:r>
            <a:endParaRPr lang="en-US" sz="3200" dirty="0"/>
          </a:p>
        </p:txBody>
      </p:sp>
      <p:graphicFrame>
        <p:nvGraphicFramePr>
          <p:cNvPr id="11" name="table-306"/>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286000"/>
                <a:gridCol w="3291840"/>
                <a:gridCol w="1920240"/>
                <a:gridCol w="1005840"/>
                <a:gridCol w="1371600"/>
                <a:gridCol w="1188720"/>
              </a:tblGrid>
              <a:tr h="457200">
                <a:tc>
                  <a:txBody>
                    <a:bodyPr/>
                    <a:lstStyle/>
                    <a:p>
                      <a:pPr algn="l" indent="0" marL="0">
                        <a:buNone/>
                      </a:pPr>
                      <a:r>
                        <a:rPr lang="en-US" sz="1200" b="1" dirty="0">
                          <a:solidFill>
                            <a:srgbClr val="FFFFFF"/>
                          </a:solidFill>
                        </a:rPr>
                        <a:t>Audience</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2E5FAE"/>
                    </a:solidFill>
                  </a:tcPr>
                </a:tc>
                <a:tc>
                  <a:txBody>
                    <a:bodyPr/>
                    <a:lstStyle/>
                    <a:p>
                      <a:pPr algn="l" indent="0" marL="0">
                        <a:buNone/>
                      </a:pPr>
                      <a:r>
                        <a:rPr lang="en-US" sz="1200" b="1" dirty="0">
                          <a:solidFill>
                            <a:srgbClr val="FFFFFF"/>
                          </a:solidFill>
                        </a:rPr>
                        <a:t>Content</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2E5FAE"/>
                    </a:solidFill>
                  </a:tcPr>
                </a:tc>
                <a:tc>
                  <a:txBody>
                    <a:bodyPr/>
                    <a:lstStyle/>
                    <a:p>
                      <a:pPr algn="l" indent="0" marL="0">
                        <a:buNone/>
                      </a:pPr>
                      <a:r>
                        <a:rPr lang="en-US" sz="1200" b="1" dirty="0">
                          <a:solidFill>
                            <a:srgbClr val="FFFFFF"/>
                          </a:solidFill>
                        </a:rPr>
                        <a:t>Mode</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2E5FAE"/>
                    </a:solidFill>
                  </a:tcPr>
                </a:tc>
                <a:tc>
                  <a:txBody>
                    <a:bodyPr/>
                    <a:lstStyle/>
                    <a:p>
                      <a:pPr algn="l" indent="0" marL="0">
                        <a:buNone/>
                      </a:pPr>
                      <a:r>
                        <a:rPr lang="en-US" sz="1200" b="1" dirty="0">
                          <a:solidFill>
                            <a:srgbClr val="FFFFFF"/>
                          </a:solidFill>
                        </a:rPr>
                        <a:t>Duration</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2E5FAE"/>
                    </a:solidFill>
                  </a:tcPr>
                </a:tc>
                <a:tc>
                  <a:txBody>
                    <a:bodyPr/>
                    <a:lstStyle/>
                    <a:p>
                      <a:pPr algn="l" indent="0" marL="0">
                        <a:buNone/>
                      </a:pPr>
                      <a:r>
                        <a:rPr lang="en-US" sz="1200" b="1" dirty="0">
                          <a:solidFill>
                            <a:srgbClr val="FFFFFF"/>
                          </a:solidFill>
                        </a:rPr>
                        <a:t>Language</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2E5FAE"/>
                    </a:solidFill>
                  </a:tcPr>
                </a:tc>
                <a:tc>
                  <a:txBody>
                    <a:bodyPr/>
                    <a:lstStyle/>
                    <a:p>
                      <a:pPr algn="l" indent="0" marL="0">
                        <a:buNone/>
                      </a:pPr>
                      <a:r>
                        <a:rPr lang="en-US" sz="1200" b="1" dirty="0">
                          <a:solidFill>
                            <a:srgbClr val="FFFFFF"/>
                          </a:solidFill>
                        </a:rPr>
                        <a:t>When</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2E5FAE"/>
                    </a:solidFill>
                  </a:tcPr>
                </a:tc>
              </a:tr>
              <a:tr h="457200">
                <a:tc>
                  <a:txBody>
                    <a:bodyPr/>
                    <a:lstStyle/>
                    <a:p>
                      <a:pPr algn="l" indent="0" marL="0">
                        <a:buNone/>
                      </a:pPr>
                      <a:r>
                        <a:rPr lang="en-US" sz="1200" b="1" dirty="0">
                          <a:solidFill>
                            <a:srgbClr val="1A1F2B"/>
                          </a:solidFill>
                        </a:rPr>
                        <a:t>Senior officers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Executive dashboards, MIS reports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Briefing and demo</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Half day</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English / Telugu</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T+80</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1A1F2B"/>
                          </a:solidFill>
                        </a:rPr>
                        <a:t>District Mines Officers, ADs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GIS portal, lease records, compliance, approvals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Hands-on lab</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2 days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English / Telugu</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T+76 to T+86</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r>
              <a:tr h="457200">
                <a:tc>
                  <a:txBody>
                    <a:bodyPr/>
                    <a:lstStyle/>
                    <a:p>
                      <a:pPr algn="l" indent="0" marL="0">
                        <a:buNone/>
                      </a:pPr>
                      <a:r>
                        <a:rPr lang="en-US" sz="1200" b="1" dirty="0">
                          <a:solidFill>
                            <a:srgbClr val="1A1F2B"/>
                          </a:solidFill>
                        </a:rPr>
                        <a:t>Field officers, inspectors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Mobile map, field verification</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At district clusters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1 day</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Telugu first</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T+80 to T+90</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1A1F2B"/>
                          </a:solidFill>
                        </a:rPr>
                        <a:t>Data entry operators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Monthly returns, bulk upload, documents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Hands-on lab</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1 day</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Telugu / English</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T+78</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r>
              <a:tr h="457200">
                <a:tc>
                  <a:txBody>
                    <a:bodyPr/>
                    <a:lstStyle/>
                    <a:p>
                      <a:pPr algn="l" indent="0" marL="0">
                        <a:buNone/>
                      </a:pPr>
                      <a:r>
                        <a:rPr lang="en-US" sz="1200" b="1" dirty="0">
                          <a:solidFill>
                            <a:srgbClr val="1A1F2B"/>
                          </a:solidFill>
                        </a:rPr>
                        <a:t>Revenue and accounts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Royalty, collections, reminders, reports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Hands-on lab</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1 day</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English / Telugu</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T+82</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1A1F2B"/>
                          </a:solidFill>
                        </a:rPr>
                        <a:t>System administrators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Users, roles, audit logs, backups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Workshop</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2 days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English</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200" dirty="0">
                          <a:solidFill>
                            <a:srgbClr val="1A1F2B"/>
                          </a:solidFill>
                        </a:rPr>
                        <a:t>T+84</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r>
              <a:tr h="457200">
                <a:tc>
                  <a:txBody>
                    <a:bodyPr/>
                    <a:lstStyle/>
                    <a:p>
                      <a:pPr algn="l" indent="0" marL="0">
                        <a:buNone/>
                      </a:pPr>
                      <a:r>
                        <a:rPr lang="en-US" sz="1200" b="1" dirty="0">
                          <a:solidFill>
                            <a:srgbClr val="1A1F2B"/>
                          </a:solidFill>
                        </a:rPr>
                        <a:t>Technical team (KT)</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Architecture, deployment, troubleshooting, source code</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Workshop and shadowing</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5 days</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English</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F2B"/>
                          </a:solidFill>
                        </a:rPr>
                        <a:t>T+85 and at exit</a:t>
                      </a:r>
                      <a:endParaRPr lang="en-US" sz="12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r>
            </a:tbl>
          </a:graphicData>
        </a:graphic>
      </p:graphicFrame>
      <p:sp>
        <p:nvSpPr>
          <p:cNvPr id="6" name="card-307"/>
          <p:cNvSpPr/>
          <p:nvPr/>
        </p:nvSpPr>
        <p:spPr>
          <a:xfrm>
            <a:off x="548640" y="5166360"/>
            <a:ext cx="3566160" cy="914400"/>
          </a:xfrm>
          <a:prstGeom prst="roundRect">
            <a:avLst>
              <a:gd name="adj" fmla="val 8000"/>
            </a:avLst>
          </a:prstGeom>
          <a:solidFill>
            <a:srgbClr val="EEF2F9"/>
          </a:solidFill>
          <a:ln/>
        </p:spPr>
      </p:sp>
      <p:sp>
        <p:nvSpPr>
          <p:cNvPr id="7" name="icon-bg-308"/>
          <p:cNvSpPr/>
          <p:nvPr/>
        </p:nvSpPr>
        <p:spPr>
          <a:xfrm>
            <a:off x="731520" y="5303520"/>
            <a:ext cx="640080" cy="640080"/>
          </a:xfrm>
          <a:prstGeom prst="ellipse">
            <a:avLst/>
          </a:prstGeom>
          <a:solidFill>
            <a:srgbClr val="2E5FAE"/>
          </a:solidFill>
          <a:ln/>
        </p:spPr>
      </p:sp>
      <p:pic>
        <p:nvPicPr>
          <p:cNvPr id="8" name="icon-309" descr="preencoded.png">    </p:cNvPr>
          <p:cNvPicPr>
            <a:picLocks noChangeAspect="1"/>
          </p:cNvPicPr>
          <p:nvPr/>
        </p:nvPicPr>
        <p:blipFill>
          <a:blip r:embed="rId1"/>
          <a:stretch>
            <a:fillRect/>
          </a:stretch>
        </p:blipFill>
        <p:spPr>
          <a:xfrm>
            <a:off x="872338" y="5444338"/>
            <a:ext cx="358445" cy="358445"/>
          </a:xfrm>
          <a:prstGeom prst="rect">
            <a:avLst/>
          </a:prstGeom>
        </p:spPr>
      </p:pic>
      <p:sp>
        <p:nvSpPr>
          <p:cNvPr id="9" name="text-310"/>
          <p:cNvSpPr txBox="1"/>
          <p:nvPr/>
        </p:nvSpPr>
        <p:spPr>
          <a:xfrm>
            <a:off x="1508760" y="5257800"/>
            <a:ext cx="2514600" cy="320040"/>
          </a:xfrm>
          <a:prstGeom prst="rect">
            <a:avLst/>
          </a:prstGeom>
          <a:noFill/>
          <a:ln/>
        </p:spPr>
        <p:txBody>
          <a:bodyPr wrap="square" lIns="0" tIns="0" rIns="0" bIns="0" rtlCol="0" anchor="t"/>
          <a:lstStyle/>
          <a:p>
            <a:pPr indent="0" marL="0">
              <a:buNone/>
            </a:pPr>
            <a:r>
              <a:rPr lang="en-US" sz="1500" b="1" dirty="0">
                <a:solidFill>
                  <a:srgbClr val="0B318F"/>
                </a:solidFill>
              </a:rPr>
              <a:t>Bilingual materials</a:t>
            </a:r>
            <a:endParaRPr lang="en-US" sz="1500" dirty="0"/>
          </a:p>
        </p:txBody>
      </p:sp>
      <p:sp>
        <p:nvSpPr>
          <p:cNvPr id="10" name="text-311"/>
          <p:cNvSpPr txBox="1"/>
          <p:nvPr/>
        </p:nvSpPr>
        <p:spPr>
          <a:xfrm>
            <a:off x="1508760" y="5577840"/>
            <a:ext cx="2514600" cy="457200"/>
          </a:xfrm>
          <a:prstGeom prst="rect">
            <a:avLst/>
          </a:prstGeom>
          <a:noFill/>
          <a:ln/>
        </p:spPr>
        <p:txBody>
          <a:bodyPr wrap="square" lIns="0" tIns="0" rIns="0" bIns="0" rtlCol="0" anchor="t"/>
          <a:lstStyle/>
          <a:p>
            <a:pPr indent="0" marL="0">
              <a:buNone/>
            </a:pPr>
            <a:r>
              <a:rPr lang="en-US" sz="1200" dirty="0">
                <a:solidFill>
                  <a:srgbClr val="1A1F2B"/>
                </a:solidFill>
              </a:rPr>
              <a:t>Manuals, SOPs and videos in English and Telugu</a:t>
            </a:r>
            <a:endParaRPr lang="en-US" sz="1200" dirty="0"/>
          </a:p>
        </p:txBody>
      </p:sp>
      <p:sp>
        <p:nvSpPr>
          <p:cNvPr id="11" name="card-312"/>
          <p:cNvSpPr/>
          <p:nvPr/>
        </p:nvSpPr>
        <p:spPr>
          <a:xfrm>
            <a:off x="4297680" y="5166360"/>
            <a:ext cx="3566160" cy="914400"/>
          </a:xfrm>
          <a:prstGeom prst="roundRect">
            <a:avLst>
              <a:gd name="adj" fmla="val 8000"/>
            </a:avLst>
          </a:prstGeom>
          <a:solidFill>
            <a:srgbClr val="EEF2F9"/>
          </a:solidFill>
          <a:ln/>
        </p:spPr>
      </p:sp>
      <p:sp>
        <p:nvSpPr>
          <p:cNvPr id="12" name="icon-bg-313"/>
          <p:cNvSpPr/>
          <p:nvPr/>
        </p:nvSpPr>
        <p:spPr>
          <a:xfrm>
            <a:off x="4480560" y="5303520"/>
            <a:ext cx="640080" cy="640080"/>
          </a:xfrm>
          <a:prstGeom prst="ellipse">
            <a:avLst/>
          </a:prstGeom>
          <a:solidFill>
            <a:srgbClr val="2E5FAE"/>
          </a:solidFill>
          <a:ln/>
        </p:spPr>
      </p:sp>
      <p:pic>
        <p:nvPicPr>
          <p:cNvPr id="13" name="icon-314" descr="preencoded.png">    </p:cNvPr>
          <p:cNvPicPr>
            <a:picLocks noChangeAspect="1"/>
          </p:cNvPicPr>
          <p:nvPr/>
        </p:nvPicPr>
        <p:blipFill>
          <a:blip r:embed="rId2"/>
          <a:stretch>
            <a:fillRect/>
          </a:stretch>
        </p:blipFill>
        <p:spPr>
          <a:xfrm>
            <a:off x="4621378" y="5444338"/>
            <a:ext cx="358445" cy="358445"/>
          </a:xfrm>
          <a:prstGeom prst="rect">
            <a:avLst/>
          </a:prstGeom>
        </p:spPr>
      </p:pic>
      <p:sp>
        <p:nvSpPr>
          <p:cNvPr id="14" name="text-315"/>
          <p:cNvSpPr txBox="1"/>
          <p:nvPr/>
        </p:nvSpPr>
        <p:spPr>
          <a:xfrm>
            <a:off x="5257800" y="5257800"/>
            <a:ext cx="2514600" cy="320040"/>
          </a:xfrm>
          <a:prstGeom prst="rect">
            <a:avLst/>
          </a:prstGeom>
          <a:noFill/>
          <a:ln/>
        </p:spPr>
        <p:txBody>
          <a:bodyPr wrap="square" lIns="0" tIns="0" rIns="0" bIns="0" rtlCol="0" anchor="t"/>
          <a:lstStyle/>
          <a:p>
            <a:pPr indent="0" marL="0">
              <a:buNone/>
            </a:pPr>
            <a:r>
              <a:rPr lang="en-US" sz="1500" b="1" dirty="0">
                <a:solidFill>
                  <a:srgbClr val="0B318F"/>
                </a:solidFill>
              </a:rPr>
              <a:t>Train the trainer</a:t>
            </a:r>
            <a:endParaRPr lang="en-US" sz="1500" dirty="0"/>
          </a:p>
        </p:txBody>
      </p:sp>
      <p:sp>
        <p:nvSpPr>
          <p:cNvPr id="15" name="text-316"/>
          <p:cNvSpPr txBox="1"/>
          <p:nvPr/>
        </p:nvSpPr>
        <p:spPr>
          <a:xfrm>
            <a:off x="5257800" y="5577840"/>
            <a:ext cx="2514600" cy="457200"/>
          </a:xfrm>
          <a:prstGeom prst="rect">
            <a:avLst/>
          </a:prstGeom>
          <a:noFill/>
          <a:ln/>
        </p:spPr>
        <p:txBody>
          <a:bodyPr wrap="square" lIns="0" tIns="0" rIns="0" bIns="0" rtlCol="0" anchor="t"/>
          <a:lstStyle/>
          <a:p>
            <a:pPr indent="0" marL="0">
              <a:buNone/>
            </a:pPr>
            <a:r>
              <a:rPr lang="en-US" sz="1200" dirty="0">
                <a:solidFill>
                  <a:srgbClr val="1A1F2B"/>
                </a:solidFill>
              </a:rPr>
              <a:t>2 certified master trainers per district</a:t>
            </a:r>
            <a:endParaRPr lang="en-US" sz="1200" dirty="0"/>
          </a:p>
        </p:txBody>
      </p:sp>
      <p:sp>
        <p:nvSpPr>
          <p:cNvPr id="16" name="card-317"/>
          <p:cNvSpPr/>
          <p:nvPr/>
        </p:nvSpPr>
        <p:spPr>
          <a:xfrm>
            <a:off x="8046720" y="5166360"/>
            <a:ext cx="3566160" cy="914400"/>
          </a:xfrm>
          <a:prstGeom prst="roundRect">
            <a:avLst>
              <a:gd name="adj" fmla="val 8000"/>
            </a:avLst>
          </a:prstGeom>
          <a:solidFill>
            <a:srgbClr val="EEF2F9"/>
          </a:solidFill>
          <a:ln/>
        </p:spPr>
      </p:sp>
      <p:sp>
        <p:nvSpPr>
          <p:cNvPr id="17" name="icon-bg-318"/>
          <p:cNvSpPr/>
          <p:nvPr/>
        </p:nvSpPr>
        <p:spPr>
          <a:xfrm>
            <a:off x="8229600" y="5303520"/>
            <a:ext cx="640080" cy="640080"/>
          </a:xfrm>
          <a:prstGeom prst="ellipse">
            <a:avLst/>
          </a:prstGeom>
          <a:solidFill>
            <a:srgbClr val="2E5FAE"/>
          </a:solidFill>
          <a:ln/>
        </p:spPr>
      </p:sp>
      <p:pic>
        <p:nvPicPr>
          <p:cNvPr id="18" name="icon-319" descr="preencoded.png">    </p:cNvPr>
          <p:cNvPicPr>
            <a:picLocks noChangeAspect="1"/>
          </p:cNvPicPr>
          <p:nvPr/>
        </p:nvPicPr>
        <p:blipFill>
          <a:blip r:embed="rId3"/>
          <a:stretch>
            <a:fillRect/>
          </a:stretch>
        </p:blipFill>
        <p:spPr>
          <a:xfrm>
            <a:off x="8370418" y="5444338"/>
            <a:ext cx="358445" cy="358445"/>
          </a:xfrm>
          <a:prstGeom prst="rect">
            <a:avLst/>
          </a:prstGeom>
        </p:spPr>
      </p:pic>
      <p:sp>
        <p:nvSpPr>
          <p:cNvPr id="19" name="text-320"/>
          <p:cNvSpPr txBox="1"/>
          <p:nvPr/>
        </p:nvSpPr>
        <p:spPr>
          <a:xfrm>
            <a:off x="9006840" y="5257800"/>
            <a:ext cx="2514600" cy="320040"/>
          </a:xfrm>
          <a:prstGeom prst="rect">
            <a:avLst/>
          </a:prstGeom>
          <a:noFill/>
          <a:ln/>
        </p:spPr>
        <p:txBody>
          <a:bodyPr wrap="square" lIns="0" tIns="0" rIns="0" bIns="0" rtlCol="0" anchor="t"/>
          <a:lstStyle/>
          <a:p>
            <a:pPr indent="0" marL="0">
              <a:buNone/>
            </a:pPr>
            <a:r>
              <a:rPr lang="en-US" sz="1500" b="1" dirty="0">
                <a:solidFill>
                  <a:srgbClr val="0B318F"/>
                </a:solidFill>
              </a:rPr>
              <a:t>During O&amp;M</a:t>
            </a:r>
            <a:endParaRPr lang="en-US" sz="1500" dirty="0"/>
          </a:p>
        </p:txBody>
      </p:sp>
      <p:sp>
        <p:nvSpPr>
          <p:cNvPr id="20" name="text-321"/>
          <p:cNvSpPr txBox="1"/>
          <p:nvPr/>
        </p:nvSpPr>
        <p:spPr>
          <a:xfrm>
            <a:off x="9006840" y="5577840"/>
            <a:ext cx="2514600" cy="457200"/>
          </a:xfrm>
          <a:prstGeom prst="rect">
            <a:avLst/>
          </a:prstGeom>
          <a:noFill/>
          <a:ln/>
        </p:spPr>
        <p:txBody>
          <a:bodyPr wrap="square" lIns="0" tIns="0" rIns="0" bIns="0" rtlCol="0" anchor="t"/>
          <a:lstStyle/>
          <a:p>
            <a:pPr indent="0" marL="0">
              <a:buNone/>
            </a:pPr>
            <a:r>
              <a:rPr lang="en-US" sz="1200" dirty="0">
                <a:solidFill>
                  <a:srgbClr val="1A1F2B"/>
                </a:solidFill>
              </a:rPr>
              <a:t>Monthly onboarding, quarterly refreshers</a:t>
            </a:r>
            <a:endParaRPr lang="en-US" sz="1200" dirty="0"/>
          </a:p>
        </p:txBody>
      </p:sp>
      <p:sp>
        <p:nvSpPr>
          <p:cNvPr id="23" name="KeyPoint band blue"/>
          <p:cNvSpPr/>
          <p:nvPr/>
        </p:nvSpPr>
        <p:spPr>
          <a:xfrm>
            <a:off x="0" y="6611000"/>
            <a:ext cx="8298000" cy="247000"/>
          </a:xfrm>
          <a:prstGeom prst="rect">
            <a:avLst/>
          </a:prstGeom>
          <a:solidFill>
            <a:srgbClr val="3767B1"/>
          </a:solidFill>
          <a:ln>
            <a:noFill/>
          </a:ln>
        </p:spPr>
      </p:sp>
      <p:sp>
        <p:nvSpPr>
          <p:cNvPr id="24" name="KeyPoint band orange"/>
          <p:cNvSpPr/>
          <p:nvPr/>
        </p:nvSpPr>
        <p:spPr>
          <a:xfrm>
            <a:off x="8298000" y="6611000"/>
            <a:ext cx="3894000" cy="247000"/>
          </a:xfrm>
          <a:prstGeom prst="rect">
            <a:avLst/>
          </a:prstGeom>
          <a:solidFill>
            <a:srgbClr val="FF6100"/>
          </a:solidFill>
          <a:ln>
            <a:noFill/>
          </a:ln>
        </p:spPr>
      </p:sp>
      <p:sp>
        <p:nvSpPr>
          <p:cNvPr id="21" name="KeyPoint logo box"/>
          <p:cNvSpPr/>
          <p:nvPr/>
        </p:nvSpPr>
        <p:spPr>
          <a:xfrm>
            <a:off x="9972675" y="142875"/>
            <a:ext cx="2162175" cy="704850"/>
          </a:xfrm>
          <a:custGeom>
            <a:avLst/>
            <a:gdLst/>
            <a:ahLst/>
            <a:cxnLst/>
            <a:rect l="l" t="t" r="r" b="b"/>
            <a:pathLst>
              <a:path w="2162175" h="704850">
                <a:moveTo>
                  <a:pt x="2044700" y="0"/>
                </a:moveTo>
                <a:lnTo>
                  <a:pt x="117475" y="0"/>
                </a:lnTo>
                <a:lnTo>
                  <a:pt x="71741" y="9229"/>
                </a:lnTo>
                <a:lnTo>
                  <a:pt x="34401" y="34401"/>
                </a:lnTo>
                <a:lnTo>
                  <a:pt x="9229" y="71741"/>
                </a:lnTo>
                <a:lnTo>
                  <a:pt x="0" y="117475"/>
                </a:lnTo>
                <a:lnTo>
                  <a:pt x="0" y="587375"/>
                </a:lnTo>
                <a:lnTo>
                  <a:pt x="9229" y="633108"/>
                </a:lnTo>
                <a:lnTo>
                  <a:pt x="34401" y="670448"/>
                </a:lnTo>
                <a:lnTo>
                  <a:pt x="71741" y="695620"/>
                </a:lnTo>
                <a:lnTo>
                  <a:pt x="117475" y="704850"/>
                </a:lnTo>
                <a:lnTo>
                  <a:pt x="2044700" y="704850"/>
                </a:lnTo>
                <a:lnTo>
                  <a:pt x="2090433" y="695620"/>
                </a:lnTo>
                <a:lnTo>
                  <a:pt x="2127773" y="670448"/>
                </a:lnTo>
                <a:lnTo>
                  <a:pt x="2152945" y="633108"/>
                </a:lnTo>
                <a:lnTo>
                  <a:pt x="2162175" y="587375"/>
                </a:lnTo>
                <a:lnTo>
                  <a:pt x="2162175" y="117475"/>
                </a:lnTo>
                <a:lnTo>
                  <a:pt x="2152945" y="71741"/>
                </a:lnTo>
                <a:lnTo>
                  <a:pt x="2127773" y="34401"/>
                </a:lnTo>
                <a:lnTo>
                  <a:pt x="2090433" y="9229"/>
                </a:lnTo>
                <a:lnTo>
                  <a:pt x="2044700" y="0"/>
                </a:lnTo>
                <a:close/>
              </a:path>
            </a:pathLst>
          </a:custGeom>
          <a:solidFill>
            <a:srgbClr val="FFFFFF"/>
          </a:solidFill>
        </p:spPr>
        <p:txBody>
          <a:bodyPr wrap="square" lIns="0" tIns="0" rIns="0" bIns="0" rtlCol="0"/>
          <a:lstStyle/>
          <a:p/>
        </p:txBody>
      </p:sp>
      <p:pic>
        <p:nvPicPr>
          <p:cNvPr id="22" name="KeyPoint logo" descr="KeyPoint Technologies logo"/>
          <p:cNvPicPr/>
          <p:nvPr/>
        </p:nvPicPr>
        <p:blipFill>
          <a:blip r:embed="rIdKpLogo" cstate="print"/>
          <a:stretch>
            <a:fillRect/>
          </a:stretch>
        </p:blipFill>
        <p:spPr>
          <a:xfrm>
            <a:off x="10134600" y="209550"/>
            <a:ext cx="1828800" cy="55245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322"/>
          <p:cNvSpPr txBox="1"/>
          <p:nvPr/>
        </p:nvSpPr>
        <p:spPr>
          <a:xfrm>
            <a:off x="548640" y="274320"/>
            <a:ext cx="10972800" cy="256032"/>
          </a:xfrm>
          <a:prstGeom prst="rect">
            <a:avLst/>
          </a:prstGeom>
          <a:noFill/>
          <a:ln/>
        </p:spPr>
        <p:txBody>
          <a:bodyPr wrap="square" lIns="0" tIns="0" rIns="0" bIns="0" rtlCol="0" anchor="ctr"/>
          <a:lstStyle/>
          <a:p>
            <a:pPr indent="0" marL="0">
              <a:buNone/>
            </a:pPr>
            <a:r>
              <a:rPr lang="en-US" sz="1100" b="1" spc="200" kern="0" dirty="0">
                <a:solidFill>
                  <a:srgbClr val="2E5FAE"/>
                </a:solidFill>
              </a:rPr>
              <a:t>06 · O&amp;M STRATEGY &amp; HELPDESK SETUP</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rgbClr val="0B318F"/>
                </a:solidFill>
              </a:rPr>
              <a:t>O&amp;M strategy and helpdesk setup</a:t>
            </a:r>
            <a:endParaRPr lang="en-US" sz="3200" dirty="0"/>
          </a:p>
        </p:txBody>
      </p:sp>
      <p:sp>
        <p:nvSpPr>
          <p:cNvPr id="5" name="text-323"/>
          <p:cNvSpPr txBox="1"/>
          <p:nvPr/>
        </p:nvSpPr>
        <p:spPr>
          <a:xfrm>
            <a:off x="548640" y="1417320"/>
            <a:ext cx="5486400" cy="320040"/>
          </a:xfrm>
          <a:prstGeom prst="rect">
            <a:avLst/>
          </a:prstGeom>
          <a:noFill/>
          <a:ln/>
        </p:spPr>
        <p:txBody>
          <a:bodyPr wrap="square" lIns="0" tIns="0" rIns="0" bIns="0" rtlCol="0" anchor="t"/>
          <a:lstStyle/>
          <a:p>
            <a:pPr indent="0" marL="0">
              <a:buNone/>
            </a:pPr>
            <a:r>
              <a:rPr lang="en-US" sz="1600" b="1" dirty="0">
                <a:solidFill>
                  <a:srgbClr val="0B318F"/>
                </a:solidFill>
              </a:rPr>
              <a:t>What O&amp;M covers for 33 months</a:t>
            </a:r>
            <a:endParaRPr lang="en-US" sz="1600" dirty="0"/>
          </a:p>
        </p:txBody>
      </p:sp>
      <p:sp>
        <p:nvSpPr>
          <p:cNvPr id="6" name="icon-bg-324"/>
          <p:cNvSpPr/>
          <p:nvPr/>
        </p:nvSpPr>
        <p:spPr>
          <a:xfrm>
            <a:off x="548640" y="1874520"/>
            <a:ext cx="548640" cy="548640"/>
          </a:xfrm>
          <a:prstGeom prst="ellipse">
            <a:avLst/>
          </a:prstGeom>
          <a:solidFill>
            <a:srgbClr val="2E5FAE"/>
          </a:solidFill>
          <a:ln/>
        </p:spPr>
      </p:sp>
      <p:pic>
        <p:nvPicPr>
          <p:cNvPr id="7" name="icon-325" descr="preencoded.png">    </p:cNvPr>
          <p:cNvPicPr>
            <a:picLocks noChangeAspect="1"/>
          </p:cNvPicPr>
          <p:nvPr/>
        </p:nvPicPr>
        <p:blipFill>
          <a:blip r:embed="rId1"/>
          <a:stretch>
            <a:fillRect/>
          </a:stretch>
        </p:blipFill>
        <p:spPr>
          <a:xfrm>
            <a:off x="669341" y="1995221"/>
            <a:ext cx="307238" cy="307238"/>
          </a:xfrm>
          <a:prstGeom prst="rect">
            <a:avLst/>
          </a:prstGeom>
        </p:spPr>
      </p:pic>
      <p:sp>
        <p:nvSpPr>
          <p:cNvPr id="8" name="text-326"/>
          <p:cNvSpPr txBox="1"/>
          <p:nvPr/>
        </p:nvSpPr>
        <p:spPr>
          <a:xfrm>
            <a:off x="1280160" y="1856232"/>
            <a:ext cx="4480560" cy="301752"/>
          </a:xfrm>
          <a:prstGeom prst="rect">
            <a:avLst/>
          </a:prstGeom>
          <a:noFill/>
          <a:ln/>
        </p:spPr>
        <p:txBody>
          <a:bodyPr wrap="square" lIns="0" tIns="0" rIns="0" bIns="0" rtlCol="0" anchor="t"/>
          <a:lstStyle/>
          <a:p>
            <a:pPr indent="0" marL="0">
              <a:buNone/>
            </a:pPr>
            <a:r>
              <a:rPr lang="en-US" sz="1500" b="1" dirty="0">
                <a:solidFill>
                  <a:srgbClr val="0B318F"/>
                </a:solidFill>
              </a:rPr>
              <a:t>Application maintenance</a:t>
            </a:r>
            <a:endParaRPr lang="en-US" sz="1500" dirty="0"/>
          </a:p>
        </p:txBody>
      </p:sp>
      <p:sp>
        <p:nvSpPr>
          <p:cNvPr id="9" name="text-327"/>
          <p:cNvSpPr txBox="1"/>
          <p:nvPr/>
        </p:nvSpPr>
        <p:spPr>
          <a:xfrm>
            <a:off x="1280160" y="2148840"/>
            <a:ext cx="4480560" cy="320040"/>
          </a:xfrm>
          <a:prstGeom prst="rect">
            <a:avLst/>
          </a:prstGeom>
          <a:noFill/>
          <a:ln/>
        </p:spPr>
        <p:txBody>
          <a:bodyPr wrap="square" lIns="0" tIns="0" rIns="0" bIns="0" rtlCol="0" anchor="t"/>
          <a:lstStyle/>
          <a:p>
            <a:pPr indent="0" marL="0">
              <a:buNone/>
            </a:pPr>
            <a:r>
              <a:rPr lang="en-US" sz="1300" dirty="0">
                <a:solidFill>
                  <a:srgbClr val="1A1F2B"/>
                </a:solidFill>
              </a:rPr>
              <a:t>Bug fixes, approved change requests</a:t>
            </a:r>
            <a:endParaRPr lang="en-US" sz="1300" dirty="0"/>
          </a:p>
        </p:txBody>
      </p:sp>
      <p:sp>
        <p:nvSpPr>
          <p:cNvPr id="10" name="icon-bg-328"/>
          <p:cNvSpPr/>
          <p:nvPr/>
        </p:nvSpPr>
        <p:spPr>
          <a:xfrm>
            <a:off x="548640" y="2587752"/>
            <a:ext cx="548640" cy="548640"/>
          </a:xfrm>
          <a:prstGeom prst="ellipse">
            <a:avLst/>
          </a:prstGeom>
          <a:solidFill>
            <a:srgbClr val="2E5FAE"/>
          </a:solidFill>
          <a:ln/>
        </p:spPr>
      </p:sp>
      <p:pic>
        <p:nvPicPr>
          <p:cNvPr id="11" name="icon-329" descr="preencoded.png">    </p:cNvPr>
          <p:cNvPicPr>
            <a:picLocks noChangeAspect="1"/>
          </p:cNvPicPr>
          <p:nvPr/>
        </p:nvPicPr>
        <p:blipFill>
          <a:blip r:embed="rId2"/>
          <a:stretch>
            <a:fillRect/>
          </a:stretch>
        </p:blipFill>
        <p:spPr>
          <a:xfrm>
            <a:off x="669341" y="2708453"/>
            <a:ext cx="307238" cy="307238"/>
          </a:xfrm>
          <a:prstGeom prst="rect">
            <a:avLst/>
          </a:prstGeom>
        </p:spPr>
      </p:pic>
      <p:sp>
        <p:nvSpPr>
          <p:cNvPr id="12" name="text-330"/>
          <p:cNvSpPr txBox="1"/>
          <p:nvPr/>
        </p:nvSpPr>
        <p:spPr>
          <a:xfrm>
            <a:off x="1280160" y="2569464"/>
            <a:ext cx="4480560" cy="301752"/>
          </a:xfrm>
          <a:prstGeom prst="rect">
            <a:avLst/>
          </a:prstGeom>
          <a:noFill/>
          <a:ln/>
        </p:spPr>
        <p:txBody>
          <a:bodyPr wrap="square" lIns="0" tIns="0" rIns="0" bIns="0" rtlCol="0" anchor="t"/>
          <a:lstStyle/>
          <a:p>
            <a:pPr indent="0" marL="0">
              <a:buNone/>
            </a:pPr>
            <a:r>
              <a:rPr lang="en-US" sz="1500" b="1" dirty="0">
                <a:solidFill>
                  <a:srgbClr val="0B318F"/>
                </a:solidFill>
              </a:rPr>
              <a:t>Infrastructure &amp; cloud</a:t>
            </a:r>
            <a:endParaRPr lang="en-US" sz="1500" dirty="0"/>
          </a:p>
        </p:txBody>
      </p:sp>
      <p:sp>
        <p:nvSpPr>
          <p:cNvPr id="13" name="text-331"/>
          <p:cNvSpPr txBox="1"/>
          <p:nvPr/>
        </p:nvSpPr>
        <p:spPr>
          <a:xfrm>
            <a:off x="1280160" y="2862072"/>
            <a:ext cx="4480560" cy="320040"/>
          </a:xfrm>
          <a:prstGeom prst="rect">
            <a:avLst/>
          </a:prstGeom>
          <a:noFill/>
          <a:ln/>
        </p:spPr>
        <p:txBody>
          <a:bodyPr wrap="square" lIns="0" tIns="0" rIns="0" bIns="0" rtlCol="0" anchor="t"/>
          <a:lstStyle/>
          <a:p>
            <a:pPr indent="0" marL="0">
              <a:buNone/>
            </a:pPr>
            <a:r>
              <a:rPr lang="en-US" sz="1300" dirty="0">
                <a:solidFill>
                  <a:srgbClr val="1A1F2B"/>
                </a:solidFill>
              </a:rPr>
              <a:t>Capacity, scaling, patching</a:t>
            </a:r>
            <a:endParaRPr lang="en-US" sz="1300" dirty="0"/>
          </a:p>
        </p:txBody>
      </p:sp>
      <p:sp>
        <p:nvSpPr>
          <p:cNvPr id="14" name="icon-bg-332"/>
          <p:cNvSpPr/>
          <p:nvPr/>
        </p:nvSpPr>
        <p:spPr>
          <a:xfrm>
            <a:off x="548640" y="3300984"/>
            <a:ext cx="548640" cy="548640"/>
          </a:xfrm>
          <a:prstGeom prst="ellipse">
            <a:avLst/>
          </a:prstGeom>
          <a:solidFill>
            <a:srgbClr val="2E5FAE"/>
          </a:solidFill>
          <a:ln/>
        </p:spPr>
      </p:sp>
      <p:pic>
        <p:nvPicPr>
          <p:cNvPr id="15" name="icon-333" descr="preencoded.png">    </p:cNvPr>
          <p:cNvPicPr>
            <a:picLocks noChangeAspect="1"/>
          </p:cNvPicPr>
          <p:nvPr/>
        </p:nvPicPr>
        <p:blipFill>
          <a:blip r:embed="rId3"/>
          <a:stretch>
            <a:fillRect/>
          </a:stretch>
        </p:blipFill>
        <p:spPr>
          <a:xfrm>
            <a:off x="669341" y="3421685"/>
            <a:ext cx="307238" cy="307238"/>
          </a:xfrm>
          <a:prstGeom prst="rect">
            <a:avLst/>
          </a:prstGeom>
        </p:spPr>
      </p:pic>
      <p:sp>
        <p:nvSpPr>
          <p:cNvPr id="16" name="text-334"/>
          <p:cNvSpPr txBox="1"/>
          <p:nvPr/>
        </p:nvSpPr>
        <p:spPr>
          <a:xfrm>
            <a:off x="1280160" y="3282696"/>
            <a:ext cx="4480560" cy="301752"/>
          </a:xfrm>
          <a:prstGeom prst="rect">
            <a:avLst/>
          </a:prstGeom>
          <a:noFill/>
          <a:ln/>
        </p:spPr>
        <p:txBody>
          <a:bodyPr wrap="square" lIns="0" tIns="0" rIns="0" bIns="0" rtlCol="0" anchor="t"/>
          <a:lstStyle/>
          <a:p>
            <a:pPr indent="0" marL="0">
              <a:buNone/>
            </a:pPr>
            <a:r>
              <a:rPr lang="en-US" sz="1500" b="1" dirty="0">
                <a:solidFill>
                  <a:srgbClr val="0B318F"/>
                </a:solidFill>
              </a:rPr>
              <a:t>Security monitoring</a:t>
            </a:r>
            <a:endParaRPr lang="en-US" sz="1500" dirty="0"/>
          </a:p>
        </p:txBody>
      </p:sp>
      <p:sp>
        <p:nvSpPr>
          <p:cNvPr id="17" name="text-335"/>
          <p:cNvSpPr txBox="1"/>
          <p:nvPr/>
        </p:nvSpPr>
        <p:spPr>
          <a:xfrm>
            <a:off x="1280160" y="3575304"/>
            <a:ext cx="4480560" cy="320040"/>
          </a:xfrm>
          <a:prstGeom prst="rect">
            <a:avLst/>
          </a:prstGeom>
          <a:noFill/>
          <a:ln/>
        </p:spPr>
        <p:txBody>
          <a:bodyPr wrap="square" lIns="0" tIns="0" rIns="0" bIns="0" rtlCol="0" anchor="t"/>
          <a:lstStyle/>
          <a:p>
            <a:pPr indent="0" marL="0">
              <a:buNone/>
            </a:pPr>
            <a:r>
              <a:rPr lang="en-US" sz="1300" dirty="0">
                <a:solidFill>
                  <a:srgbClr val="1A1F2B"/>
                </a:solidFill>
              </a:rPr>
              <a:t>Critical patches in 7 days; incidents reported in 24 h</a:t>
            </a:r>
            <a:endParaRPr lang="en-US" sz="1300" dirty="0"/>
          </a:p>
        </p:txBody>
      </p:sp>
      <p:sp>
        <p:nvSpPr>
          <p:cNvPr id="18" name="icon-bg-336"/>
          <p:cNvSpPr/>
          <p:nvPr/>
        </p:nvSpPr>
        <p:spPr>
          <a:xfrm>
            <a:off x="548640" y="4014216"/>
            <a:ext cx="548640" cy="548640"/>
          </a:xfrm>
          <a:prstGeom prst="ellipse">
            <a:avLst/>
          </a:prstGeom>
          <a:solidFill>
            <a:srgbClr val="2E5FAE"/>
          </a:solidFill>
          <a:ln/>
        </p:spPr>
      </p:sp>
      <p:pic>
        <p:nvPicPr>
          <p:cNvPr id="19" name="icon-337" descr="preencoded.png">    </p:cNvPr>
          <p:cNvPicPr>
            <a:picLocks noChangeAspect="1"/>
          </p:cNvPicPr>
          <p:nvPr/>
        </p:nvPicPr>
        <p:blipFill>
          <a:blip r:embed="rId4"/>
          <a:stretch>
            <a:fillRect/>
          </a:stretch>
        </p:blipFill>
        <p:spPr>
          <a:xfrm>
            <a:off x="669341" y="4134917"/>
            <a:ext cx="307238" cy="307238"/>
          </a:xfrm>
          <a:prstGeom prst="rect">
            <a:avLst/>
          </a:prstGeom>
        </p:spPr>
      </p:pic>
      <p:sp>
        <p:nvSpPr>
          <p:cNvPr id="20" name="text-338"/>
          <p:cNvSpPr txBox="1"/>
          <p:nvPr/>
        </p:nvSpPr>
        <p:spPr>
          <a:xfrm>
            <a:off x="1280160" y="3995928"/>
            <a:ext cx="4480560" cy="301752"/>
          </a:xfrm>
          <a:prstGeom prst="rect">
            <a:avLst/>
          </a:prstGeom>
          <a:noFill/>
          <a:ln/>
        </p:spPr>
        <p:txBody>
          <a:bodyPr wrap="square" lIns="0" tIns="0" rIns="0" bIns="0" rtlCol="0" anchor="t"/>
          <a:lstStyle/>
          <a:p>
            <a:pPr indent="0" marL="0">
              <a:buNone/>
            </a:pPr>
            <a:r>
              <a:rPr lang="en-US" sz="1500" b="1" dirty="0">
                <a:solidFill>
                  <a:srgbClr val="0B318F"/>
                </a:solidFill>
              </a:rPr>
              <a:t>Backup &amp; DR</a:t>
            </a:r>
            <a:endParaRPr lang="en-US" sz="1500" dirty="0"/>
          </a:p>
        </p:txBody>
      </p:sp>
      <p:sp>
        <p:nvSpPr>
          <p:cNvPr id="21" name="text-339"/>
          <p:cNvSpPr txBox="1"/>
          <p:nvPr/>
        </p:nvSpPr>
        <p:spPr>
          <a:xfrm>
            <a:off x="1280160" y="4288536"/>
            <a:ext cx="4480560" cy="320040"/>
          </a:xfrm>
          <a:prstGeom prst="rect">
            <a:avLst/>
          </a:prstGeom>
          <a:noFill/>
          <a:ln/>
        </p:spPr>
        <p:txBody>
          <a:bodyPr wrap="square" lIns="0" tIns="0" rIns="0" bIns="0" rtlCol="0" anchor="t"/>
          <a:lstStyle/>
          <a:p>
            <a:pPr indent="0" marL="0">
              <a:buNone/>
            </a:pPr>
            <a:r>
              <a:rPr lang="en-US" sz="1300" dirty="0">
                <a:solidFill>
                  <a:srgbClr val="1A1F2B"/>
                </a:solidFill>
              </a:rPr>
              <a:t>Daily incremental, weekly full, PITR, DR drills</a:t>
            </a:r>
            <a:endParaRPr lang="en-US" sz="1300" dirty="0"/>
          </a:p>
        </p:txBody>
      </p:sp>
      <p:sp>
        <p:nvSpPr>
          <p:cNvPr id="22" name="icon-bg-340"/>
          <p:cNvSpPr/>
          <p:nvPr/>
        </p:nvSpPr>
        <p:spPr>
          <a:xfrm>
            <a:off x="548640" y="4727448"/>
            <a:ext cx="548640" cy="548640"/>
          </a:xfrm>
          <a:prstGeom prst="ellipse">
            <a:avLst/>
          </a:prstGeom>
          <a:solidFill>
            <a:srgbClr val="2E5FAE"/>
          </a:solidFill>
          <a:ln/>
        </p:spPr>
      </p:sp>
      <p:pic>
        <p:nvPicPr>
          <p:cNvPr id="23" name="icon-341" descr="preencoded.png">    </p:cNvPr>
          <p:cNvPicPr>
            <a:picLocks noChangeAspect="1"/>
          </p:cNvPicPr>
          <p:nvPr/>
        </p:nvPicPr>
        <p:blipFill>
          <a:blip r:embed="rId5"/>
          <a:stretch>
            <a:fillRect/>
          </a:stretch>
        </p:blipFill>
        <p:spPr>
          <a:xfrm>
            <a:off x="669341" y="4848149"/>
            <a:ext cx="307238" cy="307238"/>
          </a:xfrm>
          <a:prstGeom prst="rect">
            <a:avLst/>
          </a:prstGeom>
        </p:spPr>
      </p:pic>
      <p:sp>
        <p:nvSpPr>
          <p:cNvPr id="24" name="text-342"/>
          <p:cNvSpPr txBox="1"/>
          <p:nvPr/>
        </p:nvSpPr>
        <p:spPr>
          <a:xfrm>
            <a:off x="1280160" y="4709160"/>
            <a:ext cx="4480560" cy="301752"/>
          </a:xfrm>
          <a:prstGeom prst="rect">
            <a:avLst/>
          </a:prstGeom>
          <a:noFill/>
          <a:ln/>
        </p:spPr>
        <p:txBody>
          <a:bodyPr wrap="square" lIns="0" tIns="0" rIns="0" bIns="0" rtlCol="0" anchor="t"/>
          <a:lstStyle/>
          <a:p>
            <a:pPr indent="0" marL="0">
              <a:buNone/>
            </a:pPr>
            <a:r>
              <a:rPr lang="en-US" sz="1500" b="1" dirty="0">
                <a:solidFill>
                  <a:srgbClr val="0B318F"/>
                </a:solidFill>
              </a:rPr>
              <a:t>Performance</a:t>
            </a:r>
            <a:endParaRPr lang="en-US" sz="1500" dirty="0"/>
          </a:p>
        </p:txBody>
      </p:sp>
      <p:sp>
        <p:nvSpPr>
          <p:cNvPr id="25" name="text-343"/>
          <p:cNvSpPr txBox="1"/>
          <p:nvPr/>
        </p:nvSpPr>
        <p:spPr>
          <a:xfrm>
            <a:off x="1280160" y="5001768"/>
            <a:ext cx="4480560" cy="320040"/>
          </a:xfrm>
          <a:prstGeom prst="rect">
            <a:avLst/>
          </a:prstGeom>
          <a:noFill/>
          <a:ln/>
        </p:spPr>
        <p:txBody>
          <a:bodyPr wrap="square" lIns="0" tIns="0" rIns="0" bIns="0" rtlCol="0" anchor="t"/>
          <a:lstStyle/>
          <a:p>
            <a:pPr indent="0" marL="0">
              <a:buNone/>
            </a:pPr>
            <a:r>
              <a:rPr lang="en-US" sz="1300" dirty="0">
                <a:solidFill>
                  <a:srgbClr val="1A1F2B"/>
                </a:solidFill>
              </a:rPr>
              <a:t>Monthly health checks and tuning</a:t>
            </a:r>
            <a:endParaRPr lang="en-US" sz="1300" dirty="0"/>
          </a:p>
        </p:txBody>
      </p:sp>
      <p:sp>
        <p:nvSpPr>
          <p:cNvPr id="26" name="icon-bg-344"/>
          <p:cNvSpPr/>
          <p:nvPr/>
        </p:nvSpPr>
        <p:spPr>
          <a:xfrm>
            <a:off x="548640" y="5440680"/>
            <a:ext cx="548640" cy="548640"/>
          </a:xfrm>
          <a:prstGeom prst="ellipse">
            <a:avLst/>
          </a:prstGeom>
          <a:solidFill>
            <a:srgbClr val="2E5FAE"/>
          </a:solidFill>
          <a:ln/>
        </p:spPr>
      </p:sp>
      <p:pic>
        <p:nvPicPr>
          <p:cNvPr id="27" name="icon-345" descr="preencoded.png">    </p:cNvPr>
          <p:cNvPicPr>
            <a:picLocks noChangeAspect="1"/>
          </p:cNvPicPr>
          <p:nvPr/>
        </p:nvPicPr>
        <p:blipFill>
          <a:blip r:embed="rId6"/>
          <a:stretch>
            <a:fillRect/>
          </a:stretch>
        </p:blipFill>
        <p:spPr>
          <a:xfrm>
            <a:off x="669341" y="5561381"/>
            <a:ext cx="307238" cy="307238"/>
          </a:xfrm>
          <a:prstGeom prst="rect">
            <a:avLst/>
          </a:prstGeom>
        </p:spPr>
      </p:pic>
      <p:sp>
        <p:nvSpPr>
          <p:cNvPr id="28" name="text-346"/>
          <p:cNvSpPr txBox="1"/>
          <p:nvPr/>
        </p:nvSpPr>
        <p:spPr>
          <a:xfrm>
            <a:off x="1280160" y="5422392"/>
            <a:ext cx="4480560" cy="301752"/>
          </a:xfrm>
          <a:prstGeom prst="rect">
            <a:avLst/>
          </a:prstGeom>
          <a:noFill/>
          <a:ln/>
        </p:spPr>
        <p:txBody>
          <a:bodyPr wrap="square" lIns="0" tIns="0" rIns="0" bIns="0" rtlCol="0" anchor="t"/>
          <a:lstStyle/>
          <a:p>
            <a:pPr indent="0" marL="0">
              <a:buNone/>
            </a:pPr>
            <a:r>
              <a:rPr lang="en-US" sz="1500" b="1" dirty="0">
                <a:solidFill>
                  <a:srgbClr val="0B318F"/>
                </a:solidFill>
              </a:rPr>
              <a:t>User support</a:t>
            </a:r>
            <a:endParaRPr lang="en-US" sz="1500" dirty="0"/>
          </a:p>
        </p:txBody>
      </p:sp>
      <p:sp>
        <p:nvSpPr>
          <p:cNvPr id="29" name="text-347"/>
          <p:cNvSpPr txBox="1"/>
          <p:nvPr/>
        </p:nvSpPr>
        <p:spPr>
          <a:xfrm>
            <a:off x="1280160" y="5715000"/>
            <a:ext cx="4480560" cy="320040"/>
          </a:xfrm>
          <a:prstGeom prst="rect">
            <a:avLst/>
          </a:prstGeom>
          <a:noFill/>
          <a:ln/>
        </p:spPr>
        <p:txBody>
          <a:bodyPr wrap="square" lIns="0" tIns="0" rIns="0" bIns="0" rtlCol="0" anchor="t"/>
          <a:lstStyle/>
          <a:p>
            <a:pPr indent="0" marL="0">
              <a:buNone/>
            </a:pPr>
            <a:r>
              <a:rPr lang="en-US" sz="1300" dirty="0">
                <a:solidFill>
                  <a:srgbClr val="1A1F2B"/>
                </a:solidFill>
              </a:rPr>
              <a:t>24x7 helpdesk, new-user training</a:t>
            </a:r>
            <a:endParaRPr lang="en-US" sz="1300" dirty="0"/>
          </a:p>
        </p:txBody>
      </p:sp>
      <p:sp>
        <p:nvSpPr>
          <p:cNvPr id="30" name="card-348"/>
          <p:cNvSpPr/>
          <p:nvPr/>
        </p:nvSpPr>
        <p:spPr>
          <a:xfrm>
            <a:off x="6126480" y="1417320"/>
            <a:ext cx="5486400" cy="4617720"/>
          </a:xfrm>
          <a:prstGeom prst="roundRect">
            <a:avLst>
              <a:gd name="adj" fmla="val 1584"/>
            </a:avLst>
          </a:prstGeom>
          <a:solidFill>
            <a:srgbClr val="0B318F"/>
          </a:solidFill>
          <a:ln/>
        </p:spPr>
      </p:sp>
      <p:sp>
        <p:nvSpPr>
          <p:cNvPr id="31" name="text-349"/>
          <p:cNvSpPr txBox="1"/>
          <p:nvPr/>
        </p:nvSpPr>
        <p:spPr>
          <a:xfrm>
            <a:off x="6400800" y="1645920"/>
            <a:ext cx="2743200" cy="365760"/>
          </a:xfrm>
          <a:prstGeom prst="rect">
            <a:avLst/>
          </a:prstGeom>
          <a:noFill/>
          <a:ln/>
        </p:spPr>
        <p:txBody>
          <a:bodyPr wrap="square" lIns="0" tIns="0" rIns="0" bIns="0" rtlCol="0" anchor="t"/>
          <a:lstStyle/>
          <a:p>
            <a:pPr indent="0" marL="0">
              <a:buNone/>
            </a:pPr>
            <a:r>
              <a:rPr lang="en-US" sz="1800" b="1" dirty="0">
                <a:solidFill>
                  <a:srgbClr val="FF6100"/>
                </a:solidFill>
              </a:rPr>
              <a:t>Helpdesk</a:t>
            </a:r>
            <a:endParaRPr lang="en-US" sz="1800" dirty="0"/>
          </a:p>
        </p:txBody>
      </p:sp>
      <p:sp>
        <p:nvSpPr>
          <p:cNvPr id="32" name="text-350"/>
          <p:cNvSpPr txBox="1"/>
          <p:nvPr/>
        </p:nvSpPr>
        <p:spPr>
          <a:xfrm>
            <a:off x="6400800" y="2103120"/>
            <a:ext cx="4937760" cy="594360"/>
          </a:xfrm>
          <a:prstGeom prst="rect">
            <a:avLst/>
          </a:prstGeom>
          <a:noFill/>
          <a:ln/>
        </p:spPr>
        <p:txBody>
          <a:bodyPr wrap="square" lIns="0" tIns="0" rIns="0" bIns="0" rtlCol="0" anchor="t"/>
          <a:lstStyle/>
          <a:p>
            <a:pPr indent="0" marL="0">
              <a:buNone/>
            </a:pPr>
            <a:r>
              <a:rPr lang="en-US" sz="1400" b="1" dirty="0">
                <a:solidFill>
                  <a:srgbClr val="FFFFFF"/>
                </a:solidFill>
              </a:rPr>
              <a:t>Channels:  </a:t>
            </a:r>
            <a:pPr indent="0" marL="0">
              <a:buNone/>
            </a:pPr>
            <a:r>
              <a:rPr lang="en-US" sz="1400" dirty="0">
                <a:solidFill>
                  <a:srgbClr val="EEF2F9"/>
                </a:solidFill>
              </a:rPr>
              <a:t>phone (24x7), e-mail, web portal, WhatsApp, in-app button</a:t>
            </a:r>
            <a:endParaRPr lang="en-US" sz="1400" dirty="0"/>
          </a:p>
        </p:txBody>
      </p:sp>
      <p:sp>
        <p:nvSpPr>
          <p:cNvPr id="33" name="text-351"/>
          <p:cNvSpPr txBox="1"/>
          <p:nvPr/>
        </p:nvSpPr>
        <p:spPr>
          <a:xfrm>
            <a:off x="6400800" y="2743200"/>
            <a:ext cx="4937760" cy="594360"/>
          </a:xfrm>
          <a:prstGeom prst="rect">
            <a:avLst/>
          </a:prstGeom>
          <a:noFill/>
          <a:ln/>
        </p:spPr>
        <p:txBody>
          <a:bodyPr wrap="square" lIns="0" tIns="0" rIns="0" bIns="0" rtlCol="0" anchor="t"/>
          <a:lstStyle/>
          <a:p>
            <a:pPr indent="0" marL="0">
              <a:buNone/>
            </a:pPr>
            <a:r>
              <a:rPr lang="en-US" sz="1400" b="1" dirty="0">
                <a:solidFill>
                  <a:srgbClr val="FFFFFF"/>
                </a:solidFill>
              </a:rPr>
              <a:t>Ticketing:  </a:t>
            </a:r>
            <a:pPr indent="0" marL="0">
              <a:buNone/>
            </a:pPr>
            <a:r>
              <a:rPr lang="en-US" sz="1400" dirty="0">
                <a:solidFill>
                  <a:srgbClr val="EEF2F9"/>
                </a:solidFill>
              </a:rPr>
              <a:t>open-source ITSM (GLPI), ticket ID sent to the user, SLA timer by severity</a:t>
            </a:r>
            <a:endParaRPr lang="en-US" sz="1400" dirty="0"/>
          </a:p>
        </p:txBody>
      </p:sp>
      <p:sp>
        <p:nvSpPr>
          <p:cNvPr id="34" name="text-352"/>
          <p:cNvSpPr txBox="1"/>
          <p:nvPr/>
        </p:nvSpPr>
        <p:spPr>
          <a:xfrm>
            <a:off x="6400800" y="3429000"/>
            <a:ext cx="4572000" cy="320040"/>
          </a:xfrm>
          <a:prstGeom prst="rect">
            <a:avLst/>
          </a:prstGeom>
          <a:noFill/>
          <a:ln/>
        </p:spPr>
        <p:txBody>
          <a:bodyPr wrap="square" lIns="0" tIns="0" rIns="0" bIns="0" rtlCol="0" anchor="t"/>
          <a:lstStyle/>
          <a:p>
            <a:pPr indent="0" marL="0">
              <a:buNone/>
            </a:pPr>
            <a:r>
              <a:rPr lang="en-US" sz="1400" b="1" dirty="0">
                <a:solidFill>
                  <a:srgbClr val="FFFFFF"/>
                </a:solidFill>
              </a:rPr>
              <a:t>Ticket lifecycle</a:t>
            </a:r>
            <a:endParaRPr lang="en-US" sz="1400" dirty="0"/>
          </a:p>
        </p:txBody>
      </p:sp>
      <p:sp>
        <p:nvSpPr>
          <p:cNvPr id="35" name="life-353"/>
          <p:cNvSpPr/>
          <p:nvPr/>
        </p:nvSpPr>
        <p:spPr>
          <a:xfrm>
            <a:off x="6400800" y="3794760"/>
            <a:ext cx="960120" cy="457200"/>
          </a:xfrm>
          <a:prstGeom prst="homePlate">
            <a:avLst/>
          </a:prstGeom>
          <a:solidFill>
            <a:srgbClr val="2E5FAE"/>
          </a:solidFill>
          <a:ln/>
        </p:spPr>
      </p:sp>
      <p:sp>
        <p:nvSpPr>
          <p:cNvPr id="36" name="text-354"/>
          <p:cNvSpPr txBox="1"/>
          <p:nvPr/>
        </p:nvSpPr>
        <p:spPr>
          <a:xfrm>
            <a:off x="6446520" y="3794760"/>
            <a:ext cx="731520" cy="457200"/>
          </a:xfrm>
          <a:prstGeom prst="rect">
            <a:avLst/>
          </a:prstGeom>
          <a:noFill/>
          <a:ln/>
        </p:spPr>
        <p:txBody>
          <a:bodyPr wrap="square" lIns="0" tIns="0" rIns="0" bIns="0" rtlCol="0" anchor="ctr"/>
          <a:lstStyle/>
          <a:p>
            <a:pPr algn="ctr" indent="0" marL="0">
              <a:buNone/>
            </a:pPr>
            <a:r>
              <a:rPr lang="en-US" sz="1200" b="1" dirty="0">
                <a:solidFill>
                  <a:srgbClr val="FFFFFF"/>
                </a:solidFill>
              </a:rPr>
              <a:t>Log</a:t>
            </a:r>
            <a:endParaRPr lang="en-US" sz="1200" dirty="0"/>
          </a:p>
        </p:txBody>
      </p:sp>
      <p:sp>
        <p:nvSpPr>
          <p:cNvPr id="37" name="life-355"/>
          <p:cNvSpPr/>
          <p:nvPr/>
        </p:nvSpPr>
        <p:spPr>
          <a:xfrm>
            <a:off x="7388352" y="3794760"/>
            <a:ext cx="960120" cy="457200"/>
          </a:xfrm>
          <a:prstGeom prst="chevron">
            <a:avLst/>
          </a:prstGeom>
          <a:solidFill>
            <a:srgbClr val="2E5FAE"/>
          </a:solidFill>
          <a:ln/>
        </p:spPr>
      </p:sp>
      <p:sp>
        <p:nvSpPr>
          <p:cNvPr id="38" name="text-356"/>
          <p:cNvSpPr txBox="1"/>
          <p:nvPr/>
        </p:nvSpPr>
        <p:spPr>
          <a:xfrm>
            <a:off x="7571232" y="3794760"/>
            <a:ext cx="731520" cy="457200"/>
          </a:xfrm>
          <a:prstGeom prst="rect">
            <a:avLst/>
          </a:prstGeom>
          <a:noFill/>
          <a:ln/>
        </p:spPr>
        <p:txBody>
          <a:bodyPr wrap="square" lIns="0" tIns="0" rIns="0" bIns="0" rtlCol="0" anchor="ctr"/>
          <a:lstStyle/>
          <a:p>
            <a:pPr algn="ctr" indent="0" marL="0">
              <a:buNone/>
            </a:pPr>
            <a:r>
              <a:rPr lang="en-US" sz="1200" b="1" dirty="0">
                <a:solidFill>
                  <a:srgbClr val="FFFFFF"/>
                </a:solidFill>
              </a:rPr>
              <a:t>Classify</a:t>
            </a:r>
            <a:endParaRPr lang="en-US" sz="1200" dirty="0"/>
          </a:p>
        </p:txBody>
      </p:sp>
      <p:sp>
        <p:nvSpPr>
          <p:cNvPr id="39" name="life-357"/>
          <p:cNvSpPr/>
          <p:nvPr/>
        </p:nvSpPr>
        <p:spPr>
          <a:xfrm>
            <a:off x="8375904" y="3794760"/>
            <a:ext cx="960120" cy="457200"/>
          </a:xfrm>
          <a:prstGeom prst="chevron">
            <a:avLst/>
          </a:prstGeom>
          <a:solidFill>
            <a:srgbClr val="2E5FAE"/>
          </a:solidFill>
          <a:ln/>
        </p:spPr>
      </p:sp>
      <p:sp>
        <p:nvSpPr>
          <p:cNvPr id="40" name="text-358"/>
          <p:cNvSpPr txBox="1"/>
          <p:nvPr/>
        </p:nvSpPr>
        <p:spPr>
          <a:xfrm>
            <a:off x="8558784" y="3794760"/>
            <a:ext cx="731520" cy="457200"/>
          </a:xfrm>
          <a:prstGeom prst="rect">
            <a:avLst/>
          </a:prstGeom>
          <a:noFill/>
          <a:ln/>
        </p:spPr>
        <p:txBody>
          <a:bodyPr wrap="square" lIns="0" tIns="0" rIns="0" bIns="0" rtlCol="0" anchor="ctr"/>
          <a:lstStyle/>
          <a:p>
            <a:pPr algn="ctr" indent="0" marL="0">
              <a:buNone/>
            </a:pPr>
            <a:r>
              <a:rPr lang="en-US" sz="1200" b="1" dirty="0">
                <a:solidFill>
                  <a:srgbClr val="FFFFFF"/>
                </a:solidFill>
              </a:rPr>
              <a:t>Assign</a:t>
            </a:r>
            <a:endParaRPr lang="en-US" sz="1200" dirty="0"/>
          </a:p>
        </p:txBody>
      </p:sp>
      <p:sp>
        <p:nvSpPr>
          <p:cNvPr id="41" name="life-359"/>
          <p:cNvSpPr/>
          <p:nvPr/>
        </p:nvSpPr>
        <p:spPr>
          <a:xfrm>
            <a:off x="9363456" y="3794760"/>
            <a:ext cx="960120" cy="457200"/>
          </a:xfrm>
          <a:prstGeom prst="chevron">
            <a:avLst/>
          </a:prstGeom>
          <a:solidFill>
            <a:srgbClr val="2E5FAE"/>
          </a:solidFill>
          <a:ln/>
        </p:spPr>
      </p:sp>
      <p:sp>
        <p:nvSpPr>
          <p:cNvPr id="42" name="text-360"/>
          <p:cNvSpPr txBox="1"/>
          <p:nvPr/>
        </p:nvSpPr>
        <p:spPr>
          <a:xfrm>
            <a:off x="9546336" y="3794760"/>
            <a:ext cx="731520" cy="457200"/>
          </a:xfrm>
          <a:prstGeom prst="rect">
            <a:avLst/>
          </a:prstGeom>
          <a:noFill/>
          <a:ln/>
        </p:spPr>
        <p:txBody>
          <a:bodyPr wrap="square" lIns="0" tIns="0" rIns="0" bIns="0" rtlCol="0" anchor="ctr"/>
          <a:lstStyle/>
          <a:p>
            <a:pPr algn="ctr" indent="0" marL="0">
              <a:buNone/>
            </a:pPr>
            <a:r>
              <a:rPr lang="en-US" sz="1200" b="1" dirty="0">
                <a:solidFill>
                  <a:srgbClr val="FFFFFF"/>
                </a:solidFill>
              </a:rPr>
              <a:t>Resolve</a:t>
            </a:r>
            <a:endParaRPr lang="en-US" sz="1200" dirty="0"/>
          </a:p>
        </p:txBody>
      </p:sp>
      <p:sp>
        <p:nvSpPr>
          <p:cNvPr id="43" name="life-361"/>
          <p:cNvSpPr/>
          <p:nvPr/>
        </p:nvSpPr>
        <p:spPr>
          <a:xfrm>
            <a:off x="10351008" y="3794760"/>
            <a:ext cx="960120" cy="457200"/>
          </a:xfrm>
          <a:prstGeom prst="chevron">
            <a:avLst/>
          </a:prstGeom>
          <a:solidFill>
            <a:srgbClr val="2E5FAE"/>
          </a:solidFill>
          <a:ln/>
        </p:spPr>
      </p:sp>
      <p:sp>
        <p:nvSpPr>
          <p:cNvPr id="44" name="text-362"/>
          <p:cNvSpPr txBox="1"/>
          <p:nvPr/>
        </p:nvSpPr>
        <p:spPr>
          <a:xfrm>
            <a:off x="10533888" y="3794760"/>
            <a:ext cx="731520" cy="457200"/>
          </a:xfrm>
          <a:prstGeom prst="rect">
            <a:avLst/>
          </a:prstGeom>
          <a:noFill/>
          <a:ln/>
        </p:spPr>
        <p:txBody>
          <a:bodyPr wrap="square" lIns="0" tIns="0" rIns="0" bIns="0" rtlCol="0" anchor="ctr"/>
          <a:lstStyle/>
          <a:p>
            <a:pPr algn="ctr" indent="0" marL="0">
              <a:buNone/>
            </a:pPr>
            <a:r>
              <a:rPr lang="en-US" sz="1200" b="1" dirty="0">
                <a:solidFill>
                  <a:srgbClr val="FFFFFF"/>
                </a:solidFill>
              </a:rPr>
              <a:t>Close</a:t>
            </a:r>
            <a:endParaRPr lang="en-US" sz="1200" dirty="0"/>
          </a:p>
        </p:txBody>
      </p:sp>
      <p:sp>
        <p:nvSpPr>
          <p:cNvPr id="45" name="text-363"/>
          <p:cNvSpPr txBox="1"/>
          <p:nvPr/>
        </p:nvSpPr>
        <p:spPr>
          <a:xfrm>
            <a:off x="6400800" y="4572000"/>
            <a:ext cx="1645920" cy="548640"/>
          </a:xfrm>
          <a:prstGeom prst="rect">
            <a:avLst/>
          </a:prstGeom>
          <a:noFill/>
          <a:ln/>
        </p:spPr>
        <p:txBody>
          <a:bodyPr wrap="square" lIns="0" tIns="0" rIns="0" bIns="0" rtlCol="0" anchor="t"/>
          <a:lstStyle/>
          <a:p>
            <a:pPr indent="0" marL="0">
              <a:buNone/>
            </a:pPr>
            <a:r>
              <a:rPr lang="en-US" sz="2400" b="1" dirty="0">
                <a:solidFill>
                  <a:srgbClr val="FF6100"/>
                </a:solidFill>
                <a:latin typeface="Calibri" pitchFamily="34" charset="0"/>
                <a:ea typeface="Calibri" pitchFamily="34" charset="-122"/>
                <a:cs typeface="Calibri" pitchFamily="34" charset="-120"/>
              </a:rPr>
              <a:t>99.5%</a:t>
            </a:r>
            <a:endParaRPr lang="en-US" sz="2400" dirty="0"/>
          </a:p>
        </p:txBody>
      </p:sp>
      <p:sp>
        <p:nvSpPr>
          <p:cNvPr id="46" name="text-364"/>
          <p:cNvSpPr txBox="1"/>
          <p:nvPr/>
        </p:nvSpPr>
        <p:spPr>
          <a:xfrm>
            <a:off x="6400800" y="5120640"/>
            <a:ext cx="1554480" cy="731520"/>
          </a:xfrm>
          <a:prstGeom prst="rect">
            <a:avLst/>
          </a:prstGeom>
          <a:noFill/>
          <a:ln/>
        </p:spPr>
        <p:txBody>
          <a:bodyPr wrap="square" lIns="0" tIns="0" rIns="0" bIns="0" rtlCol="0" anchor="t"/>
          <a:lstStyle/>
          <a:p>
            <a:pPr indent="0" marL="0">
              <a:buNone/>
            </a:pPr>
            <a:r>
              <a:rPr lang="en-US" sz="1200" dirty="0">
                <a:solidFill>
                  <a:srgbClr val="EEF2F9"/>
                </a:solidFill>
              </a:rPr>
              <a:t>monthly uptime</a:t>
            </a:r>
            <a:endParaRPr lang="en-US" sz="1200" dirty="0"/>
          </a:p>
        </p:txBody>
      </p:sp>
      <p:sp>
        <p:nvSpPr>
          <p:cNvPr id="47" name="text-365"/>
          <p:cNvSpPr txBox="1"/>
          <p:nvPr/>
        </p:nvSpPr>
        <p:spPr>
          <a:xfrm>
            <a:off x="8092440" y="4572000"/>
            <a:ext cx="1645920" cy="548640"/>
          </a:xfrm>
          <a:prstGeom prst="rect">
            <a:avLst/>
          </a:prstGeom>
          <a:noFill/>
          <a:ln/>
        </p:spPr>
        <p:txBody>
          <a:bodyPr wrap="square" lIns="0" tIns="0" rIns="0" bIns="0" rtlCol="0" anchor="t"/>
          <a:lstStyle/>
          <a:p>
            <a:pPr indent="0" marL="0">
              <a:buNone/>
            </a:pPr>
            <a:r>
              <a:rPr lang="en-US" sz="2400" b="1" dirty="0">
                <a:solidFill>
                  <a:srgbClr val="FF6100"/>
                </a:solidFill>
                <a:latin typeface="Calibri" pitchFamily="34" charset="0"/>
                <a:ea typeface="Calibri" pitchFamily="34" charset="-122"/>
                <a:cs typeface="Calibri" pitchFamily="34" charset="-120"/>
              </a:rPr>
              <a:t>60 days</a:t>
            </a:r>
            <a:endParaRPr lang="en-US" sz="2400" dirty="0"/>
          </a:p>
        </p:txBody>
      </p:sp>
      <p:sp>
        <p:nvSpPr>
          <p:cNvPr id="48" name="text-366"/>
          <p:cNvSpPr txBox="1"/>
          <p:nvPr/>
        </p:nvSpPr>
        <p:spPr>
          <a:xfrm>
            <a:off x="8092440" y="5120640"/>
            <a:ext cx="1554480" cy="731520"/>
          </a:xfrm>
          <a:prstGeom prst="rect">
            <a:avLst/>
          </a:prstGeom>
          <a:noFill/>
          <a:ln/>
        </p:spPr>
        <p:txBody>
          <a:bodyPr wrap="square" lIns="0" tIns="0" rIns="0" bIns="0" rtlCol="0" anchor="t"/>
          <a:lstStyle/>
          <a:p>
            <a:pPr indent="0" marL="0">
              <a:buNone/>
            </a:pPr>
            <a:r>
              <a:rPr lang="en-US" sz="1200" dirty="0">
                <a:solidFill>
                  <a:srgbClr val="EEF2F9"/>
                </a:solidFill>
              </a:rPr>
              <a:t>hypercare after Go-Live</a:t>
            </a:r>
            <a:endParaRPr lang="en-US" sz="1200" dirty="0"/>
          </a:p>
        </p:txBody>
      </p:sp>
      <p:sp>
        <p:nvSpPr>
          <p:cNvPr id="49" name="text-367"/>
          <p:cNvSpPr txBox="1"/>
          <p:nvPr/>
        </p:nvSpPr>
        <p:spPr>
          <a:xfrm>
            <a:off x="9784080" y="4572000"/>
            <a:ext cx="1645920" cy="548640"/>
          </a:xfrm>
          <a:prstGeom prst="rect">
            <a:avLst/>
          </a:prstGeom>
          <a:noFill/>
          <a:ln/>
        </p:spPr>
        <p:txBody>
          <a:bodyPr wrap="square" lIns="0" tIns="0" rIns="0" bIns="0" rtlCol="0" anchor="t"/>
          <a:lstStyle/>
          <a:p>
            <a:pPr indent="0" marL="0">
              <a:buNone/>
            </a:pPr>
            <a:r>
              <a:rPr lang="en-US" sz="2400" b="1" dirty="0">
                <a:solidFill>
                  <a:srgbClr val="FF6100"/>
                </a:solidFill>
                <a:latin typeface="Calibri" pitchFamily="34" charset="0"/>
                <a:ea typeface="Calibri" pitchFamily="34" charset="-122"/>
                <a:cs typeface="Calibri" pitchFamily="34" charset="-120"/>
              </a:rPr>
              <a:t>Monthly</a:t>
            </a:r>
            <a:endParaRPr lang="en-US" sz="2400" dirty="0"/>
          </a:p>
        </p:txBody>
      </p:sp>
      <p:sp>
        <p:nvSpPr>
          <p:cNvPr id="50" name="text-368"/>
          <p:cNvSpPr txBox="1"/>
          <p:nvPr/>
        </p:nvSpPr>
        <p:spPr>
          <a:xfrm>
            <a:off x="9784080" y="5120640"/>
            <a:ext cx="1554480" cy="731520"/>
          </a:xfrm>
          <a:prstGeom prst="rect">
            <a:avLst/>
          </a:prstGeom>
          <a:noFill/>
          <a:ln/>
        </p:spPr>
        <p:txBody>
          <a:bodyPr wrap="square" lIns="0" tIns="0" rIns="0" bIns="0" rtlCol="0" anchor="t"/>
          <a:lstStyle/>
          <a:p>
            <a:pPr indent="0" marL="0">
              <a:buNone/>
            </a:pPr>
            <a:r>
              <a:rPr lang="en-US" sz="1200" dirty="0">
                <a:solidFill>
                  <a:srgbClr val="EEF2F9"/>
                </a:solidFill>
              </a:rPr>
              <a:t>SLA and availability report</a:t>
            </a:r>
            <a:endParaRPr lang="en-US" sz="1200" dirty="0"/>
          </a:p>
        </p:txBody>
      </p:sp>
      <p:sp>
        <p:nvSpPr>
          <p:cNvPr id="53" name="KeyPoint band blue"/>
          <p:cNvSpPr/>
          <p:nvPr/>
        </p:nvSpPr>
        <p:spPr>
          <a:xfrm>
            <a:off x="0" y="6611000"/>
            <a:ext cx="8298000" cy="247000"/>
          </a:xfrm>
          <a:prstGeom prst="rect">
            <a:avLst/>
          </a:prstGeom>
          <a:solidFill>
            <a:srgbClr val="3767B1"/>
          </a:solidFill>
          <a:ln>
            <a:noFill/>
          </a:ln>
        </p:spPr>
      </p:sp>
      <p:sp>
        <p:nvSpPr>
          <p:cNvPr id="54" name="KeyPoint band orange"/>
          <p:cNvSpPr/>
          <p:nvPr/>
        </p:nvSpPr>
        <p:spPr>
          <a:xfrm>
            <a:off x="8298000" y="6611000"/>
            <a:ext cx="3894000" cy="247000"/>
          </a:xfrm>
          <a:prstGeom prst="rect">
            <a:avLst/>
          </a:prstGeom>
          <a:solidFill>
            <a:srgbClr val="FF6100"/>
          </a:solidFill>
          <a:ln>
            <a:noFill/>
          </a:ln>
        </p:spPr>
      </p:sp>
      <p:sp>
        <p:nvSpPr>
          <p:cNvPr id="51" name="KeyPoint logo box"/>
          <p:cNvSpPr/>
          <p:nvPr/>
        </p:nvSpPr>
        <p:spPr>
          <a:xfrm>
            <a:off x="9972675" y="142875"/>
            <a:ext cx="2162175" cy="704850"/>
          </a:xfrm>
          <a:custGeom>
            <a:avLst/>
            <a:gdLst/>
            <a:ahLst/>
            <a:cxnLst/>
            <a:rect l="l" t="t" r="r" b="b"/>
            <a:pathLst>
              <a:path w="2162175" h="704850">
                <a:moveTo>
                  <a:pt x="2044700" y="0"/>
                </a:moveTo>
                <a:lnTo>
                  <a:pt x="117475" y="0"/>
                </a:lnTo>
                <a:lnTo>
                  <a:pt x="71741" y="9229"/>
                </a:lnTo>
                <a:lnTo>
                  <a:pt x="34401" y="34401"/>
                </a:lnTo>
                <a:lnTo>
                  <a:pt x="9229" y="71741"/>
                </a:lnTo>
                <a:lnTo>
                  <a:pt x="0" y="117475"/>
                </a:lnTo>
                <a:lnTo>
                  <a:pt x="0" y="587375"/>
                </a:lnTo>
                <a:lnTo>
                  <a:pt x="9229" y="633108"/>
                </a:lnTo>
                <a:lnTo>
                  <a:pt x="34401" y="670448"/>
                </a:lnTo>
                <a:lnTo>
                  <a:pt x="71741" y="695620"/>
                </a:lnTo>
                <a:lnTo>
                  <a:pt x="117475" y="704850"/>
                </a:lnTo>
                <a:lnTo>
                  <a:pt x="2044700" y="704850"/>
                </a:lnTo>
                <a:lnTo>
                  <a:pt x="2090433" y="695620"/>
                </a:lnTo>
                <a:lnTo>
                  <a:pt x="2127773" y="670448"/>
                </a:lnTo>
                <a:lnTo>
                  <a:pt x="2152945" y="633108"/>
                </a:lnTo>
                <a:lnTo>
                  <a:pt x="2162175" y="587375"/>
                </a:lnTo>
                <a:lnTo>
                  <a:pt x="2162175" y="117475"/>
                </a:lnTo>
                <a:lnTo>
                  <a:pt x="2152945" y="71741"/>
                </a:lnTo>
                <a:lnTo>
                  <a:pt x="2127773" y="34401"/>
                </a:lnTo>
                <a:lnTo>
                  <a:pt x="2090433" y="9229"/>
                </a:lnTo>
                <a:lnTo>
                  <a:pt x="2044700" y="0"/>
                </a:lnTo>
                <a:close/>
              </a:path>
            </a:pathLst>
          </a:custGeom>
          <a:solidFill>
            <a:srgbClr val="FFFFFF"/>
          </a:solidFill>
        </p:spPr>
        <p:txBody>
          <a:bodyPr wrap="square" lIns="0" tIns="0" rIns="0" bIns="0" rtlCol="0"/>
          <a:lstStyle/>
          <a:p/>
        </p:txBody>
      </p:sp>
      <p:pic>
        <p:nvPicPr>
          <p:cNvPr id="52" name="KeyPoint logo" descr="KeyPoint Technologies logo"/>
          <p:cNvPicPr/>
          <p:nvPr/>
        </p:nvPicPr>
        <p:blipFill>
          <a:blip r:embed="rIdKpLogo" cstate="print"/>
          <a:stretch>
            <a:fillRect/>
          </a:stretch>
        </p:blipFill>
        <p:spPr>
          <a:xfrm>
            <a:off x="10134600" y="209550"/>
            <a:ext cx="1828800" cy="5524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369"/>
          <p:cNvSpPr txBox="1"/>
          <p:nvPr/>
        </p:nvSpPr>
        <p:spPr>
          <a:xfrm>
            <a:off x="548640" y="274320"/>
            <a:ext cx="10972800" cy="256032"/>
          </a:xfrm>
          <a:prstGeom prst="rect">
            <a:avLst/>
          </a:prstGeom>
          <a:noFill/>
          <a:ln/>
        </p:spPr>
        <p:txBody>
          <a:bodyPr wrap="square" lIns="0" tIns="0" rIns="0" bIns="0" rtlCol="0" anchor="ctr"/>
          <a:lstStyle/>
          <a:p>
            <a:pPr indent="0" marL="0">
              <a:buNone/>
            </a:pPr>
            <a:r>
              <a:rPr lang="en-US" sz="1100" b="1" spc="200" kern="0" dirty="0">
                <a:solidFill>
                  <a:srgbClr val="2E5FAE"/>
                </a:solidFill>
              </a:rPr>
              <a:t>06 · ESCALATION MECHANISM</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rgbClr val="0B318F"/>
                </a:solidFill>
              </a:rPr>
              <a:t>Incident SLAs and escalation matrix</a:t>
            </a:r>
            <a:endParaRPr lang="en-US" sz="3200" dirty="0"/>
          </a:p>
        </p:txBody>
      </p:sp>
      <p:graphicFrame>
        <p:nvGraphicFramePr>
          <p:cNvPr id="13" name="table-370"/>
          <p:cNvGraphicFramePr>
            <a:graphicFrameLocks noGrp="1"/>
          </p:cNvGraphicFramePr>
          <p:nvPr>
            <p:extLst>
              <p:ext uri="{D42A27DB-BD31-4B8C-83A1-F6EECF244321}">
                <p14:modId xmlns:p14="http://schemas.microsoft.com/office/powerpoint/2010/main" val="1579011935"/>
              </p:ext>
            </p:extLst>
          </p:nvPr>
        </p:nvGraphicFramePr>
        <p:xfrm>
          <a:off x="548640" y="1508760"/>
          <a:ext cx="6035040" cy="914400"/>
        </p:xfrm>
        <a:graphic>
          <a:graphicData uri="http://schemas.openxmlformats.org/drawingml/2006/table">
            <a:tbl>
              <a:tblPr/>
              <a:tblGrid>
                <a:gridCol w="1097280"/>
                <a:gridCol w="2651760"/>
                <a:gridCol w="1097280"/>
                <a:gridCol w="1188720"/>
              </a:tblGrid>
              <a:tr h="566928">
                <a:tc>
                  <a:txBody>
                    <a:bodyPr/>
                    <a:lstStyle/>
                    <a:p>
                      <a:pPr algn="l" indent="0" marL="0">
                        <a:buNone/>
                      </a:pPr>
                      <a:r>
                        <a:rPr lang="en-US" sz="1300" b="1" dirty="0">
                          <a:solidFill>
                            <a:srgbClr val="FFFFFF"/>
                          </a:solidFill>
                        </a:rPr>
                        <a:t>Severity</a:t>
                      </a:r>
                      <a:endParaRPr lang="en-US" sz="13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2E5FAE"/>
                    </a:solidFill>
                  </a:tcPr>
                </a:tc>
                <a:tc>
                  <a:txBody>
                    <a:bodyPr/>
                    <a:lstStyle/>
                    <a:p>
                      <a:pPr algn="l" indent="0" marL="0">
                        <a:buNone/>
                      </a:pPr>
                      <a:r>
                        <a:rPr lang="en-US" sz="1300" b="1" dirty="0">
                          <a:solidFill>
                            <a:srgbClr val="FFFFFF"/>
                          </a:solidFill>
                        </a:rPr>
                        <a:t>Description</a:t>
                      </a:r>
                      <a:endParaRPr lang="en-US" sz="13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2E5FAE"/>
                    </a:solidFill>
                  </a:tcPr>
                </a:tc>
                <a:tc>
                  <a:txBody>
                    <a:bodyPr/>
                    <a:lstStyle/>
                    <a:p>
                      <a:pPr algn="l" indent="0" marL="0">
                        <a:buNone/>
                      </a:pPr>
                      <a:r>
                        <a:rPr lang="en-US" sz="1300" b="1" dirty="0">
                          <a:solidFill>
                            <a:srgbClr val="FFFFFF"/>
                          </a:solidFill>
                        </a:rPr>
                        <a:t>Response</a:t>
                      </a:r>
                      <a:endParaRPr lang="en-US" sz="13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2E5FAE"/>
                    </a:solidFill>
                  </a:tcPr>
                </a:tc>
                <a:tc>
                  <a:txBody>
                    <a:bodyPr/>
                    <a:lstStyle/>
                    <a:p>
                      <a:pPr algn="l" indent="0" marL="0">
                        <a:buNone/>
                      </a:pPr>
                      <a:r>
                        <a:rPr lang="en-US" sz="1300" b="1" dirty="0">
                          <a:solidFill>
                            <a:srgbClr val="FFFFFF"/>
                          </a:solidFill>
                        </a:rPr>
                        <a:t>Resolution</a:t>
                      </a:r>
                      <a:endParaRPr lang="en-US" sz="13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2E5FAE"/>
                    </a:solidFill>
                  </a:tcPr>
                </a:tc>
              </a:tr>
              <a:tr h="566928">
                <a:tc>
                  <a:txBody>
                    <a:bodyPr/>
                    <a:lstStyle/>
                    <a:p>
                      <a:pPr algn="l" indent="0" marL="0">
                        <a:buNone/>
                      </a:pPr>
                      <a:r>
                        <a:rPr lang="en-US" sz="1300" b="1" dirty="0">
                          <a:solidFill>
                            <a:srgbClr val="1A1F2B"/>
                          </a:solidFill>
                        </a:rPr>
                        <a:t>Critical</a:t>
                      </a:r>
                      <a:endParaRPr lang="en-US" sz="13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A1F2B"/>
                          </a:solidFill>
                        </a:rPr>
                        <a:t>Complete outage or major function unavailable</a:t>
                      </a:r>
                      <a:endParaRPr lang="en-US" sz="13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A1F2B"/>
                          </a:solidFill>
                        </a:rPr>
                        <a:t>30 minutes</a:t>
                      </a:r>
                      <a:endParaRPr lang="en-US" sz="13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A1F2B"/>
                          </a:solidFill>
                        </a:rPr>
                        <a:t>4 hours</a:t>
                      </a:r>
                      <a:endParaRPr lang="en-US" sz="13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r>
              <a:tr h="566928">
                <a:tc>
                  <a:txBody>
                    <a:bodyPr/>
                    <a:lstStyle/>
                    <a:p>
                      <a:pPr algn="l" indent="0" marL="0">
                        <a:buNone/>
                      </a:pPr>
                      <a:r>
                        <a:rPr lang="en-US" sz="1300" b="1" dirty="0">
                          <a:solidFill>
                            <a:srgbClr val="1A1F2B"/>
                          </a:solidFill>
                        </a:rPr>
                        <a:t>High</a:t>
                      </a:r>
                      <a:endParaRPr lang="en-US" sz="13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300" dirty="0">
                          <a:solidFill>
                            <a:srgbClr val="1A1F2B"/>
                          </a:solidFill>
                        </a:rPr>
                        <a:t>Major feature failure affecting operations</a:t>
                      </a:r>
                      <a:endParaRPr lang="en-US" sz="13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300" dirty="0">
                          <a:solidFill>
                            <a:srgbClr val="1A1F2B"/>
                          </a:solidFill>
                        </a:rPr>
                        <a:t>1 hour</a:t>
                      </a:r>
                      <a:endParaRPr lang="en-US" sz="13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300" dirty="0">
                          <a:solidFill>
                            <a:srgbClr val="1A1F2B"/>
                          </a:solidFill>
                        </a:rPr>
                        <a:t>8 hours</a:t>
                      </a:r>
                      <a:endParaRPr lang="en-US" sz="13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r>
              <a:tr h="566928">
                <a:tc>
                  <a:txBody>
                    <a:bodyPr/>
                    <a:lstStyle/>
                    <a:p>
                      <a:pPr algn="l" indent="0" marL="0">
                        <a:buNone/>
                      </a:pPr>
                      <a:r>
                        <a:rPr lang="en-US" sz="1300" b="1" dirty="0">
                          <a:solidFill>
                            <a:srgbClr val="1A1F2B"/>
                          </a:solidFill>
                        </a:rPr>
                        <a:t>Medium</a:t>
                      </a:r>
                      <a:endParaRPr lang="en-US" sz="13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A1F2B"/>
                          </a:solidFill>
                        </a:rPr>
                        <a:t>Partial loss of functionality</a:t>
                      </a:r>
                      <a:endParaRPr lang="en-US" sz="13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A1F2B"/>
                          </a:solidFill>
                        </a:rPr>
                        <a:t>4 hours</a:t>
                      </a:r>
                      <a:endParaRPr lang="en-US" sz="13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A1F2B"/>
                          </a:solidFill>
                        </a:rPr>
                        <a:t>2 working days</a:t>
                      </a:r>
                      <a:endParaRPr lang="en-US" sz="13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FFFFFF"/>
                    </a:solidFill>
                  </a:tcPr>
                </a:tc>
              </a:tr>
              <a:tr h="566928">
                <a:tc>
                  <a:txBody>
                    <a:bodyPr/>
                    <a:lstStyle/>
                    <a:p>
                      <a:pPr algn="l" indent="0" marL="0">
                        <a:buNone/>
                      </a:pPr>
                      <a:r>
                        <a:rPr lang="en-US" sz="1300" b="1" dirty="0">
                          <a:solidFill>
                            <a:srgbClr val="1A1F2B"/>
                          </a:solidFill>
                        </a:rPr>
                        <a:t>Low</a:t>
                      </a:r>
                      <a:endParaRPr lang="en-US" sz="13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300" dirty="0">
                          <a:solidFill>
                            <a:srgbClr val="1A1F2B"/>
                          </a:solidFill>
                        </a:rPr>
                        <a:t>Minor defect or cosmetic issue</a:t>
                      </a:r>
                      <a:endParaRPr lang="en-US" sz="13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300" dirty="0">
                          <a:solidFill>
                            <a:srgbClr val="1A1F2B"/>
                          </a:solidFill>
                        </a:rPr>
                        <a:t>1 working day</a:t>
                      </a:r>
                      <a:endParaRPr lang="en-US" sz="13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c>
                  <a:txBody>
                    <a:bodyPr/>
                    <a:lstStyle/>
                    <a:p>
                      <a:pPr algn="l" indent="0" marL="0">
                        <a:buNone/>
                      </a:pPr>
                      <a:r>
                        <a:rPr lang="en-US" sz="1300" dirty="0">
                          <a:solidFill>
                            <a:srgbClr val="1A1F2B"/>
                          </a:solidFill>
                        </a:rPr>
                        <a:t>5 working days</a:t>
                      </a:r>
                      <a:endParaRPr lang="en-US" sz="1300" dirty="0"/>
                    </a:p>
                  </a:txBody>
                  <a:tcPr marL="76200" marR="76200" marT="38100" marB="38100" anchor="ctr">
                    <a:lnL w="9525" cap="flat" cmpd="sng" algn="ctr">
                      <a:solidFill>
                        <a:srgbClr val="D6DDEA"/>
                      </a:solidFill>
                      <a:prstDash val="solid"/>
                      <a:round/>
                      <a:headEnd type="none" w="med" len="med"/>
                      <a:tailEnd type="none" w="med" len="med"/>
                    </a:lnL>
                    <a:lnR w="9525" cap="flat" cmpd="sng" algn="ctr">
                      <a:solidFill>
                        <a:srgbClr val="D6DDEA"/>
                      </a:solidFill>
                      <a:prstDash val="solid"/>
                      <a:round/>
                      <a:headEnd type="none" w="med" len="med"/>
                      <a:tailEnd type="none" w="med" len="med"/>
                    </a:lnR>
                    <a:lnT w="9525" cap="flat" cmpd="sng" algn="ctr">
                      <a:solidFill>
                        <a:srgbClr val="D6DDEA"/>
                      </a:solidFill>
                      <a:prstDash val="solid"/>
                      <a:round/>
                      <a:headEnd type="none" w="med" len="med"/>
                      <a:tailEnd type="none" w="med" len="med"/>
                    </a:lnT>
                    <a:lnB w="9525" cap="flat" cmpd="sng" algn="ctr">
                      <a:solidFill>
                        <a:srgbClr val="D6DDEA"/>
                      </a:solidFill>
                      <a:prstDash val="solid"/>
                      <a:round/>
                      <a:headEnd type="none" w="med" len="med"/>
                      <a:tailEnd type="none" w="med" len="med"/>
                    </a:lnB>
                    <a:solidFill>
                      <a:srgbClr val="EEF2F9"/>
                    </a:solidFill>
                  </a:tcPr>
                </a:tc>
              </a:tr>
            </a:tbl>
          </a:graphicData>
        </a:graphic>
      </p:graphicFrame>
      <p:sp>
        <p:nvSpPr>
          <p:cNvPr id="6" name="text-371"/>
          <p:cNvSpPr txBox="1"/>
          <p:nvPr/>
        </p:nvSpPr>
        <p:spPr>
          <a:xfrm>
            <a:off x="548640" y="4526280"/>
            <a:ext cx="6035040" cy="548640"/>
          </a:xfrm>
          <a:prstGeom prst="rect">
            <a:avLst/>
          </a:prstGeom>
          <a:noFill/>
          <a:ln/>
        </p:spPr>
        <p:txBody>
          <a:bodyPr wrap="square" lIns="0" tIns="0" rIns="0" bIns="0" rtlCol="0" anchor="t"/>
          <a:lstStyle/>
          <a:p>
            <a:pPr indent="0" marL="0">
              <a:buNone/>
            </a:pPr>
            <a:r>
              <a:rPr lang="en-US" sz="1200" dirty="0">
                <a:solidFill>
                  <a:srgbClr val="6B7280"/>
                </a:solidFill>
              </a:rPr>
              <a:t>Where the RFP gives two figures for critical incidents, we commit to the stricter one.</a:t>
            </a:r>
            <a:endParaRPr lang="en-US" sz="1200" dirty="0"/>
          </a:p>
        </p:txBody>
      </p:sp>
      <p:sp>
        <p:nvSpPr>
          <p:cNvPr id="7" name="text-372"/>
          <p:cNvSpPr txBox="1"/>
          <p:nvPr/>
        </p:nvSpPr>
        <p:spPr>
          <a:xfrm>
            <a:off x="6949440" y="1463040"/>
            <a:ext cx="4663440" cy="320040"/>
          </a:xfrm>
          <a:prstGeom prst="rect">
            <a:avLst/>
          </a:prstGeom>
          <a:noFill/>
          <a:ln/>
        </p:spPr>
        <p:txBody>
          <a:bodyPr wrap="square" lIns="0" tIns="0" rIns="0" bIns="0" rtlCol="0" anchor="t"/>
          <a:lstStyle/>
          <a:p>
            <a:pPr indent="0" marL="0">
              <a:buNone/>
            </a:pPr>
            <a:r>
              <a:rPr lang="en-US" sz="1600" b="1" dirty="0">
                <a:solidFill>
                  <a:srgbClr val="0B318F"/>
                </a:solidFill>
              </a:rPr>
              <a:t>Escalation for a critical incident</a:t>
            </a:r>
            <a:endParaRPr lang="en-US" sz="1600" dirty="0"/>
          </a:p>
        </p:txBody>
      </p:sp>
      <p:sp>
        <p:nvSpPr>
          <p:cNvPr id="8" name="card-373"/>
          <p:cNvSpPr/>
          <p:nvPr/>
        </p:nvSpPr>
        <p:spPr>
          <a:xfrm>
            <a:off x="6949440" y="1920240"/>
            <a:ext cx="4663440" cy="868680"/>
          </a:xfrm>
          <a:prstGeom prst="roundRect">
            <a:avLst>
              <a:gd name="adj" fmla="val 8421"/>
            </a:avLst>
          </a:prstGeom>
          <a:solidFill>
            <a:srgbClr val="EEF2F9"/>
          </a:solidFill>
          <a:ln/>
        </p:spPr>
      </p:sp>
      <p:sp>
        <p:nvSpPr>
          <p:cNvPr id="9" name="text-374"/>
          <p:cNvSpPr txBox="1"/>
          <p:nvPr/>
        </p:nvSpPr>
        <p:spPr>
          <a:xfrm>
            <a:off x="7132320" y="1993392"/>
            <a:ext cx="822960" cy="411480"/>
          </a:xfrm>
          <a:prstGeom prst="rect">
            <a:avLst/>
          </a:prstGeom>
          <a:noFill/>
          <a:ln/>
        </p:spPr>
        <p:txBody>
          <a:bodyPr wrap="square" lIns="0" tIns="0" rIns="0" bIns="0" rtlCol="0" anchor="t"/>
          <a:lstStyle/>
          <a:p>
            <a:pPr indent="0" marL="0">
              <a:buNone/>
            </a:pPr>
            <a:r>
              <a:rPr lang="en-US" sz="2200" b="1" dirty="0">
                <a:solidFill>
                  <a:srgbClr val="2E5FAE"/>
                </a:solidFill>
                <a:latin typeface="Calibri" pitchFamily="34" charset="0"/>
                <a:ea typeface="Calibri" pitchFamily="34" charset="-122"/>
                <a:cs typeface="Calibri" pitchFamily="34" charset="-120"/>
              </a:rPr>
              <a:t>L1</a:t>
            </a:r>
            <a:endParaRPr lang="en-US" sz="2200" dirty="0"/>
          </a:p>
        </p:txBody>
      </p:sp>
      <p:sp>
        <p:nvSpPr>
          <p:cNvPr id="10" name="text-375"/>
          <p:cNvSpPr txBox="1"/>
          <p:nvPr/>
        </p:nvSpPr>
        <p:spPr>
          <a:xfrm>
            <a:off x="7132320" y="2423160"/>
            <a:ext cx="868680" cy="274320"/>
          </a:xfrm>
          <a:prstGeom prst="rect">
            <a:avLst/>
          </a:prstGeom>
          <a:noFill/>
          <a:ln/>
        </p:spPr>
        <p:txBody>
          <a:bodyPr wrap="square" lIns="0" tIns="0" rIns="0" bIns="0" rtlCol="0" anchor="t"/>
          <a:lstStyle/>
          <a:p>
            <a:pPr indent="0" marL="0">
              <a:buNone/>
            </a:pPr>
            <a:r>
              <a:rPr lang="en-US" sz="1100" b="1" dirty="0">
                <a:solidFill>
                  <a:srgbClr val="2E5FAE"/>
                </a:solidFill>
              </a:rPr>
              <a:t>0 min</a:t>
            </a:r>
            <a:endParaRPr lang="en-US" sz="1100" dirty="0"/>
          </a:p>
        </p:txBody>
      </p:sp>
      <p:sp>
        <p:nvSpPr>
          <p:cNvPr id="11" name="text-376"/>
          <p:cNvSpPr txBox="1"/>
          <p:nvPr/>
        </p:nvSpPr>
        <p:spPr>
          <a:xfrm>
            <a:off x="8001000" y="2029968"/>
            <a:ext cx="3474720" cy="320040"/>
          </a:xfrm>
          <a:prstGeom prst="rect">
            <a:avLst/>
          </a:prstGeom>
          <a:noFill/>
          <a:ln/>
        </p:spPr>
        <p:txBody>
          <a:bodyPr wrap="square" lIns="0" tIns="0" rIns="0" bIns="0" rtlCol="0" anchor="t"/>
          <a:lstStyle/>
          <a:p>
            <a:pPr indent="0" marL="0">
              <a:buNone/>
            </a:pPr>
            <a:r>
              <a:rPr lang="en-US" sz="1400" b="1" dirty="0">
                <a:solidFill>
                  <a:srgbClr val="0B318F"/>
                </a:solidFill>
              </a:rPr>
              <a:t>Helpdesk executive</a:t>
            </a:r>
            <a:endParaRPr lang="en-US" sz="1400" dirty="0"/>
          </a:p>
        </p:txBody>
      </p:sp>
      <p:sp>
        <p:nvSpPr>
          <p:cNvPr id="12" name="text-377"/>
          <p:cNvSpPr txBox="1"/>
          <p:nvPr/>
        </p:nvSpPr>
        <p:spPr>
          <a:xfrm>
            <a:off x="8001000" y="2377440"/>
            <a:ext cx="3474720" cy="365760"/>
          </a:xfrm>
          <a:prstGeom prst="rect">
            <a:avLst/>
          </a:prstGeom>
          <a:noFill/>
          <a:ln/>
        </p:spPr>
        <p:txBody>
          <a:bodyPr wrap="square" lIns="0" tIns="0" rIns="0" bIns="0" rtlCol="0" anchor="t"/>
          <a:lstStyle/>
          <a:p>
            <a:pPr indent="0" marL="0">
              <a:buNone/>
            </a:pPr>
            <a:r>
              <a:rPr lang="en-US" sz="1200" dirty="0">
                <a:solidFill>
                  <a:srgbClr val="1A1F2B"/>
                </a:solidFill>
              </a:rPr>
              <a:t>Logs, triages, applies known fixes</a:t>
            </a:r>
            <a:endParaRPr lang="en-US" sz="1200" dirty="0"/>
          </a:p>
        </p:txBody>
      </p:sp>
      <p:sp>
        <p:nvSpPr>
          <p:cNvPr id="13" name="card-378"/>
          <p:cNvSpPr/>
          <p:nvPr/>
        </p:nvSpPr>
        <p:spPr>
          <a:xfrm>
            <a:off x="7178040" y="2944368"/>
            <a:ext cx="4434840" cy="868680"/>
          </a:xfrm>
          <a:prstGeom prst="roundRect">
            <a:avLst>
              <a:gd name="adj" fmla="val 8421"/>
            </a:avLst>
          </a:prstGeom>
          <a:solidFill>
            <a:srgbClr val="EEF2F9"/>
          </a:solidFill>
          <a:ln/>
        </p:spPr>
      </p:sp>
      <p:sp>
        <p:nvSpPr>
          <p:cNvPr id="14" name="text-379"/>
          <p:cNvSpPr txBox="1"/>
          <p:nvPr/>
        </p:nvSpPr>
        <p:spPr>
          <a:xfrm>
            <a:off x="7360920" y="3017520"/>
            <a:ext cx="822960" cy="411480"/>
          </a:xfrm>
          <a:prstGeom prst="rect">
            <a:avLst/>
          </a:prstGeom>
          <a:noFill/>
          <a:ln/>
        </p:spPr>
        <p:txBody>
          <a:bodyPr wrap="square" lIns="0" tIns="0" rIns="0" bIns="0" rtlCol="0" anchor="t"/>
          <a:lstStyle/>
          <a:p>
            <a:pPr indent="0" marL="0">
              <a:buNone/>
            </a:pPr>
            <a:r>
              <a:rPr lang="en-US" sz="2200" b="1" dirty="0">
                <a:solidFill>
                  <a:srgbClr val="2E5FAE"/>
                </a:solidFill>
                <a:latin typeface="Calibri" pitchFamily="34" charset="0"/>
                <a:ea typeface="Calibri" pitchFamily="34" charset="-122"/>
                <a:cs typeface="Calibri" pitchFamily="34" charset="-120"/>
              </a:rPr>
              <a:t>L2</a:t>
            </a:r>
            <a:endParaRPr lang="en-US" sz="2200" dirty="0"/>
          </a:p>
        </p:txBody>
      </p:sp>
      <p:sp>
        <p:nvSpPr>
          <p:cNvPr id="15" name="text-380"/>
          <p:cNvSpPr txBox="1"/>
          <p:nvPr/>
        </p:nvSpPr>
        <p:spPr>
          <a:xfrm>
            <a:off x="7360920" y="3447288"/>
            <a:ext cx="868680" cy="274320"/>
          </a:xfrm>
          <a:prstGeom prst="rect">
            <a:avLst/>
          </a:prstGeom>
          <a:noFill/>
          <a:ln/>
        </p:spPr>
        <p:txBody>
          <a:bodyPr wrap="square" lIns="0" tIns="0" rIns="0" bIns="0" rtlCol="0" anchor="t"/>
          <a:lstStyle/>
          <a:p>
            <a:pPr indent="0" marL="0">
              <a:buNone/>
            </a:pPr>
            <a:r>
              <a:rPr lang="en-US" sz="1100" b="1" dirty="0">
                <a:solidFill>
                  <a:srgbClr val="2E5FAE"/>
                </a:solidFill>
              </a:rPr>
              <a:t>+30 min</a:t>
            </a:r>
            <a:endParaRPr lang="en-US" sz="1100" dirty="0"/>
          </a:p>
        </p:txBody>
      </p:sp>
      <p:sp>
        <p:nvSpPr>
          <p:cNvPr id="16" name="text-381"/>
          <p:cNvSpPr txBox="1"/>
          <p:nvPr/>
        </p:nvSpPr>
        <p:spPr>
          <a:xfrm>
            <a:off x="8229600" y="3054096"/>
            <a:ext cx="3246120" cy="320040"/>
          </a:xfrm>
          <a:prstGeom prst="rect">
            <a:avLst/>
          </a:prstGeom>
          <a:noFill/>
          <a:ln/>
        </p:spPr>
        <p:txBody>
          <a:bodyPr wrap="square" lIns="0" tIns="0" rIns="0" bIns="0" rtlCol="0" anchor="t"/>
          <a:lstStyle/>
          <a:p>
            <a:pPr indent="0" marL="0">
              <a:buNone/>
            </a:pPr>
            <a:r>
              <a:rPr lang="en-US" sz="1400" b="1" dirty="0">
                <a:solidFill>
                  <a:srgbClr val="0B318F"/>
                </a:solidFill>
              </a:rPr>
              <a:t>Application &amp; GIS engineers</a:t>
            </a:r>
            <a:endParaRPr lang="en-US" sz="1400" dirty="0"/>
          </a:p>
        </p:txBody>
      </p:sp>
      <p:sp>
        <p:nvSpPr>
          <p:cNvPr id="17" name="text-382"/>
          <p:cNvSpPr txBox="1"/>
          <p:nvPr/>
        </p:nvSpPr>
        <p:spPr>
          <a:xfrm>
            <a:off x="8229600" y="3401568"/>
            <a:ext cx="3246120" cy="365760"/>
          </a:xfrm>
          <a:prstGeom prst="rect">
            <a:avLst/>
          </a:prstGeom>
          <a:noFill/>
          <a:ln/>
        </p:spPr>
        <p:txBody>
          <a:bodyPr wrap="square" lIns="0" tIns="0" rIns="0" bIns="0" rtlCol="0" anchor="t"/>
          <a:lstStyle/>
          <a:p>
            <a:pPr indent="0" marL="0">
              <a:buNone/>
            </a:pPr>
            <a:r>
              <a:rPr lang="en-US" sz="1200" dirty="0">
                <a:solidFill>
                  <a:srgbClr val="1A1F2B"/>
                </a:solidFill>
              </a:rPr>
              <a:t>Functional, data and service faults</a:t>
            </a:r>
            <a:endParaRPr lang="en-US" sz="1200" dirty="0"/>
          </a:p>
        </p:txBody>
      </p:sp>
      <p:sp>
        <p:nvSpPr>
          <p:cNvPr id="18" name="card-383"/>
          <p:cNvSpPr/>
          <p:nvPr/>
        </p:nvSpPr>
        <p:spPr>
          <a:xfrm>
            <a:off x="7406640" y="3968496"/>
            <a:ext cx="4206240" cy="868680"/>
          </a:xfrm>
          <a:prstGeom prst="roundRect">
            <a:avLst>
              <a:gd name="adj" fmla="val 8421"/>
            </a:avLst>
          </a:prstGeom>
          <a:solidFill>
            <a:srgbClr val="EEF2F9"/>
          </a:solidFill>
          <a:ln/>
        </p:spPr>
      </p:sp>
      <p:sp>
        <p:nvSpPr>
          <p:cNvPr id="19" name="text-384"/>
          <p:cNvSpPr txBox="1"/>
          <p:nvPr/>
        </p:nvSpPr>
        <p:spPr>
          <a:xfrm>
            <a:off x="7589520" y="4041648"/>
            <a:ext cx="822960" cy="411480"/>
          </a:xfrm>
          <a:prstGeom prst="rect">
            <a:avLst/>
          </a:prstGeom>
          <a:noFill/>
          <a:ln/>
        </p:spPr>
        <p:txBody>
          <a:bodyPr wrap="square" lIns="0" tIns="0" rIns="0" bIns="0" rtlCol="0" anchor="t"/>
          <a:lstStyle/>
          <a:p>
            <a:pPr indent="0" marL="0">
              <a:buNone/>
            </a:pPr>
            <a:r>
              <a:rPr lang="en-US" sz="2200" b="1" dirty="0">
                <a:solidFill>
                  <a:srgbClr val="2E5FAE"/>
                </a:solidFill>
                <a:latin typeface="Calibri" pitchFamily="34" charset="0"/>
                <a:ea typeface="Calibri" pitchFamily="34" charset="-122"/>
                <a:cs typeface="Calibri" pitchFamily="34" charset="-120"/>
              </a:rPr>
              <a:t>L3</a:t>
            </a:r>
            <a:endParaRPr lang="en-US" sz="2200" dirty="0"/>
          </a:p>
        </p:txBody>
      </p:sp>
      <p:sp>
        <p:nvSpPr>
          <p:cNvPr id="20" name="text-385"/>
          <p:cNvSpPr txBox="1"/>
          <p:nvPr/>
        </p:nvSpPr>
        <p:spPr>
          <a:xfrm>
            <a:off x="7589520" y="4471416"/>
            <a:ext cx="868680" cy="274320"/>
          </a:xfrm>
          <a:prstGeom prst="rect">
            <a:avLst/>
          </a:prstGeom>
          <a:noFill/>
          <a:ln/>
        </p:spPr>
        <p:txBody>
          <a:bodyPr wrap="square" lIns="0" tIns="0" rIns="0" bIns="0" rtlCol="0" anchor="t"/>
          <a:lstStyle/>
          <a:p>
            <a:pPr indent="0" marL="0">
              <a:buNone/>
            </a:pPr>
            <a:r>
              <a:rPr lang="en-US" sz="1100" b="1" dirty="0">
                <a:solidFill>
                  <a:srgbClr val="2E5FAE"/>
                </a:solidFill>
              </a:rPr>
              <a:t>+1 hour</a:t>
            </a:r>
            <a:endParaRPr lang="en-US" sz="1100" dirty="0"/>
          </a:p>
        </p:txBody>
      </p:sp>
      <p:sp>
        <p:nvSpPr>
          <p:cNvPr id="21" name="text-386"/>
          <p:cNvSpPr txBox="1"/>
          <p:nvPr/>
        </p:nvSpPr>
        <p:spPr>
          <a:xfrm>
            <a:off x="8458200" y="4078224"/>
            <a:ext cx="3017520" cy="320040"/>
          </a:xfrm>
          <a:prstGeom prst="rect">
            <a:avLst/>
          </a:prstGeom>
          <a:noFill/>
          <a:ln/>
        </p:spPr>
        <p:txBody>
          <a:bodyPr wrap="square" lIns="0" tIns="0" rIns="0" bIns="0" rtlCol="0" anchor="t"/>
          <a:lstStyle/>
          <a:p>
            <a:pPr indent="0" marL="0">
              <a:buNone/>
            </a:pPr>
            <a:r>
              <a:rPr lang="en-US" sz="1400" b="1" dirty="0">
                <a:solidFill>
                  <a:srgbClr val="0B318F"/>
                </a:solidFill>
              </a:rPr>
              <a:t>Developers, DBA, cloud engineer</a:t>
            </a:r>
            <a:endParaRPr lang="en-US" sz="1400" dirty="0"/>
          </a:p>
        </p:txBody>
      </p:sp>
      <p:sp>
        <p:nvSpPr>
          <p:cNvPr id="22" name="text-387"/>
          <p:cNvSpPr txBox="1"/>
          <p:nvPr/>
        </p:nvSpPr>
        <p:spPr>
          <a:xfrm>
            <a:off x="8458200" y="4425696"/>
            <a:ext cx="3017520" cy="365760"/>
          </a:xfrm>
          <a:prstGeom prst="rect">
            <a:avLst/>
          </a:prstGeom>
          <a:noFill/>
          <a:ln/>
        </p:spPr>
        <p:txBody>
          <a:bodyPr wrap="square" lIns="0" tIns="0" rIns="0" bIns="0" rtlCol="0" anchor="t"/>
          <a:lstStyle/>
          <a:p>
            <a:pPr indent="0" marL="0">
              <a:buNone/>
            </a:pPr>
            <a:r>
              <a:rPr lang="en-US" sz="1200" dirty="0">
                <a:solidFill>
                  <a:srgbClr val="1A1F2B"/>
                </a:solidFill>
              </a:rPr>
              <a:t>Code fix, recovery, failover</a:t>
            </a:r>
            <a:endParaRPr lang="en-US" sz="1200" dirty="0"/>
          </a:p>
        </p:txBody>
      </p:sp>
      <p:sp>
        <p:nvSpPr>
          <p:cNvPr id="23" name="card-388"/>
          <p:cNvSpPr/>
          <p:nvPr/>
        </p:nvSpPr>
        <p:spPr>
          <a:xfrm>
            <a:off x="7635240" y="4992624"/>
            <a:ext cx="3977640" cy="868680"/>
          </a:xfrm>
          <a:prstGeom prst="roundRect">
            <a:avLst>
              <a:gd name="adj" fmla="val 8421"/>
            </a:avLst>
          </a:prstGeom>
          <a:solidFill>
            <a:srgbClr val="0B318F"/>
          </a:solidFill>
          <a:ln/>
        </p:spPr>
      </p:sp>
      <p:sp>
        <p:nvSpPr>
          <p:cNvPr id="24" name="text-389"/>
          <p:cNvSpPr txBox="1"/>
          <p:nvPr/>
        </p:nvSpPr>
        <p:spPr>
          <a:xfrm>
            <a:off x="7818120" y="5065776"/>
            <a:ext cx="822960" cy="411480"/>
          </a:xfrm>
          <a:prstGeom prst="rect">
            <a:avLst/>
          </a:prstGeom>
          <a:noFill/>
          <a:ln/>
        </p:spPr>
        <p:txBody>
          <a:bodyPr wrap="square" lIns="0" tIns="0" rIns="0" bIns="0" rtlCol="0" anchor="t"/>
          <a:lstStyle/>
          <a:p>
            <a:pPr indent="0" marL="0">
              <a:buNone/>
            </a:pPr>
            <a:r>
              <a:rPr lang="en-US" sz="2200" b="1" dirty="0">
                <a:solidFill>
                  <a:srgbClr val="FF6100"/>
                </a:solidFill>
                <a:latin typeface="Calibri" pitchFamily="34" charset="0"/>
                <a:ea typeface="Calibri" pitchFamily="34" charset="-122"/>
                <a:cs typeface="Calibri" pitchFamily="34" charset="-120"/>
              </a:rPr>
              <a:t>L4</a:t>
            </a:r>
            <a:endParaRPr lang="en-US" sz="2200" dirty="0"/>
          </a:p>
        </p:txBody>
      </p:sp>
      <p:sp>
        <p:nvSpPr>
          <p:cNvPr id="25" name="text-390"/>
          <p:cNvSpPr txBox="1"/>
          <p:nvPr/>
        </p:nvSpPr>
        <p:spPr>
          <a:xfrm>
            <a:off x="7818120" y="5495544"/>
            <a:ext cx="868680" cy="274320"/>
          </a:xfrm>
          <a:prstGeom prst="rect">
            <a:avLst/>
          </a:prstGeom>
          <a:noFill/>
          <a:ln/>
        </p:spPr>
        <p:txBody>
          <a:bodyPr wrap="square" lIns="0" tIns="0" rIns="0" bIns="0" rtlCol="0" anchor="t"/>
          <a:lstStyle/>
          <a:p>
            <a:pPr indent="0" marL="0">
              <a:buNone/>
            </a:pPr>
            <a:r>
              <a:rPr lang="en-US" sz="1100" b="1" dirty="0">
                <a:solidFill>
                  <a:srgbClr val="FF6100"/>
                </a:solidFill>
              </a:rPr>
              <a:t>+2 hours</a:t>
            </a:r>
            <a:endParaRPr lang="en-US" sz="1100" dirty="0"/>
          </a:p>
        </p:txBody>
      </p:sp>
      <p:sp>
        <p:nvSpPr>
          <p:cNvPr id="26" name="text-391"/>
          <p:cNvSpPr txBox="1"/>
          <p:nvPr/>
        </p:nvSpPr>
        <p:spPr>
          <a:xfrm>
            <a:off x="8686800" y="5102352"/>
            <a:ext cx="2788920" cy="320040"/>
          </a:xfrm>
          <a:prstGeom prst="rect">
            <a:avLst/>
          </a:prstGeom>
          <a:noFill/>
          <a:ln/>
        </p:spPr>
        <p:txBody>
          <a:bodyPr wrap="square" lIns="0" tIns="0" rIns="0" bIns="0" rtlCol="0" anchor="t"/>
          <a:lstStyle/>
          <a:p>
            <a:pPr indent="0" marL="0">
              <a:buNone/>
            </a:pPr>
            <a:r>
              <a:rPr lang="en-US" sz="1400" b="1" dirty="0">
                <a:solidFill>
                  <a:srgbClr val="FFFFFF"/>
                </a:solidFill>
              </a:rPr>
              <a:t>Support Lead &amp; Project Manager</a:t>
            </a:r>
            <a:endParaRPr lang="en-US" sz="1400" dirty="0"/>
          </a:p>
        </p:txBody>
      </p:sp>
      <p:sp>
        <p:nvSpPr>
          <p:cNvPr id="27" name="text-392"/>
          <p:cNvSpPr txBox="1"/>
          <p:nvPr/>
        </p:nvSpPr>
        <p:spPr>
          <a:xfrm>
            <a:off x="8686800" y="5449824"/>
            <a:ext cx="2788920" cy="365760"/>
          </a:xfrm>
          <a:prstGeom prst="rect">
            <a:avLst/>
          </a:prstGeom>
          <a:noFill/>
          <a:ln/>
        </p:spPr>
        <p:txBody>
          <a:bodyPr wrap="square" lIns="0" tIns="0" rIns="0" bIns="0" rtlCol="0" anchor="t"/>
          <a:lstStyle/>
          <a:p>
            <a:pPr indent="0" marL="0">
              <a:buNone/>
            </a:pPr>
            <a:r>
              <a:rPr lang="en-US" sz="1200" dirty="0">
                <a:solidFill>
                  <a:srgbClr val="EEF2F9"/>
                </a:solidFill>
              </a:rPr>
              <a:t>Department nodal officer informed; RCA in 48 h</a:t>
            </a:r>
            <a:endParaRPr lang="en-US" sz="1200" dirty="0"/>
          </a:p>
        </p:txBody>
      </p:sp>
      <p:sp>
        <p:nvSpPr>
          <p:cNvPr id="30" name="KeyPoint band blue"/>
          <p:cNvSpPr/>
          <p:nvPr/>
        </p:nvSpPr>
        <p:spPr>
          <a:xfrm>
            <a:off x="0" y="6611000"/>
            <a:ext cx="8298000" cy="247000"/>
          </a:xfrm>
          <a:prstGeom prst="rect">
            <a:avLst/>
          </a:prstGeom>
          <a:solidFill>
            <a:srgbClr val="3767B1"/>
          </a:solidFill>
          <a:ln>
            <a:noFill/>
          </a:ln>
        </p:spPr>
      </p:sp>
      <p:sp>
        <p:nvSpPr>
          <p:cNvPr id="31" name="KeyPoint band orange"/>
          <p:cNvSpPr/>
          <p:nvPr/>
        </p:nvSpPr>
        <p:spPr>
          <a:xfrm>
            <a:off x="8298000" y="6611000"/>
            <a:ext cx="3894000" cy="247000"/>
          </a:xfrm>
          <a:prstGeom prst="rect">
            <a:avLst/>
          </a:prstGeom>
          <a:solidFill>
            <a:srgbClr val="FF6100"/>
          </a:solidFill>
          <a:ln>
            <a:noFill/>
          </a:ln>
        </p:spPr>
      </p:sp>
      <p:sp>
        <p:nvSpPr>
          <p:cNvPr id="28" name="KeyPoint logo box"/>
          <p:cNvSpPr/>
          <p:nvPr/>
        </p:nvSpPr>
        <p:spPr>
          <a:xfrm>
            <a:off x="9972675" y="142875"/>
            <a:ext cx="2162175" cy="704850"/>
          </a:xfrm>
          <a:custGeom>
            <a:avLst/>
            <a:gdLst/>
            <a:ahLst/>
            <a:cxnLst/>
            <a:rect l="l" t="t" r="r" b="b"/>
            <a:pathLst>
              <a:path w="2162175" h="704850">
                <a:moveTo>
                  <a:pt x="2044700" y="0"/>
                </a:moveTo>
                <a:lnTo>
                  <a:pt x="117475" y="0"/>
                </a:lnTo>
                <a:lnTo>
                  <a:pt x="71741" y="9229"/>
                </a:lnTo>
                <a:lnTo>
                  <a:pt x="34401" y="34401"/>
                </a:lnTo>
                <a:lnTo>
                  <a:pt x="9229" y="71741"/>
                </a:lnTo>
                <a:lnTo>
                  <a:pt x="0" y="117475"/>
                </a:lnTo>
                <a:lnTo>
                  <a:pt x="0" y="587375"/>
                </a:lnTo>
                <a:lnTo>
                  <a:pt x="9229" y="633108"/>
                </a:lnTo>
                <a:lnTo>
                  <a:pt x="34401" y="670448"/>
                </a:lnTo>
                <a:lnTo>
                  <a:pt x="71741" y="695620"/>
                </a:lnTo>
                <a:lnTo>
                  <a:pt x="117475" y="704850"/>
                </a:lnTo>
                <a:lnTo>
                  <a:pt x="2044700" y="704850"/>
                </a:lnTo>
                <a:lnTo>
                  <a:pt x="2090433" y="695620"/>
                </a:lnTo>
                <a:lnTo>
                  <a:pt x="2127773" y="670448"/>
                </a:lnTo>
                <a:lnTo>
                  <a:pt x="2152945" y="633108"/>
                </a:lnTo>
                <a:lnTo>
                  <a:pt x="2162175" y="587375"/>
                </a:lnTo>
                <a:lnTo>
                  <a:pt x="2162175" y="117475"/>
                </a:lnTo>
                <a:lnTo>
                  <a:pt x="2152945" y="71741"/>
                </a:lnTo>
                <a:lnTo>
                  <a:pt x="2127773" y="34401"/>
                </a:lnTo>
                <a:lnTo>
                  <a:pt x="2090433" y="9229"/>
                </a:lnTo>
                <a:lnTo>
                  <a:pt x="2044700" y="0"/>
                </a:lnTo>
                <a:close/>
              </a:path>
            </a:pathLst>
          </a:custGeom>
          <a:solidFill>
            <a:srgbClr val="FFFFFF"/>
          </a:solidFill>
        </p:spPr>
        <p:txBody>
          <a:bodyPr wrap="square" lIns="0" tIns="0" rIns="0" bIns="0" rtlCol="0"/>
          <a:lstStyle/>
          <a:p/>
        </p:txBody>
      </p:sp>
      <p:pic>
        <p:nvPicPr>
          <p:cNvPr id="29" name="KeyPoint logo" descr="KeyPoint Technologies logo"/>
          <p:cNvPicPr/>
          <p:nvPr/>
        </p:nvPicPr>
        <p:blipFill>
          <a:blip r:embed="rIdKpLogo" cstate="print"/>
          <a:stretch>
            <a:fillRect/>
          </a:stretch>
        </p:blipFill>
        <p:spPr>
          <a:xfrm>
            <a:off x="10134600" y="209550"/>
            <a:ext cx="1828800" cy="5524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393"/>
          <p:cNvSpPr txBox="1"/>
          <p:nvPr/>
        </p:nvSpPr>
        <p:spPr>
          <a:xfrm>
            <a:off x="548640" y="274320"/>
            <a:ext cx="10972800" cy="256032"/>
          </a:xfrm>
          <a:prstGeom prst="rect">
            <a:avLst/>
          </a:prstGeom>
          <a:noFill/>
          <a:ln/>
        </p:spPr>
        <p:txBody>
          <a:bodyPr wrap="square" lIns="0" tIns="0" rIns="0" bIns="0" rtlCol="0" anchor="ctr"/>
          <a:lstStyle/>
          <a:p>
            <a:pPr indent="0" marL="0">
              <a:buNone/>
            </a:pPr>
            <a:r>
              <a:rPr lang="en-US" sz="1100" b="1" spc="200" kern="0" dirty="0">
                <a:solidFill>
                  <a:srgbClr val="2E5FAE"/>
                </a:solidFill>
              </a:rPr>
              <a:t>07 · EXIT MANAGEMENT PLAN</a:t>
            </a:r>
            <a:endParaRPr lang="en-US" sz="11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rgbClr val="0B318F"/>
                </a:solidFill>
              </a:rPr>
              <a:t>Exit management plan</a:t>
            </a:r>
            <a:endParaRPr lang="en-US" sz="3200" dirty="0"/>
          </a:p>
        </p:txBody>
      </p:sp>
      <p:sp>
        <p:nvSpPr>
          <p:cNvPr id="5" name="timeline-394"/>
          <p:cNvSpPr/>
          <p:nvPr/>
        </p:nvSpPr>
        <p:spPr>
          <a:xfrm>
            <a:off x="1005840" y="2148840"/>
            <a:ext cx="9875520" cy="0"/>
          </a:xfrm>
          <a:prstGeom prst="line">
            <a:avLst/>
          </a:prstGeom>
          <a:noFill/>
          <a:ln w="38100">
            <a:solidFill>
              <a:srgbClr val="D6DDEA"/>
            </a:solidFill>
            <a:prstDash val="solid"/>
          </a:ln>
        </p:spPr>
      </p:sp>
      <p:sp>
        <p:nvSpPr>
          <p:cNvPr id="6" name="num-bg-395"/>
          <p:cNvSpPr/>
          <p:nvPr/>
        </p:nvSpPr>
        <p:spPr>
          <a:xfrm>
            <a:off x="731520" y="1874520"/>
            <a:ext cx="548640" cy="548640"/>
          </a:xfrm>
          <a:prstGeom prst="ellipse">
            <a:avLst/>
          </a:prstGeom>
          <a:solidFill>
            <a:srgbClr val="6B7280"/>
          </a:solidFill>
          <a:ln/>
        </p:spPr>
      </p:sp>
      <p:sp>
        <p:nvSpPr>
          <p:cNvPr id="7" name="num-396"/>
          <p:cNvSpPr txBox="1"/>
          <p:nvPr/>
        </p:nvSpPr>
        <p:spPr>
          <a:xfrm>
            <a:off x="731520" y="18745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8" name="text-397"/>
          <p:cNvSpPr txBox="1"/>
          <p:nvPr/>
        </p:nvSpPr>
        <p:spPr>
          <a:xfrm>
            <a:off x="548640" y="2606040"/>
            <a:ext cx="2103120" cy="320040"/>
          </a:xfrm>
          <a:prstGeom prst="rect">
            <a:avLst/>
          </a:prstGeom>
          <a:noFill/>
          <a:ln/>
        </p:spPr>
        <p:txBody>
          <a:bodyPr wrap="square" lIns="0" tIns="0" rIns="0" bIns="0" rtlCol="0" anchor="t"/>
          <a:lstStyle/>
          <a:p>
            <a:pPr indent="0" marL="0">
              <a:buNone/>
            </a:pPr>
            <a:r>
              <a:rPr lang="en-US" sz="1300" b="1" dirty="0">
                <a:solidFill>
                  <a:srgbClr val="2E5FAE"/>
                </a:solidFill>
              </a:rPr>
              <a:t>Go-Live + 3 months</a:t>
            </a:r>
            <a:endParaRPr lang="en-US" sz="1300" dirty="0"/>
          </a:p>
        </p:txBody>
      </p:sp>
      <p:sp>
        <p:nvSpPr>
          <p:cNvPr id="9" name="text-398"/>
          <p:cNvSpPr txBox="1"/>
          <p:nvPr/>
        </p:nvSpPr>
        <p:spPr>
          <a:xfrm>
            <a:off x="548640" y="2926080"/>
            <a:ext cx="2103120" cy="365760"/>
          </a:xfrm>
          <a:prstGeom prst="rect">
            <a:avLst/>
          </a:prstGeom>
          <a:noFill/>
          <a:ln/>
        </p:spPr>
        <p:txBody>
          <a:bodyPr wrap="square" lIns="0" tIns="0" rIns="0" bIns="0" rtlCol="0" anchor="t"/>
          <a:lstStyle/>
          <a:p>
            <a:pPr indent="0" marL="0">
              <a:buNone/>
            </a:pPr>
            <a:r>
              <a:rPr lang="en-US" sz="1700" b="1" dirty="0">
                <a:solidFill>
                  <a:srgbClr val="0B318F"/>
                </a:solidFill>
              </a:rPr>
              <a:t>Exit plan submitted</a:t>
            </a:r>
            <a:endParaRPr lang="en-US" sz="1700" dirty="0"/>
          </a:p>
        </p:txBody>
      </p:sp>
      <p:sp>
        <p:nvSpPr>
          <p:cNvPr id="10" name="text-399"/>
          <p:cNvSpPr txBox="1"/>
          <p:nvPr/>
        </p:nvSpPr>
        <p:spPr>
          <a:xfrm>
            <a:off x="548640" y="3337560"/>
            <a:ext cx="2011680" cy="1463040"/>
          </a:xfrm>
          <a:prstGeom prst="rect">
            <a:avLst/>
          </a:prstGeom>
          <a:noFill/>
          <a:ln/>
        </p:spPr>
        <p:txBody>
          <a:bodyPr wrap="square" lIns="0" tIns="0" rIns="0" bIns="0" rtlCol="0" anchor="t"/>
          <a:lstStyle/>
          <a:p>
            <a:pPr indent="0" marL="0">
              <a:buNone/>
            </a:pPr>
            <a:r>
              <a:rPr lang="en-US" sz="1400" dirty="0">
                <a:solidFill>
                  <a:srgbClr val="1A1F2B"/>
                </a:solidFill>
              </a:rPr>
              <a:t>Asset register, environments, credentials vault, runbooks. Updated every year.</a:t>
            </a:r>
            <a:endParaRPr lang="en-US" sz="1400" dirty="0"/>
          </a:p>
        </p:txBody>
      </p:sp>
      <p:sp>
        <p:nvSpPr>
          <p:cNvPr id="11" name="num-bg-400"/>
          <p:cNvSpPr/>
          <p:nvPr/>
        </p:nvSpPr>
        <p:spPr>
          <a:xfrm>
            <a:off x="2980944" y="1874520"/>
            <a:ext cx="548640" cy="548640"/>
          </a:xfrm>
          <a:prstGeom prst="ellipse">
            <a:avLst/>
          </a:prstGeom>
          <a:solidFill>
            <a:srgbClr val="6B7280"/>
          </a:solidFill>
          <a:ln/>
        </p:spPr>
      </p:sp>
      <p:sp>
        <p:nvSpPr>
          <p:cNvPr id="12" name="num-401"/>
          <p:cNvSpPr txBox="1"/>
          <p:nvPr/>
        </p:nvSpPr>
        <p:spPr>
          <a:xfrm>
            <a:off x="2980944" y="18745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3" name="text-402"/>
          <p:cNvSpPr txBox="1"/>
          <p:nvPr/>
        </p:nvSpPr>
        <p:spPr>
          <a:xfrm>
            <a:off x="2798064" y="2606040"/>
            <a:ext cx="2103120" cy="320040"/>
          </a:xfrm>
          <a:prstGeom prst="rect">
            <a:avLst/>
          </a:prstGeom>
          <a:noFill/>
          <a:ln/>
        </p:spPr>
        <p:txBody>
          <a:bodyPr wrap="square" lIns="0" tIns="0" rIns="0" bIns="0" rtlCol="0" anchor="t"/>
          <a:lstStyle/>
          <a:p>
            <a:pPr indent="0" marL="0">
              <a:buNone/>
            </a:pPr>
            <a:r>
              <a:rPr lang="en-US" sz="1300" b="1" dirty="0">
                <a:solidFill>
                  <a:srgbClr val="2E5FAE"/>
                </a:solidFill>
              </a:rPr>
              <a:t>Contract end − 6 months</a:t>
            </a:r>
            <a:endParaRPr lang="en-US" sz="1300" dirty="0"/>
          </a:p>
        </p:txBody>
      </p:sp>
      <p:sp>
        <p:nvSpPr>
          <p:cNvPr id="14" name="text-403"/>
          <p:cNvSpPr txBox="1"/>
          <p:nvPr/>
        </p:nvSpPr>
        <p:spPr>
          <a:xfrm>
            <a:off x="2798064" y="2926080"/>
            <a:ext cx="2103120" cy="365760"/>
          </a:xfrm>
          <a:prstGeom prst="rect">
            <a:avLst/>
          </a:prstGeom>
          <a:noFill/>
          <a:ln/>
        </p:spPr>
        <p:txBody>
          <a:bodyPr wrap="square" lIns="0" tIns="0" rIns="0" bIns="0" rtlCol="0" anchor="t"/>
          <a:lstStyle/>
          <a:p>
            <a:pPr indent="0" marL="0">
              <a:buNone/>
            </a:pPr>
            <a:r>
              <a:rPr lang="en-US" sz="1700" b="1" dirty="0">
                <a:solidFill>
                  <a:srgbClr val="0B318F"/>
                </a:solidFill>
              </a:rPr>
              <a:t>Readiness review</a:t>
            </a:r>
            <a:endParaRPr lang="en-US" sz="1700" dirty="0"/>
          </a:p>
        </p:txBody>
      </p:sp>
      <p:sp>
        <p:nvSpPr>
          <p:cNvPr id="15" name="text-404"/>
          <p:cNvSpPr txBox="1"/>
          <p:nvPr/>
        </p:nvSpPr>
        <p:spPr>
          <a:xfrm>
            <a:off x="2798064" y="3337560"/>
            <a:ext cx="2011680" cy="1463040"/>
          </a:xfrm>
          <a:prstGeom prst="rect">
            <a:avLst/>
          </a:prstGeom>
          <a:noFill/>
          <a:ln/>
        </p:spPr>
        <p:txBody>
          <a:bodyPr wrap="square" lIns="0" tIns="0" rIns="0" bIns="0" rtlCol="0" anchor="t"/>
          <a:lstStyle/>
          <a:p>
            <a:pPr indent="0" marL="0">
              <a:buNone/>
            </a:pPr>
            <a:r>
              <a:rPr lang="en-US" sz="1400" dirty="0">
                <a:solidFill>
                  <a:srgbClr val="1A1F2B"/>
                </a:solidFill>
              </a:rPr>
              <a:t>Joint review with the Department and TGTS. Incoming provider identified.</a:t>
            </a:r>
            <a:endParaRPr lang="en-US" sz="1400" dirty="0"/>
          </a:p>
        </p:txBody>
      </p:sp>
      <p:sp>
        <p:nvSpPr>
          <p:cNvPr id="16" name="num-bg-405"/>
          <p:cNvSpPr/>
          <p:nvPr/>
        </p:nvSpPr>
        <p:spPr>
          <a:xfrm>
            <a:off x="5230368" y="1874520"/>
            <a:ext cx="548640" cy="548640"/>
          </a:xfrm>
          <a:prstGeom prst="ellipse">
            <a:avLst/>
          </a:prstGeom>
          <a:solidFill>
            <a:srgbClr val="2E5FAE"/>
          </a:solidFill>
          <a:ln/>
        </p:spPr>
      </p:sp>
      <p:sp>
        <p:nvSpPr>
          <p:cNvPr id="17" name="num-406"/>
          <p:cNvSpPr txBox="1"/>
          <p:nvPr/>
        </p:nvSpPr>
        <p:spPr>
          <a:xfrm>
            <a:off x="5230368" y="18745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8" name="text-407"/>
          <p:cNvSpPr txBox="1"/>
          <p:nvPr/>
        </p:nvSpPr>
        <p:spPr>
          <a:xfrm>
            <a:off x="5047488" y="2606040"/>
            <a:ext cx="2103120" cy="320040"/>
          </a:xfrm>
          <a:prstGeom prst="rect">
            <a:avLst/>
          </a:prstGeom>
          <a:noFill/>
          <a:ln/>
        </p:spPr>
        <p:txBody>
          <a:bodyPr wrap="square" lIns="0" tIns="0" rIns="0" bIns="0" rtlCol="0" anchor="t"/>
          <a:lstStyle/>
          <a:p>
            <a:pPr indent="0" marL="0">
              <a:buNone/>
            </a:pPr>
            <a:r>
              <a:rPr lang="en-US" sz="1300" b="1" dirty="0">
                <a:solidFill>
                  <a:srgbClr val="2E5FAE"/>
                </a:solidFill>
              </a:rPr>
              <a:t>Within 15 days</a:t>
            </a:r>
            <a:endParaRPr lang="en-US" sz="1300" dirty="0"/>
          </a:p>
        </p:txBody>
      </p:sp>
      <p:sp>
        <p:nvSpPr>
          <p:cNvPr id="19" name="text-408"/>
          <p:cNvSpPr txBox="1"/>
          <p:nvPr/>
        </p:nvSpPr>
        <p:spPr>
          <a:xfrm>
            <a:off x="5047488" y="2926080"/>
            <a:ext cx="2103120" cy="365760"/>
          </a:xfrm>
          <a:prstGeom prst="rect">
            <a:avLst/>
          </a:prstGeom>
          <a:noFill/>
          <a:ln/>
        </p:spPr>
        <p:txBody>
          <a:bodyPr wrap="square" lIns="0" tIns="0" rIns="0" bIns="0" rtlCol="0" anchor="t"/>
          <a:lstStyle/>
          <a:p>
            <a:pPr indent="0" marL="0">
              <a:buNone/>
            </a:pPr>
            <a:r>
              <a:rPr lang="en-US" sz="1700" b="1" dirty="0">
                <a:solidFill>
                  <a:srgbClr val="0B318F"/>
                </a:solidFill>
              </a:rPr>
              <a:t>Full handover</a:t>
            </a:r>
            <a:endParaRPr lang="en-US" sz="1700" dirty="0"/>
          </a:p>
        </p:txBody>
      </p:sp>
      <p:sp>
        <p:nvSpPr>
          <p:cNvPr id="20" name="text-409"/>
          <p:cNvSpPr txBox="1"/>
          <p:nvPr/>
        </p:nvSpPr>
        <p:spPr>
          <a:xfrm>
            <a:off x="5047488" y="3337560"/>
            <a:ext cx="2011680" cy="1463040"/>
          </a:xfrm>
          <a:prstGeom prst="rect">
            <a:avLst/>
          </a:prstGeom>
          <a:noFill/>
          <a:ln/>
        </p:spPr>
        <p:txBody>
          <a:bodyPr wrap="square" lIns="0" tIns="0" rIns="0" bIns="0" rtlCol="0" anchor="t"/>
          <a:lstStyle/>
          <a:p>
            <a:pPr indent="0" marL="0">
              <a:buNone/>
            </a:pPr>
            <a:r>
              <a:rPr lang="en-US" sz="1400" dirty="0">
                <a:solidFill>
                  <a:srgbClr val="1A1F2B"/>
                </a:solidFill>
              </a:rPr>
              <a:t>Source code, database, GIS datasets, backups, documentation, credentials.</a:t>
            </a:r>
            <a:endParaRPr lang="en-US" sz="1400" dirty="0"/>
          </a:p>
        </p:txBody>
      </p:sp>
      <p:sp>
        <p:nvSpPr>
          <p:cNvPr id="21" name="num-bg-410"/>
          <p:cNvSpPr/>
          <p:nvPr/>
        </p:nvSpPr>
        <p:spPr>
          <a:xfrm>
            <a:off x="7479792" y="1874520"/>
            <a:ext cx="548640" cy="548640"/>
          </a:xfrm>
          <a:prstGeom prst="ellipse">
            <a:avLst/>
          </a:prstGeom>
          <a:solidFill>
            <a:srgbClr val="2E5FAE"/>
          </a:solidFill>
          <a:ln/>
        </p:spPr>
      </p:sp>
      <p:sp>
        <p:nvSpPr>
          <p:cNvPr id="22" name="num-411"/>
          <p:cNvSpPr txBox="1"/>
          <p:nvPr/>
        </p:nvSpPr>
        <p:spPr>
          <a:xfrm>
            <a:off x="7479792" y="18745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3" name="text-412"/>
          <p:cNvSpPr txBox="1"/>
          <p:nvPr/>
        </p:nvSpPr>
        <p:spPr>
          <a:xfrm>
            <a:off x="7296912" y="2606040"/>
            <a:ext cx="2103120" cy="320040"/>
          </a:xfrm>
          <a:prstGeom prst="rect">
            <a:avLst/>
          </a:prstGeom>
          <a:noFill/>
          <a:ln/>
        </p:spPr>
        <p:txBody>
          <a:bodyPr wrap="square" lIns="0" tIns="0" rIns="0" bIns="0" rtlCol="0" anchor="t"/>
          <a:lstStyle/>
          <a:p>
            <a:pPr indent="0" marL="0">
              <a:buNone/>
            </a:pPr>
            <a:r>
              <a:rPr lang="en-US" sz="1300" b="1" dirty="0">
                <a:solidFill>
                  <a:srgbClr val="2E5FAE"/>
                </a:solidFill>
              </a:rPr>
              <a:t>3 months</a:t>
            </a:r>
            <a:endParaRPr lang="en-US" sz="1300" dirty="0"/>
          </a:p>
        </p:txBody>
      </p:sp>
      <p:sp>
        <p:nvSpPr>
          <p:cNvPr id="24" name="text-413"/>
          <p:cNvSpPr txBox="1"/>
          <p:nvPr/>
        </p:nvSpPr>
        <p:spPr>
          <a:xfrm>
            <a:off x="7296912" y="2926080"/>
            <a:ext cx="2103120" cy="365760"/>
          </a:xfrm>
          <a:prstGeom prst="rect">
            <a:avLst/>
          </a:prstGeom>
          <a:noFill/>
          <a:ln/>
        </p:spPr>
        <p:txBody>
          <a:bodyPr wrap="square" lIns="0" tIns="0" rIns="0" bIns="0" rtlCol="0" anchor="t"/>
          <a:lstStyle/>
          <a:p>
            <a:pPr indent="0" marL="0">
              <a:buNone/>
            </a:pPr>
            <a:r>
              <a:rPr lang="en-US" sz="1700" b="1" dirty="0">
                <a:solidFill>
                  <a:srgbClr val="0B318F"/>
                </a:solidFill>
              </a:rPr>
              <a:t>Parallel run</a:t>
            </a:r>
            <a:endParaRPr lang="en-US" sz="1700" dirty="0"/>
          </a:p>
        </p:txBody>
      </p:sp>
      <p:sp>
        <p:nvSpPr>
          <p:cNvPr id="25" name="text-414"/>
          <p:cNvSpPr txBox="1"/>
          <p:nvPr/>
        </p:nvSpPr>
        <p:spPr>
          <a:xfrm>
            <a:off x="7296912" y="3337560"/>
            <a:ext cx="2011680" cy="1463040"/>
          </a:xfrm>
          <a:prstGeom prst="rect">
            <a:avLst/>
          </a:prstGeom>
          <a:noFill/>
          <a:ln/>
        </p:spPr>
        <p:txBody>
          <a:bodyPr wrap="square" lIns="0" tIns="0" rIns="0" bIns="0" rtlCol="0" anchor="t"/>
          <a:lstStyle/>
          <a:p>
            <a:pPr indent="0" marL="0">
              <a:buNone/>
            </a:pPr>
            <a:r>
              <a:rPr lang="en-US" sz="1400" dirty="0">
                <a:solidFill>
                  <a:srgbClr val="1A1F2B"/>
                </a:solidFill>
              </a:rPr>
              <a:t>Shadowing, then reverse-shadowing, with the new provider until sign-off.</a:t>
            </a:r>
            <a:endParaRPr lang="en-US" sz="1400" dirty="0"/>
          </a:p>
        </p:txBody>
      </p:sp>
      <p:sp>
        <p:nvSpPr>
          <p:cNvPr id="26" name="num-bg-415"/>
          <p:cNvSpPr/>
          <p:nvPr/>
        </p:nvSpPr>
        <p:spPr>
          <a:xfrm>
            <a:off x="9729216" y="1874520"/>
            <a:ext cx="548640" cy="548640"/>
          </a:xfrm>
          <a:prstGeom prst="ellipse">
            <a:avLst/>
          </a:prstGeom>
          <a:solidFill>
            <a:srgbClr val="2E5FAE"/>
          </a:solidFill>
          <a:ln/>
        </p:spPr>
      </p:sp>
      <p:sp>
        <p:nvSpPr>
          <p:cNvPr id="27" name="num-416"/>
          <p:cNvSpPr txBox="1"/>
          <p:nvPr/>
        </p:nvSpPr>
        <p:spPr>
          <a:xfrm>
            <a:off x="9729216" y="18745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8" name="text-417"/>
          <p:cNvSpPr txBox="1"/>
          <p:nvPr/>
        </p:nvSpPr>
        <p:spPr>
          <a:xfrm>
            <a:off x="9546336" y="2606040"/>
            <a:ext cx="2103120" cy="320040"/>
          </a:xfrm>
          <a:prstGeom prst="rect">
            <a:avLst/>
          </a:prstGeom>
          <a:noFill/>
          <a:ln/>
        </p:spPr>
        <p:txBody>
          <a:bodyPr wrap="square" lIns="0" tIns="0" rIns="0" bIns="0" rtlCol="0" anchor="t"/>
          <a:lstStyle/>
          <a:p>
            <a:pPr indent="0" marL="0">
              <a:buNone/>
            </a:pPr>
            <a:r>
              <a:rPr lang="en-US" sz="1300" b="1" dirty="0">
                <a:solidFill>
                  <a:srgbClr val="2E5FAE"/>
                </a:solidFill>
              </a:rPr>
              <a:t>Within 30 days</a:t>
            </a:r>
            <a:endParaRPr lang="en-US" sz="1300" dirty="0"/>
          </a:p>
        </p:txBody>
      </p:sp>
      <p:sp>
        <p:nvSpPr>
          <p:cNvPr id="29" name="text-418"/>
          <p:cNvSpPr txBox="1"/>
          <p:nvPr/>
        </p:nvSpPr>
        <p:spPr>
          <a:xfrm>
            <a:off x="9546336" y="2926080"/>
            <a:ext cx="2103120" cy="365760"/>
          </a:xfrm>
          <a:prstGeom prst="rect">
            <a:avLst/>
          </a:prstGeom>
          <a:noFill/>
          <a:ln/>
        </p:spPr>
        <p:txBody>
          <a:bodyPr wrap="square" lIns="0" tIns="0" rIns="0" bIns="0" rtlCol="0" anchor="t"/>
          <a:lstStyle/>
          <a:p>
            <a:pPr indent="0" marL="0">
              <a:buNone/>
            </a:pPr>
            <a:r>
              <a:rPr lang="en-US" sz="1700" b="1" dirty="0">
                <a:solidFill>
                  <a:srgbClr val="0B318F"/>
                </a:solidFill>
              </a:rPr>
              <a:t>Data deletion</a:t>
            </a:r>
            <a:endParaRPr lang="en-US" sz="1700" dirty="0"/>
          </a:p>
        </p:txBody>
      </p:sp>
      <p:sp>
        <p:nvSpPr>
          <p:cNvPr id="30" name="text-419"/>
          <p:cNvSpPr txBox="1"/>
          <p:nvPr/>
        </p:nvSpPr>
        <p:spPr>
          <a:xfrm>
            <a:off x="9546336" y="3337560"/>
            <a:ext cx="2011680" cy="1463040"/>
          </a:xfrm>
          <a:prstGeom prst="rect">
            <a:avLst/>
          </a:prstGeom>
          <a:noFill/>
          <a:ln/>
        </p:spPr>
        <p:txBody>
          <a:bodyPr wrap="square" lIns="0" tIns="0" rIns="0" bIns="0" rtlCol="0" anchor="t"/>
          <a:lstStyle/>
          <a:p>
            <a:pPr indent="0" marL="0">
              <a:buNone/>
            </a:pPr>
            <a:r>
              <a:rPr lang="en-US" sz="1400" dirty="0">
                <a:solidFill>
                  <a:srgbClr val="1A1F2B"/>
                </a:solidFill>
              </a:rPr>
              <a:t>Department data removed from our systems. Deletion certificate issued.</a:t>
            </a:r>
            <a:endParaRPr lang="en-US" sz="1400" dirty="0"/>
          </a:p>
        </p:txBody>
      </p:sp>
      <p:sp>
        <p:nvSpPr>
          <p:cNvPr id="31" name="card-420"/>
          <p:cNvSpPr/>
          <p:nvPr/>
        </p:nvSpPr>
        <p:spPr>
          <a:xfrm>
            <a:off x="548640" y="5029200"/>
            <a:ext cx="11064240" cy="1005840"/>
          </a:xfrm>
          <a:prstGeom prst="roundRect">
            <a:avLst>
              <a:gd name="adj" fmla="val 7273"/>
            </a:avLst>
          </a:prstGeom>
          <a:solidFill>
            <a:srgbClr val="0B318F"/>
          </a:solidFill>
          <a:ln/>
        </p:spPr>
      </p:sp>
      <p:sp>
        <p:nvSpPr>
          <p:cNvPr id="32" name="text-421"/>
          <p:cNvSpPr txBox="1"/>
          <p:nvPr/>
        </p:nvSpPr>
        <p:spPr>
          <a:xfrm>
            <a:off x="822960" y="5120640"/>
            <a:ext cx="10515600" cy="822960"/>
          </a:xfrm>
          <a:prstGeom prst="rect">
            <a:avLst/>
          </a:prstGeom>
          <a:noFill/>
          <a:ln/>
        </p:spPr>
        <p:txBody>
          <a:bodyPr wrap="square" lIns="0" tIns="0" rIns="0" bIns="0" rtlCol="0" anchor="ctr"/>
          <a:lstStyle/>
          <a:p>
            <a:pPr indent="0" marL="0">
              <a:buNone/>
            </a:pPr>
            <a:r>
              <a:rPr lang="en-US" sz="1500" b="1" dirty="0">
                <a:solidFill>
                  <a:srgbClr val="FF6100"/>
                </a:solidFill>
              </a:rPr>
              <a:t>Ownership:  </a:t>
            </a:r>
            <a:pPr indent="0" marL="0">
              <a:buNone/>
            </a:pPr>
            <a:r>
              <a:rPr lang="en-US" sz="1500" dirty="0">
                <a:solidFill>
                  <a:srgbClr val="FFFFFF"/>
                </a:solidFill>
              </a:rPr>
              <a:t>the Department owns all data, source code and configuration. These rights survive completion, termination and exit, and remain enforceable indefinitely.</a:t>
            </a:r>
            <a:endParaRPr lang="en-US" sz="1500" dirty="0"/>
          </a:p>
        </p:txBody>
      </p:sp>
      <p:sp>
        <p:nvSpPr>
          <p:cNvPr id="35" name="KeyPoint band blue"/>
          <p:cNvSpPr/>
          <p:nvPr/>
        </p:nvSpPr>
        <p:spPr>
          <a:xfrm>
            <a:off x="0" y="6611000"/>
            <a:ext cx="8298000" cy="247000"/>
          </a:xfrm>
          <a:prstGeom prst="rect">
            <a:avLst/>
          </a:prstGeom>
          <a:solidFill>
            <a:srgbClr val="3767B1"/>
          </a:solidFill>
          <a:ln>
            <a:noFill/>
          </a:ln>
        </p:spPr>
      </p:sp>
      <p:sp>
        <p:nvSpPr>
          <p:cNvPr id="36" name="KeyPoint band orange"/>
          <p:cNvSpPr/>
          <p:nvPr/>
        </p:nvSpPr>
        <p:spPr>
          <a:xfrm>
            <a:off x="8298000" y="6611000"/>
            <a:ext cx="3894000" cy="247000"/>
          </a:xfrm>
          <a:prstGeom prst="rect">
            <a:avLst/>
          </a:prstGeom>
          <a:solidFill>
            <a:srgbClr val="FF6100"/>
          </a:solidFill>
          <a:ln>
            <a:noFill/>
          </a:ln>
        </p:spPr>
      </p:sp>
      <p:sp>
        <p:nvSpPr>
          <p:cNvPr id="33" name="KeyPoint logo box"/>
          <p:cNvSpPr/>
          <p:nvPr/>
        </p:nvSpPr>
        <p:spPr>
          <a:xfrm>
            <a:off x="9972675" y="142875"/>
            <a:ext cx="2162175" cy="704850"/>
          </a:xfrm>
          <a:custGeom>
            <a:avLst/>
            <a:gdLst/>
            <a:ahLst/>
            <a:cxnLst/>
            <a:rect l="l" t="t" r="r" b="b"/>
            <a:pathLst>
              <a:path w="2162175" h="704850">
                <a:moveTo>
                  <a:pt x="2044700" y="0"/>
                </a:moveTo>
                <a:lnTo>
                  <a:pt x="117475" y="0"/>
                </a:lnTo>
                <a:lnTo>
                  <a:pt x="71741" y="9229"/>
                </a:lnTo>
                <a:lnTo>
                  <a:pt x="34401" y="34401"/>
                </a:lnTo>
                <a:lnTo>
                  <a:pt x="9229" y="71741"/>
                </a:lnTo>
                <a:lnTo>
                  <a:pt x="0" y="117475"/>
                </a:lnTo>
                <a:lnTo>
                  <a:pt x="0" y="587375"/>
                </a:lnTo>
                <a:lnTo>
                  <a:pt x="9229" y="633108"/>
                </a:lnTo>
                <a:lnTo>
                  <a:pt x="34401" y="670448"/>
                </a:lnTo>
                <a:lnTo>
                  <a:pt x="71741" y="695620"/>
                </a:lnTo>
                <a:lnTo>
                  <a:pt x="117475" y="704850"/>
                </a:lnTo>
                <a:lnTo>
                  <a:pt x="2044700" y="704850"/>
                </a:lnTo>
                <a:lnTo>
                  <a:pt x="2090433" y="695620"/>
                </a:lnTo>
                <a:lnTo>
                  <a:pt x="2127773" y="670448"/>
                </a:lnTo>
                <a:lnTo>
                  <a:pt x="2152945" y="633108"/>
                </a:lnTo>
                <a:lnTo>
                  <a:pt x="2162175" y="587375"/>
                </a:lnTo>
                <a:lnTo>
                  <a:pt x="2162175" y="117475"/>
                </a:lnTo>
                <a:lnTo>
                  <a:pt x="2152945" y="71741"/>
                </a:lnTo>
                <a:lnTo>
                  <a:pt x="2127773" y="34401"/>
                </a:lnTo>
                <a:lnTo>
                  <a:pt x="2090433" y="9229"/>
                </a:lnTo>
                <a:lnTo>
                  <a:pt x="2044700" y="0"/>
                </a:lnTo>
                <a:close/>
              </a:path>
            </a:pathLst>
          </a:custGeom>
          <a:solidFill>
            <a:srgbClr val="FFFFFF"/>
          </a:solidFill>
        </p:spPr>
        <p:txBody>
          <a:bodyPr wrap="square" lIns="0" tIns="0" rIns="0" bIns="0" rtlCol="0"/>
          <a:lstStyle/>
          <a:p/>
        </p:txBody>
      </p:sp>
      <p:pic>
        <p:nvPicPr>
          <p:cNvPr id="34" name="KeyPoint logo" descr="KeyPoint Technologies logo"/>
          <p:cNvPicPr/>
          <p:nvPr/>
        </p:nvPicPr>
        <p:blipFill>
          <a:blip r:embed="rIdKpLogo" cstate="print"/>
          <a:stretch>
            <a:fillRect/>
          </a:stretch>
        </p:blipFill>
        <p:spPr>
          <a:xfrm>
            <a:off x="10134600" y="209550"/>
            <a:ext cx="1828800" cy="55245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4">
    <p:bg>
      <p:bgPr>
        <a:solidFill>
          <a:srgbClr val="0B318F"/>
        </a:solid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lIns="0" tIns="0" rIns="0" bIns="0" rtlCol="0" anchor="t"/>
          <a:lstStyle/>
          <a:p>
            <a:pPr algn="l" indent="0" marL="0">
              <a:buNone/>
            </a:pPr>
            <a:r>
              <a:rPr lang="en-US" sz="4000" b="1" dirty="0">
                <a:solidFill>
                  <a:srgbClr val="FFFFFF"/>
                </a:solidFill>
              </a:rPr>
              <a:t>Summary</a:t>
            </a:r>
            <a:endParaRPr lang="en-US" sz="4000" dirty="0"/>
          </a:p>
        </p:txBody>
      </p:sp>
      <p:sp>
        <p:nvSpPr>
          <p:cNvPr id="3" name="text-422"/>
          <p:cNvSpPr txBox="1"/>
          <p:nvPr/>
        </p:nvSpPr>
        <p:spPr>
          <a:xfrm>
            <a:off x="731520" y="3886200"/>
            <a:ext cx="3383280" cy="411480"/>
          </a:xfrm>
          <a:prstGeom prst="rect">
            <a:avLst/>
          </a:prstGeom>
          <a:noFill/>
          <a:ln/>
        </p:spPr>
        <p:txBody>
          <a:bodyPr wrap="square" lIns="0" tIns="0" rIns="0" bIns="0" rtlCol="0" anchor="t"/>
          <a:lstStyle/>
          <a:p>
            <a:pPr indent="0" marL="0">
              <a:buNone/>
            </a:pPr>
            <a:r>
              <a:rPr lang="en-US" sz="1900" b="1" dirty="0">
                <a:solidFill>
                  <a:srgbClr val="FF6100"/>
                </a:solidFill>
              </a:rPr>
              <a:t>Understands the need</a:t>
            </a:r>
            <a:endParaRPr lang="en-US" sz="1900" dirty="0"/>
          </a:p>
        </p:txBody>
      </p:sp>
      <p:sp>
        <p:nvSpPr>
          <p:cNvPr id="4" name="text-423"/>
          <p:cNvSpPr txBox="1"/>
          <p:nvPr/>
        </p:nvSpPr>
        <p:spPr>
          <a:xfrm>
            <a:off x="731520" y="4343400"/>
            <a:ext cx="3291840" cy="822960"/>
          </a:xfrm>
          <a:prstGeom prst="rect">
            <a:avLst/>
          </a:prstGeom>
          <a:noFill/>
          <a:ln/>
        </p:spPr>
        <p:txBody>
          <a:bodyPr wrap="square" lIns="0" tIns="0" rIns="0" bIns="0" rtlCol="0" anchor="t"/>
          <a:lstStyle/>
          <a:p>
            <a:pPr indent="0" marL="0">
              <a:buNone/>
            </a:pPr>
            <a:r>
              <a:rPr lang="en-US" sz="1500" dirty="0">
                <a:solidFill>
                  <a:srgbClr val="FFFFFF"/>
                </a:solidFill>
              </a:rPr>
              <a:t>One lease-centric GIS platform covering all 11 modules</a:t>
            </a:r>
            <a:endParaRPr lang="en-US" sz="1500" dirty="0"/>
          </a:p>
        </p:txBody>
      </p:sp>
      <p:sp>
        <p:nvSpPr>
          <p:cNvPr id="5" name="text-424"/>
          <p:cNvSpPr txBox="1"/>
          <p:nvPr/>
        </p:nvSpPr>
        <p:spPr>
          <a:xfrm>
            <a:off x="4389120" y="3886200"/>
            <a:ext cx="3383280" cy="411480"/>
          </a:xfrm>
          <a:prstGeom prst="rect">
            <a:avLst/>
          </a:prstGeom>
          <a:noFill/>
          <a:ln/>
        </p:spPr>
        <p:txBody>
          <a:bodyPr wrap="square" lIns="0" tIns="0" rIns="0" bIns="0" rtlCol="0" anchor="t"/>
          <a:lstStyle/>
          <a:p>
            <a:pPr indent="0" marL="0">
              <a:buNone/>
            </a:pPr>
            <a:r>
              <a:rPr lang="en-US" sz="1900" b="1" dirty="0">
                <a:solidFill>
                  <a:srgbClr val="FF6100"/>
                </a:solidFill>
              </a:rPr>
              <a:t>Delivers on time</a:t>
            </a:r>
            <a:endParaRPr lang="en-US" sz="1900" dirty="0"/>
          </a:p>
        </p:txBody>
      </p:sp>
      <p:sp>
        <p:nvSpPr>
          <p:cNvPr id="6" name="text-425"/>
          <p:cNvSpPr txBox="1"/>
          <p:nvPr/>
        </p:nvSpPr>
        <p:spPr>
          <a:xfrm>
            <a:off x="4389120" y="4343400"/>
            <a:ext cx="3291840" cy="822960"/>
          </a:xfrm>
          <a:prstGeom prst="rect">
            <a:avLst/>
          </a:prstGeom>
          <a:noFill/>
          <a:ln/>
        </p:spPr>
        <p:txBody>
          <a:bodyPr wrap="square" lIns="0" tIns="0" rIns="0" bIns="0" rtlCol="0" anchor="t"/>
          <a:lstStyle/>
          <a:p>
            <a:pPr indent="0" marL="0">
              <a:buNone/>
            </a:pPr>
            <a:r>
              <a:rPr lang="en-US" sz="1500" dirty="0">
                <a:solidFill>
                  <a:srgbClr val="FFFFFF"/>
                </a:solidFill>
              </a:rPr>
              <a:t>Go-Live at T+90 days with a proven open-source stack</a:t>
            </a:r>
            <a:endParaRPr lang="en-US" sz="1500" dirty="0"/>
          </a:p>
        </p:txBody>
      </p:sp>
      <p:sp>
        <p:nvSpPr>
          <p:cNvPr id="7" name="text-426"/>
          <p:cNvSpPr txBox="1"/>
          <p:nvPr/>
        </p:nvSpPr>
        <p:spPr>
          <a:xfrm>
            <a:off x="8046720" y="3886200"/>
            <a:ext cx="3383280" cy="411480"/>
          </a:xfrm>
          <a:prstGeom prst="rect">
            <a:avLst/>
          </a:prstGeom>
          <a:noFill/>
          <a:ln/>
        </p:spPr>
        <p:txBody>
          <a:bodyPr wrap="square" lIns="0" tIns="0" rIns="0" bIns="0" rtlCol="0" anchor="t"/>
          <a:lstStyle/>
          <a:p>
            <a:pPr indent="0" marL="0">
              <a:buNone/>
            </a:pPr>
            <a:r>
              <a:rPr lang="en-US" sz="1900" b="1" dirty="0">
                <a:solidFill>
                  <a:srgbClr val="FF6100"/>
                </a:solidFill>
              </a:rPr>
              <a:t>Supports and hands over</a:t>
            </a:r>
            <a:endParaRPr lang="en-US" sz="1900" dirty="0"/>
          </a:p>
        </p:txBody>
      </p:sp>
      <p:sp>
        <p:nvSpPr>
          <p:cNvPr id="8" name="text-427"/>
          <p:cNvSpPr txBox="1"/>
          <p:nvPr/>
        </p:nvSpPr>
        <p:spPr>
          <a:xfrm>
            <a:off x="8046720" y="4343400"/>
            <a:ext cx="3291840" cy="822960"/>
          </a:xfrm>
          <a:prstGeom prst="rect">
            <a:avLst/>
          </a:prstGeom>
          <a:noFill/>
          <a:ln/>
        </p:spPr>
        <p:txBody>
          <a:bodyPr wrap="square" lIns="0" tIns="0" rIns="0" bIns="0" rtlCol="0" anchor="t"/>
          <a:lstStyle/>
          <a:p>
            <a:pPr indent="0" marL="0">
              <a:buNone/>
            </a:pPr>
            <a:r>
              <a:rPr lang="en-US" sz="1500" dirty="0">
                <a:solidFill>
                  <a:srgbClr val="FFFFFF"/>
                </a:solidFill>
              </a:rPr>
              <a:t>24x7 helpdesk, 99.5% uptime, clean exit with no lock-in</a:t>
            </a:r>
            <a:endParaRPr lang="en-US" sz="1500" dirty="0"/>
          </a:p>
        </p:txBody>
      </p:sp>
      <p:sp>
        <p:nvSpPr>
          <p:cNvPr id="9" name="text-428"/>
          <p:cNvSpPr txBox="1"/>
          <p:nvPr/>
        </p:nvSpPr>
        <p:spPr>
          <a:xfrm>
            <a:off x="731520" y="5486400"/>
            <a:ext cx="10058400" cy="411480"/>
          </a:xfrm>
          <a:prstGeom prst="rect">
            <a:avLst/>
          </a:prstGeom>
          <a:noFill/>
          <a:ln/>
        </p:spPr>
        <p:txBody>
          <a:bodyPr wrap="square" lIns="0" tIns="0" rIns="0" bIns="0" rtlCol="0" anchor="t"/>
          <a:lstStyle/>
          <a:p>
            <a:pPr indent="0" marL="0">
              <a:buNone/>
            </a:pPr>
            <a:r>
              <a:rPr lang="en-US" sz="1800" b="1" dirty="0">
                <a:solidFill>
                  <a:srgbClr val="EEF2F9"/>
                </a:solidFill>
              </a:rPr>
              <a:t>Next: live demonstration of the Web-GIS prototype</a:t>
            </a:r>
            <a:endParaRPr lang="en-US" sz="1800" dirty="0"/>
          </a:p>
        </p:txBody>
      </p:sp>
      <p:sp>
        <p:nvSpPr>
          <p:cNvPr id="12" name="KeyPoint band blue"/>
          <p:cNvSpPr/>
          <p:nvPr/>
        </p:nvSpPr>
        <p:spPr>
          <a:xfrm>
            <a:off x="0" y="6611000"/>
            <a:ext cx="8298000" cy="247000"/>
          </a:xfrm>
          <a:prstGeom prst="rect">
            <a:avLst/>
          </a:prstGeom>
          <a:solidFill>
            <a:srgbClr val="3767B1"/>
          </a:solidFill>
          <a:ln>
            <a:noFill/>
          </a:ln>
        </p:spPr>
      </p:sp>
      <p:sp>
        <p:nvSpPr>
          <p:cNvPr id="13" name="KeyPoint band orange"/>
          <p:cNvSpPr/>
          <p:nvPr/>
        </p:nvSpPr>
        <p:spPr>
          <a:xfrm>
            <a:off x="8298000" y="6611000"/>
            <a:ext cx="3894000" cy="247000"/>
          </a:xfrm>
          <a:prstGeom prst="rect">
            <a:avLst/>
          </a:prstGeom>
          <a:solidFill>
            <a:srgbClr val="FF6100"/>
          </a:solidFill>
          <a:ln>
            <a:noFill/>
          </a:ln>
        </p:spPr>
      </p:sp>
      <p:sp>
        <p:nvSpPr>
          <p:cNvPr id="10" name="KeyPoint logo box"/>
          <p:cNvSpPr/>
          <p:nvPr/>
        </p:nvSpPr>
        <p:spPr>
          <a:xfrm>
            <a:off x="9972675" y="142875"/>
            <a:ext cx="2162175" cy="704850"/>
          </a:xfrm>
          <a:custGeom>
            <a:avLst/>
            <a:gdLst/>
            <a:ahLst/>
            <a:cxnLst/>
            <a:rect l="l" t="t" r="r" b="b"/>
            <a:pathLst>
              <a:path w="2162175" h="704850">
                <a:moveTo>
                  <a:pt x="2044700" y="0"/>
                </a:moveTo>
                <a:lnTo>
                  <a:pt x="117475" y="0"/>
                </a:lnTo>
                <a:lnTo>
                  <a:pt x="71741" y="9229"/>
                </a:lnTo>
                <a:lnTo>
                  <a:pt x="34401" y="34401"/>
                </a:lnTo>
                <a:lnTo>
                  <a:pt x="9229" y="71741"/>
                </a:lnTo>
                <a:lnTo>
                  <a:pt x="0" y="117475"/>
                </a:lnTo>
                <a:lnTo>
                  <a:pt x="0" y="587375"/>
                </a:lnTo>
                <a:lnTo>
                  <a:pt x="9229" y="633108"/>
                </a:lnTo>
                <a:lnTo>
                  <a:pt x="34401" y="670448"/>
                </a:lnTo>
                <a:lnTo>
                  <a:pt x="71741" y="695620"/>
                </a:lnTo>
                <a:lnTo>
                  <a:pt x="117475" y="704850"/>
                </a:lnTo>
                <a:lnTo>
                  <a:pt x="2044700" y="704850"/>
                </a:lnTo>
                <a:lnTo>
                  <a:pt x="2090433" y="695620"/>
                </a:lnTo>
                <a:lnTo>
                  <a:pt x="2127773" y="670448"/>
                </a:lnTo>
                <a:lnTo>
                  <a:pt x="2152945" y="633108"/>
                </a:lnTo>
                <a:lnTo>
                  <a:pt x="2162175" y="587375"/>
                </a:lnTo>
                <a:lnTo>
                  <a:pt x="2162175" y="117475"/>
                </a:lnTo>
                <a:lnTo>
                  <a:pt x="2152945" y="71741"/>
                </a:lnTo>
                <a:lnTo>
                  <a:pt x="2127773" y="34401"/>
                </a:lnTo>
                <a:lnTo>
                  <a:pt x="2090433" y="9229"/>
                </a:lnTo>
                <a:lnTo>
                  <a:pt x="2044700" y="0"/>
                </a:lnTo>
                <a:close/>
              </a:path>
            </a:pathLst>
          </a:custGeom>
          <a:solidFill>
            <a:srgbClr val="FFFFFF"/>
          </a:solidFill>
        </p:spPr>
        <p:txBody>
          <a:bodyPr wrap="square" lIns="0" tIns="0" rIns="0" bIns="0" rtlCol="0"/>
          <a:lstStyle/>
          <a:p/>
        </p:txBody>
      </p:sp>
      <p:pic>
        <p:nvPicPr>
          <p:cNvPr id="11" name="KeyPoint logo" descr="KeyPoint Technologies logo"/>
          <p:cNvPicPr/>
          <p:nvPr/>
        </p:nvPicPr>
        <p:blipFill>
          <a:blip r:embed="rIdKpLogo" cstate="print"/>
          <a:stretch>
            <a:fillRect/>
          </a:stretch>
        </p:blipFill>
        <p:spPr>
          <a:xfrm>
            <a:off x="10134600" y="209550"/>
            <a:ext cx="1828800" cy="5524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GMDC Mine Monitoring">
  <a:themeElements>
    <a:clrScheme name="TGMDC Mine Monitoring">
      <a:dk1>
        <a:srgbClr val="13201E"/>
      </a:dk1>
      <a:lt1>
        <a:srgbClr val="FFFFFF"/>
      </a:lt1>
      <a:dk2>
        <a:srgbClr val="0B4A43"/>
      </a:dk2>
      <a:lt2>
        <a:srgbClr val="EEF3F2"/>
      </a:lt2>
      <a:accent1>
        <a:srgbClr val="0D6A60"/>
      </a:accent1>
      <a:accent2>
        <a:srgbClr val="C47F12"/>
      </a:accent2>
      <a:accent3>
        <a:srgbClr val="2A78D6"/>
      </a:accent3>
      <a:accent4>
        <a:srgbClr val="1D8A4B"/>
      </a:accent4>
      <a:accent5>
        <a:srgbClr val="C8323A"/>
      </a:accent5>
      <a:accent6>
        <a:srgbClr val="687875"/>
      </a:accent6>
      <a:hlink>
        <a:srgbClr val="0D6A60"/>
      </a:hlink>
      <a:folHlink>
        <a:srgbClr val="475653"/>
      </a:folHlink>
    </a:clrScheme>
    <a:fontScheme name="TGMDC Mine Monitor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2026-10-05T19:28:48Z</dcterms:created>
  <dcterms:modified xsi:type="dcterms:W3CDTF">2026-10-05T19:28:48Z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v10.0.20290.1</vt:lpwstr>
  </property>
  <property fmtid="{D5CDD505-2E9C-101B-9397-08002B2CF9AE}" pid="3" name="Created">
    <vt:filetime>2026-10-01T00:00:00Z</vt:filetime>
  </property>
  <property fmtid="{D5CDD505-2E9C-101B-9397-08002B2CF9AE}" pid="4" name="LastSaved">
    <vt:filetime>2026-10-05T00:00:00Z</vt:filetime>
  </property>
</Properties>
</file>